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80" r:id="rId4"/>
    <p:sldId id="264" r:id="rId5"/>
    <p:sldId id="279" r:id="rId6"/>
    <p:sldId id="281" r:id="rId7"/>
    <p:sldId id="282" r:id="rId8"/>
    <p:sldId id="278" r:id="rId9"/>
    <p:sldId id="265" r:id="rId10"/>
    <p:sldId id="266" r:id="rId11"/>
    <p:sldId id="284" r:id="rId12"/>
    <p:sldId id="268" r:id="rId13"/>
    <p:sldId id="269" r:id="rId14"/>
    <p:sldId id="270" r:id="rId15"/>
    <p:sldId id="271" r:id="rId16"/>
    <p:sldId id="272" r:id="rId17"/>
    <p:sldId id="286" r:id="rId18"/>
    <p:sldId id="287" r:id="rId19"/>
    <p:sldId id="289" r:id="rId20"/>
    <p:sldId id="276" r:id="rId21"/>
    <p:sldId id="291" r:id="rId22"/>
    <p:sldId id="274" r:id="rId23"/>
    <p:sldId id="277" r:id="rId24"/>
    <p:sldId id="290" r:id="rId25"/>
    <p:sldId id="275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4"/>
  </p:normalViewPr>
  <p:slideViewPr>
    <p:cSldViewPr snapToGrid="0" snapToObjects="1">
      <p:cViewPr>
        <p:scale>
          <a:sx n="100" d="100"/>
          <a:sy n="100" d="100"/>
        </p:scale>
        <p:origin x="-320" y="11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18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457189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457189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" y="0"/>
            <a:ext cx="121615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2000" cy="6400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33971" y="2153918"/>
            <a:ext cx="4899033" cy="17235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32F3E"/>
                </a:solidFill>
              </a:defRPr>
            </a:pPr>
            <a:r>
              <a:rPr sz="3800" dirty="0"/>
              <a:t>AWS Cloud Practitioner</a:t>
            </a:r>
          </a:p>
          <a:p>
            <a:pPr algn="ctr">
              <a:defRPr sz="2000"/>
            </a:pPr>
            <a:r>
              <a:rPr sz="2000" dirty="0" err="1"/>
              <a:t>Curso</a:t>
            </a:r>
            <a:r>
              <a:rPr sz="2000" dirty="0"/>
              <a:t> de </a:t>
            </a:r>
            <a:r>
              <a:rPr sz="2000" dirty="0" err="1"/>
              <a:t>preparación</a:t>
            </a:r>
            <a:r>
              <a:rPr sz="2000" dirty="0"/>
              <a:t> para la </a:t>
            </a:r>
            <a:r>
              <a:rPr sz="2000" dirty="0" err="1"/>
              <a:t>certificación</a:t>
            </a:r>
            <a:endParaRPr lang="es-MX" sz="2000" dirty="0"/>
          </a:p>
          <a:p>
            <a:pPr algn="ctr">
              <a:defRPr sz="2000"/>
            </a:pPr>
            <a:endParaRPr lang="es-EC" sz="2000" dirty="0"/>
          </a:p>
          <a:p>
            <a:pPr algn="ctr">
              <a:defRPr sz="2000"/>
            </a:pPr>
            <a:r>
              <a:rPr lang="es-EC" sz="2800" b="1" dirty="0"/>
              <a:t>Redes y Seguridad</a:t>
            </a:r>
            <a:endParaRPr sz="2800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9390A98-93D6-4100-A6D0-F72B7FA1E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603" y="3896543"/>
            <a:ext cx="1361745" cy="45391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E7327FF-430C-43C4-B915-654257255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6041" y="3355982"/>
            <a:ext cx="1276635" cy="127663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012C6B4-2AFD-4F0C-9C18-47059E822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662" y="1325603"/>
            <a:ext cx="3874289" cy="387428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8769C84-3974-43B6-89AB-83B56D0E3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43" y="4917106"/>
            <a:ext cx="1257851" cy="125785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95DF995A-3221-4174-A109-609658505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839" y="5100191"/>
            <a:ext cx="2286000" cy="7620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40528361-CFAD-4C53-B1AB-B98CC85CAB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5707" y="5156886"/>
            <a:ext cx="1298847" cy="7782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117692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</a:rPr>
              <a:t>AWS	 </a:t>
            </a:r>
            <a:endParaRPr lang="es-EC" sz="2400" b="1" dirty="0">
              <a:solidFill>
                <a:schemeClr val="bg1"/>
              </a:solidFill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68873" y="1296785"/>
            <a:ext cx="9692639" cy="5361710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C" dirty="0">
              <a:solidFill>
                <a:schemeClr val="tx1"/>
              </a:solidFill>
            </a:endParaRPr>
          </a:p>
          <a:p>
            <a:pPr lvl="1"/>
            <a:endParaRPr lang="es-MX" sz="2000" dirty="0">
              <a:solidFill>
                <a:schemeClr val="tx1"/>
              </a:solidFill>
            </a:endParaRP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96078F19-765C-41E2-A3EB-816D189D5145}"/>
              </a:ext>
            </a:extLst>
          </p:cNvPr>
          <p:cNvSpPr/>
          <p:nvPr/>
        </p:nvSpPr>
        <p:spPr>
          <a:xfrm>
            <a:off x="1953491" y="2975956"/>
            <a:ext cx="1305098" cy="140485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Servidor Web</a:t>
            </a:r>
            <a:endParaRPr lang="es-EC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FD30409D-8CEC-425A-991E-BEAFC210748C}"/>
              </a:ext>
            </a:extLst>
          </p:cNvPr>
          <p:cNvSpPr/>
          <p:nvPr/>
        </p:nvSpPr>
        <p:spPr>
          <a:xfrm>
            <a:off x="4433455" y="2975956"/>
            <a:ext cx="1305098" cy="140485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Servidor </a:t>
            </a:r>
            <a:r>
              <a:rPr lang="es-MX" dirty="0" err="1"/>
              <a:t>Node</a:t>
            </a:r>
            <a:endParaRPr lang="es-EC" dirty="0"/>
          </a:p>
        </p:txBody>
      </p:sp>
      <p:sp>
        <p:nvSpPr>
          <p:cNvPr id="7" name="Cilindro 6">
            <a:extLst>
              <a:ext uri="{FF2B5EF4-FFF2-40B4-BE49-F238E27FC236}">
                <a16:creationId xmlns:a16="http://schemas.microsoft.com/office/drawing/2014/main" id="{06BF2FC5-239A-4D2F-A258-29C099825089}"/>
              </a:ext>
            </a:extLst>
          </p:cNvPr>
          <p:cNvSpPr/>
          <p:nvPr/>
        </p:nvSpPr>
        <p:spPr>
          <a:xfrm>
            <a:off x="7165571" y="2975956"/>
            <a:ext cx="1172094" cy="1695797"/>
          </a:xfrm>
          <a:prstGeom prst="can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BDD</a:t>
            </a:r>
            <a:endParaRPr lang="es-EC" dirty="0"/>
          </a:p>
        </p:txBody>
      </p:sp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D0D4942D-F696-44D4-9025-8347860A2B92}"/>
              </a:ext>
            </a:extLst>
          </p:cNvPr>
          <p:cNvSpPr/>
          <p:nvPr/>
        </p:nvSpPr>
        <p:spPr>
          <a:xfrm>
            <a:off x="3350029" y="3507971"/>
            <a:ext cx="964276" cy="42394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78F073EB-0420-44DD-A31F-FA49D49470DA}"/>
              </a:ext>
            </a:extLst>
          </p:cNvPr>
          <p:cNvSpPr/>
          <p:nvPr/>
        </p:nvSpPr>
        <p:spPr>
          <a:xfrm>
            <a:off x="5936200" y="3507971"/>
            <a:ext cx="964276" cy="423949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07637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117692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</a:rPr>
              <a:t>AWS	 </a:t>
            </a:r>
            <a:endParaRPr lang="es-EC" sz="2400" b="1" dirty="0">
              <a:solidFill>
                <a:schemeClr val="bg1"/>
              </a:solidFill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68873" y="1296785"/>
            <a:ext cx="9692639" cy="5361710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C" dirty="0">
              <a:solidFill>
                <a:schemeClr val="tx1"/>
              </a:solidFill>
            </a:endParaRPr>
          </a:p>
          <a:p>
            <a:pPr lvl="1"/>
            <a:endParaRPr lang="es-MX" sz="2000" dirty="0">
              <a:solidFill>
                <a:schemeClr val="tx1"/>
              </a:solidFill>
            </a:endParaRP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endParaRPr sz="2000" dirty="0">
              <a:solidFill>
                <a:schemeClr val="tx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FC41517-885E-4B8A-AC35-AE2AA5D8F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560" y="1420354"/>
            <a:ext cx="5829497" cy="4915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908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117692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</a:rPr>
              <a:t>VPC	 </a:t>
            </a:r>
            <a:endParaRPr lang="es-EC" sz="2400" b="1" dirty="0">
              <a:solidFill>
                <a:schemeClr val="bg1"/>
              </a:solidFill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68873" y="1296785"/>
            <a:ext cx="9692639" cy="5361710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C" dirty="0">
              <a:solidFill>
                <a:schemeClr val="tx1"/>
              </a:solidFill>
            </a:endParaRPr>
          </a:p>
          <a:p>
            <a:pPr lvl="1"/>
            <a:endParaRPr lang="es-MX" sz="2000" dirty="0">
              <a:solidFill>
                <a:schemeClr val="tx1"/>
              </a:solidFill>
            </a:endParaRP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endParaRPr sz="2000" dirty="0">
              <a:solidFill>
                <a:schemeClr val="tx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1DF316C-ED55-4B7A-80FE-E2AAF0EA9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684" y="1436979"/>
            <a:ext cx="5829497" cy="4915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534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117692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</a:rPr>
              <a:t>CIDR	 </a:t>
            </a:r>
            <a:endParaRPr lang="es-EC" sz="2400" b="1" dirty="0">
              <a:solidFill>
                <a:schemeClr val="bg1"/>
              </a:solidFill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68873" y="1296785"/>
            <a:ext cx="9692639" cy="5361710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C" dirty="0">
              <a:solidFill>
                <a:schemeClr val="tx1"/>
              </a:solidFill>
            </a:endParaRPr>
          </a:p>
          <a:p>
            <a:pPr lvl="1"/>
            <a:endParaRPr lang="es-MX" sz="2000" dirty="0">
              <a:solidFill>
                <a:schemeClr val="tx1"/>
              </a:solidFill>
            </a:endParaRP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ADAF0CC-FA37-4A7B-8E8E-BFA7D4761669}"/>
              </a:ext>
            </a:extLst>
          </p:cNvPr>
          <p:cNvSpPr txBox="1"/>
          <p:nvPr/>
        </p:nvSpPr>
        <p:spPr>
          <a:xfrm>
            <a:off x="1972194" y="1296785"/>
            <a:ext cx="612232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s-EC" sz="3200" b="1" dirty="0">
                <a:solidFill>
                  <a:schemeClr val="tx1"/>
                </a:solidFill>
              </a:rPr>
              <a:t>CIDR</a:t>
            </a: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endParaRPr lang="es-MX" sz="1800" dirty="0">
              <a:solidFill>
                <a:schemeClr val="tx1"/>
              </a:solidFill>
            </a:endParaRP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r>
              <a:rPr lang="es-MX" sz="1800" dirty="0">
                <a:solidFill>
                  <a:srgbClr val="FF0000"/>
                </a:solidFill>
              </a:rPr>
              <a:t>	10.0.0.0 </a:t>
            </a:r>
            <a:r>
              <a:rPr lang="es-MX" sz="1800" dirty="0">
                <a:solidFill>
                  <a:srgbClr val="0070C0"/>
                </a:solidFill>
              </a:rPr>
              <a:t>/ 16</a:t>
            </a: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endParaRPr lang="es-MX" sz="1800" dirty="0">
              <a:solidFill>
                <a:schemeClr val="tx1"/>
              </a:solidFill>
            </a:endParaRP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r>
              <a:rPr lang="es-MX" dirty="0">
                <a:solidFill>
                  <a:schemeClr val="tx1"/>
                </a:solidFill>
              </a:rPr>
              <a:t>	</a:t>
            </a:r>
            <a:r>
              <a:rPr lang="es-MX" dirty="0">
                <a:solidFill>
                  <a:srgbClr val="FF0000"/>
                </a:solidFill>
              </a:rPr>
              <a:t>dirección base </a:t>
            </a:r>
            <a:r>
              <a:rPr lang="es-MX" dirty="0">
                <a:solidFill>
                  <a:srgbClr val="0070C0"/>
                </a:solidFill>
              </a:rPr>
              <a:t>/ prefijo</a:t>
            </a: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r>
              <a:rPr lang="es-MX" dirty="0">
                <a:solidFill>
                  <a:schemeClr val="tx1"/>
                </a:solidFill>
              </a:rPr>
              <a:t>	10.0.0.0 - &gt; dirección base de la red</a:t>
            </a: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r>
              <a:rPr lang="es-MX" dirty="0">
                <a:solidFill>
                  <a:schemeClr val="tx1"/>
                </a:solidFill>
              </a:rPr>
              <a:t>	/16 -&gt; número de bits reservados para la red</a:t>
            </a: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endParaRPr lang="es-MX" dirty="0">
              <a:solidFill>
                <a:schemeClr val="tx1"/>
              </a:solidFill>
            </a:endParaRP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r>
              <a:rPr lang="es-MX" dirty="0">
                <a:solidFill>
                  <a:schemeClr val="tx1"/>
                </a:solidFill>
              </a:rPr>
              <a:t>	10.0.0.0 -&gt; cada número separado por el punto se almacena en 8 bits</a:t>
            </a: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endParaRPr lang="es-MX" dirty="0">
              <a:solidFill>
                <a:schemeClr val="tx1"/>
              </a:solidFill>
            </a:endParaRP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r>
              <a:rPr lang="es-MX" dirty="0">
                <a:solidFill>
                  <a:schemeClr val="tx1"/>
                </a:solidFill>
              </a:rPr>
              <a:t>	</a:t>
            </a:r>
            <a:r>
              <a:rPr lang="es-MX" dirty="0">
                <a:solidFill>
                  <a:srgbClr val="FF0000"/>
                </a:solidFill>
              </a:rPr>
              <a:t>10.0</a:t>
            </a:r>
            <a:r>
              <a:rPr lang="es-MX" dirty="0">
                <a:solidFill>
                  <a:schemeClr val="tx1"/>
                </a:solidFill>
              </a:rPr>
              <a:t>.</a:t>
            </a:r>
            <a:r>
              <a:rPr lang="es-MX" dirty="0">
                <a:solidFill>
                  <a:srgbClr val="0070C0"/>
                </a:solidFill>
              </a:rPr>
              <a:t>0.0</a:t>
            </a:r>
            <a:r>
              <a:rPr lang="es-MX" dirty="0">
                <a:solidFill>
                  <a:schemeClr val="tx1"/>
                </a:solidFill>
              </a:rPr>
              <a:t> -&gt; en este ejemplo todo lo que empiece con </a:t>
            </a:r>
            <a:r>
              <a:rPr lang="es-MX" dirty="0">
                <a:solidFill>
                  <a:srgbClr val="FF0000"/>
                </a:solidFill>
              </a:rPr>
              <a:t>10.0</a:t>
            </a:r>
            <a:r>
              <a:rPr lang="es-MX" dirty="0">
                <a:solidFill>
                  <a:schemeClr val="tx1"/>
                </a:solidFill>
              </a:rPr>
              <a:t> es parte de esta red</a:t>
            </a: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r>
              <a:rPr lang="es-MX" dirty="0">
                <a:solidFill>
                  <a:schemeClr val="tx1"/>
                </a:solidFill>
              </a:rPr>
              <a:t>		</a:t>
            </a: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r>
              <a:rPr lang="es-MX" dirty="0">
                <a:solidFill>
                  <a:schemeClr val="tx1"/>
                </a:solidFill>
              </a:rPr>
              <a:t>	Los otros 16 bits pueden ir cambiando y son las IPS que se usan en la red. Esto permite 2     combinaciones: 65,536 IPS</a:t>
            </a: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r>
              <a:rPr lang="es-MX" dirty="0">
                <a:solidFill>
                  <a:schemeClr val="tx1"/>
                </a:solidFill>
              </a:rPr>
              <a:t>	</a:t>
            </a: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r>
              <a:rPr lang="es-MX" dirty="0">
                <a:solidFill>
                  <a:srgbClr val="FF0000"/>
                </a:solidFill>
              </a:rPr>
              <a:t>		10.0.</a:t>
            </a:r>
            <a:r>
              <a:rPr lang="es-MX" dirty="0">
                <a:solidFill>
                  <a:srgbClr val="0070C0"/>
                </a:solidFill>
              </a:rPr>
              <a:t>1.20</a:t>
            </a: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r>
              <a:rPr lang="es-MX" dirty="0">
                <a:solidFill>
                  <a:schemeClr val="tx1"/>
                </a:solidFill>
              </a:rPr>
              <a:t>		</a:t>
            </a:r>
            <a:r>
              <a:rPr lang="es-MX" dirty="0">
                <a:solidFill>
                  <a:srgbClr val="FF0000"/>
                </a:solidFill>
              </a:rPr>
              <a:t>10.0.</a:t>
            </a:r>
            <a:r>
              <a:rPr lang="es-MX" dirty="0">
                <a:solidFill>
                  <a:srgbClr val="0070C0"/>
                </a:solidFill>
              </a:rPr>
              <a:t>20.5</a:t>
            </a: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r>
              <a:rPr lang="es-MX" dirty="0">
                <a:solidFill>
                  <a:schemeClr val="tx1"/>
                </a:solidFill>
              </a:rPr>
              <a:t>		</a:t>
            </a:r>
            <a:r>
              <a:rPr lang="es-MX" dirty="0">
                <a:solidFill>
                  <a:srgbClr val="FF0000"/>
                </a:solidFill>
              </a:rPr>
              <a:t>10.0.</a:t>
            </a:r>
            <a:r>
              <a:rPr lang="es-MX" dirty="0">
                <a:solidFill>
                  <a:srgbClr val="0070C0"/>
                </a:solidFill>
              </a:rPr>
              <a:t>200.30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9B3350C-E65A-479C-89CB-E35520866038}"/>
              </a:ext>
            </a:extLst>
          </p:cNvPr>
          <p:cNvSpPr txBox="1"/>
          <p:nvPr/>
        </p:nvSpPr>
        <p:spPr>
          <a:xfrm>
            <a:off x="4892479" y="5225890"/>
            <a:ext cx="91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16</a:t>
            </a:r>
            <a:endParaRPr lang="es-EC" sz="1200" dirty="0"/>
          </a:p>
        </p:txBody>
      </p:sp>
    </p:spTree>
    <p:extLst>
      <p:ext uri="{BB962C8B-B14F-4D97-AF65-F5344CB8AC3E}">
        <p14:creationId xmlns:p14="http://schemas.microsoft.com/office/powerpoint/2010/main" val="2521847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117692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</a:rPr>
              <a:t>CIDR	 </a:t>
            </a:r>
            <a:endParaRPr lang="es-EC" sz="2400" b="1" dirty="0">
              <a:solidFill>
                <a:schemeClr val="bg1"/>
              </a:solidFill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68873" y="1296785"/>
            <a:ext cx="9692639" cy="5361710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C" dirty="0">
              <a:solidFill>
                <a:schemeClr val="tx1"/>
              </a:solidFill>
            </a:endParaRPr>
          </a:p>
          <a:p>
            <a:pPr lvl="1"/>
            <a:endParaRPr lang="es-MX" sz="2000" dirty="0">
              <a:solidFill>
                <a:schemeClr val="tx1"/>
              </a:solidFill>
            </a:endParaRP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ADAF0CC-FA37-4A7B-8E8E-BFA7D4761669}"/>
              </a:ext>
            </a:extLst>
          </p:cNvPr>
          <p:cNvSpPr txBox="1"/>
          <p:nvPr/>
        </p:nvSpPr>
        <p:spPr>
          <a:xfrm>
            <a:off x="1972194" y="1296785"/>
            <a:ext cx="6122324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s-EC" sz="3200" b="1" dirty="0">
                <a:solidFill>
                  <a:schemeClr val="tx1"/>
                </a:solidFill>
              </a:rPr>
              <a:t>CIDR</a:t>
            </a: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endParaRPr lang="es-MX" sz="1800" dirty="0">
              <a:solidFill>
                <a:schemeClr val="tx1"/>
              </a:solidFill>
            </a:endParaRP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</a:rPr>
              <a:t>CIDR 1</a:t>
            </a:r>
            <a:r>
              <a:rPr lang="es-MX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	10.0.0.0 / 16</a:t>
            </a: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r>
              <a:rPr lang="es-MX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	    </a:t>
            </a:r>
            <a:r>
              <a:rPr lang="es-MX" sz="1800" dirty="0">
                <a:solidFill>
                  <a:srgbClr val="FF0000"/>
                </a:solidFill>
              </a:rPr>
              <a:t>10.0</a:t>
            </a:r>
            <a:r>
              <a:rPr lang="es-MX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-&gt; BASE</a:t>
            </a: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endParaRPr lang="es-MX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</a:rPr>
              <a:t>CIDR 2</a:t>
            </a:r>
            <a:r>
              <a:rPr lang="es-MX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  10.0.1.0 / 24</a:t>
            </a: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r>
              <a:rPr lang="es-MX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	   </a:t>
            </a:r>
            <a:r>
              <a:rPr lang="es-MX" sz="1800" dirty="0">
                <a:solidFill>
                  <a:srgbClr val="FF0000"/>
                </a:solidFill>
              </a:rPr>
              <a:t>10.0.1</a:t>
            </a:r>
            <a:r>
              <a:rPr lang="es-MX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-&gt; BASE</a:t>
            </a: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endParaRPr lang="es-MX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endParaRPr lang="es-MX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</a:rPr>
              <a:t>CIDR 3</a:t>
            </a:r>
            <a:r>
              <a:rPr lang="es-MX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  10.0.2.0 / 24</a:t>
            </a: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r>
              <a:rPr lang="es-MX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	  </a:t>
            </a:r>
            <a:r>
              <a:rPr lang="es-MX" sz="1800" dirty="0">
                <a:solidFill>
                  <a:srgbClr val="FF0000"/>
                </a:solidFill>
              </a:rPr>
              <a:t> 10.0.2  </a:t>
            </a:r>
            <a:r>
              <a:rPr lang="es-MX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-&gt; BASE</a:t>
            </a: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endParaRPr lang="es-MX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CIDR 4: 10.1.2.0/24</a:t>
            </a: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r>
              <a:rPr lang="es-MX" sz="1600" dirty="0">
                <a:solidFill>
                  <a:srgbClr val="FF0000"/>
                </a:solidFill>
              </a:rPr>
              <a:t>10.1.2</a:t>
            </a:r>
            <a:r>
              <a:rPr lang="es-MX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-&gt; BASE</a:t>
            </a:r>
            <a:endParaRPr lang="es-MX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r>
              <a:rPr lang="es-MX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	</a:t>
            </a:r>
            <a:endParaRPr lang="es-MX" sz="1800" dirty="0">
              <a:solidFill>
                <a:schemeClr val="tx1"/>
              </a:solidFill>
            </a:endParaRP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r>
              <a:rPr lang="es-MX" dirty="0">
                <a:solidFill>
                  <a:schemeClr val="tx1"/>
                </a:solidFill>
              </a:rPr>
              <a:t>	</a:t>
            </a:r>
            <a:endParaRPr lang="es-MX" dirty="0">
              <a:solidFill>
                <a:srgbClr val="0070C0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7B4ABDC-D4F8-4161-8783-E5F040460C96}"/>
              </a:ext>
            </a:extLst>
          </p:cNvPr>
          <p:cNvSpPr txBox="1"/>
          <p:nvPr/>
        </p:nvSpPr>
        <p:spPr>
          <a:xfrm>
            <a:off x="5153891" y="1679171"/>
            <a:ext cx="30092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IPS CIDR 1:</a:t>
            </a:r>
          </a:p>
          <a:p>
            <a:r>
              <a:rPr lang="es-MX" dirty="0"/>
              <a:t>	10.0.2.2</a:t>
            </a:r>
          </a:p>
          <a:p>
            <a:r>
              <a:rPr lang="es-MX" dirty="0"/>
              <a:t>	10.0.3.1</a:t>
            </a:r>
          </a:p>
          <a:p>
            <a:r>
              <a:rPr lang="es-MX" dirty="0"/>
              <a:t>	10.0.1.255</a:t>
            </a:r>
            <a:endParaRPr lang="es-EC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A0DDD92-D9D5-4FBE-B1E7-D3976435FC85}"/>
              </a:ext>
            </a:extLst>
          </p:cNvPr>
          <p:cNvSpPr txBox="1"/>
          <p:nvPr/>
        </p:nvSpPr>
        <p:spPr>
          <a:xfrm>
            <a:off x="6181992" y="2892304"/>
            <a:ext cx="30092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IPS CIDR 2:</a:t>
            </a:r>
          </a:p>
          <a:p>
            <a:r>
              <a:rPr lang="es-MX" dirty="0"/>
              <a:t>	10.0.1.20</a:t>
            </a:r>
          </a:p>
          <a:p>
            <a:r>
              <a:rPr lang="es-MX" dirty="0"/>
              <a:t>	 10.0.1.5</a:t>
            </a:r>
          </a:p>
          <a:p>
            <a:r>
              <a:rPr lang="es-MX" dirty="0"/>
              <a:t>	 10.0.1.19</a:t>
            </a:r>
            <a:endParaRPr lang="es-EC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D6F325E-72FC-44EA-BE23-221416CA6826}"/>
              </a:ext>
            </a:extLst>
          </p:cNvPr>
          <p:cNvSpPr txBox="1"/>
          <p:nvPr/>
        </p:nvSpPr>
        <p:spPr>
          <a:xfrm>
            <a:off x="5494806" y="4245033"/>
            <a:ext cx="30092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IPS CIDR 3:</a:t>
            </a:r>
          </a:p>
          <a:p>
            <a:r>
              <a:rPr lang="es-MX" dirty="0"/>
              <a:t>	10.0.2.5</a:t>
            </a:r>
          </a:p>
          <a:p>
            <a:r>
              <a:rPr lang="es-MX" dirty="0"/>
              <a:t>	 10.0.2.80</a:t>
            </a:r>
          </a:p>
          <a:p>
            <a:r>
              <a:rPr lang="es-MX" dirty="0"/>
              <a:t>	 10.0.2.100</a:t>
            </a:r>
            <a:endParaRPr lang="es-EC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24F03E9-2DBD-49D0-B799-1EB114A52521}"/>
              </a:ext>
            </a:extLst>
          </p:cNvPr>
          <p:cNvSpPr txBox="1"/>
          <p:nvPr/>
        </p:nvSpPr>
        <p:spPr>
          <a:xfrm>
            <a:off x="7593235" y="4756686"/>
            <a:ext cx="30092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IPS CIDR 4:</a:t>
            </a:r>
          </a:p>
          <a:p>
            <a:r>
              <a:rPr lang="es-MX" dirty="0"/>
              <a:t>	10.1.2.6</a:t>
            </a:r>
          </a:p>
          <a:p>
            <a:r>
              <a:rPr lang="es-MX" dirty="0"/>
              <a:t>	 10.1.2.3</a:t>
            </a:r>
          </a:p>
          <a:p>
            <a:r>
              <a:rPr lang="es-MX" dirty="0"/>
              <a:t>	 10.1.2.203</a:t>
            </a:r>
            <a:endParaRPr lang="es-EC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3EE89D3-ECB2-4F60-91A9-AD9D98ACDD1B}"/>
              </a:ext>
            </a:extLst>
          </p:cNvPr>
          <p:cNvSpPr txBox="1"/>
          <p:nvPr/>
        </p:nvSpPr>
        <p:spPr>
          <a:xfrm>
            <a:off x="7857052" y="2165971"/>
            <a:ext cx="3009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CIDR 2 es subred de CIDR1?</a:t>
            </a:r>
          </a:p>
          <a:p>
            <a:r>
              <a:rPr lang="es-MX" dirty="0">
                <a:solidFill>
                  <a:srgbClr val="FF0000"/>
                </a:solidFill>
              </a:rPr>
              <a:t>SI</a:t>
            </a:r>
            <a:r>
              <a:rPr lang="es-MX" dirty="0"/>
              <a:t> / NO</a:t>
            </a:r>
            <a:endParaRPr lang="es-EC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295B05F-D426-4E21-83A9-F3D4137E9E98}"/>
              </a:ext>
            </a:extLst>
          </p:cNvPr>
          <p:cNvSpPr txBox="1"/>
          <p:nvPr/>
        </p:nvSpPr>
        <p:spPr>
          <a:xfrm>
            <a:off x="7754678" y="3232804"/>
            <a:ext cx="3009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CIDR 4 es subred de CIDR1?</a:t>
            </a:r>
          </a:p>
          <a:p>
            <a:r>
              <a:rPr lang="es-MX" dirty="0"/>
              <a:t>SI / </a:t>
            </a:r>
            <a:r>
              <a:rPr lang="es-MX" dirty="0">
                <a:solidFill>
                  <a:srgbClr val="FF0000"/>
                </a:solidFill>
              </a:rPr>
              <a:t>NO</a:t>
            </a:r>
            <a:endParaRPr lang="es-EC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9253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117692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</a:rPr>
              <a:t>CIDR	 </a:t>
            </a:r>
            <a:endParaRPr lang="es-EC" sz="2400" b="1" dirty="0">
              <a:solidFill>
                <a:schemeClr val="bg1"/>
              </a:solidFill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68873" y="1296785"/>
            <a:ext cx="9692639" cy="5361710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C" dirty="0">
              <a:solidFill>
                <a:schemeClr val="tx1"/>
              </a:solidFill>
            </a:endParaRPr>
          </a:p>
          <a:p>
            <a:pPr lvl="1"/>
            <a:endParaRPr lang="es-MX" sz="2000" dirty="0">
              <a:solidFill>
                <a:schemeClr val="tx1"/>
              </a:solidFill>
            </a:endParaRP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endParaRPr sz="2000" dirty="0">
              <a:solidFill>
                <a:schemeClr val="tx1"/>
              </a:solidFill>
            </a:endParaRP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50F74D4C-0F5B-4DFE-A4F7-D931D7FC8C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944647"/>
              </p:ext>
            </p:extLst>
          </p:nvPr>
        </p:nvGraphicFramePr>
        <p:xfrm>
          <a:off x="2428524" y="2679700"/>
          <a:ext cx="6773335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09031597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26812786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076444091"/>
                    </a:ext>
                  </a:extLst>
                </a:gridCol>
                <a:gridCol w="1468581">
                  <a:extLst>
                    <a:ext uri="{9D8B030D-6E8A-4147-A177-3AD203B41FA5}">
                      <a16:colId xmlns:a16="http://schemas.microsoft.com/office/drawing/2014/main" val="3637622567"/>
                    </a:ext>
                  </a:extLst>
                </a:gridCol>
                <a:gridCol w="1240753">
                  <a:extLst>
                    <a:ext uri="{9D8B030D-6E8A-4147-A177-3AD203B41FA5}">
                      <a16:colId xmlns:a16="http://schemas.microsoft.com/office/drawing/2014/main" val="26444290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10.0</a:t>
                      </a:r>
                      <a:r>
                        <a:rPr lang="es-MX" dirty="0"/>
                        <a:t>.0.0/16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10.0.5</a:t>
                      </a:r>
                      <a:r>
                        <a:rPr lang="es-MX" dirty="0"/>
                        <a:t>.0/24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>
                          <a:solidFill>
                            <a:schemeClr val="tx1"/>
                          </a:solidFill>
                        </a:rPr>
                        <a:t>10.0.6.24</a:t>
                      </a:r>
                      <a:r>
                        <a:rPr lang="es-MX" dirty="0"/>
                        <a:t>/32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0.0.0.0/0</a:t>
                      </a:r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018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10.0.0.25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x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x</a:t>
                      </a:r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6765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10.1.5.255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x</a:t>
                      </a:r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118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54.23.45.0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x</a:t>
                      </a:r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1612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10.0.5.34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x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x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x</a:t>
                      </a:r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5954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10.0.6.14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x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x</a:t>
                      </a:r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475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10.0.6.24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x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x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x</a:t>
                      </a:r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09665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9B2E9073-49B7-4AD6-9F5D-8C36F1989A3C}"/>
              </a:ext>
            </a:extLst>
          </p:cNvPr>
          <p:cNvSpPr txBox="1"/>
          <p:nvPr/>
        </p:nvSpPr>
        <p:spPr>
          <a:xfrm>
            <a:off x="3217025" y="2019595"/>
            <a:ext cx="4987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MARQUE UNA </a:t>
            </a:r>
            <a:r>
              <a:rPr lang="es-MX" b="1" dirty="0"/>
              <a:t>X</a:t>
            </a:r>
            <a:r>
              <a:rPr lang="es-MX" dirty="0"/>
              <a:t> SI LA IP ESTÁ DENTRO DEL RANGO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448638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117692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</a:rPr>
              <a:t>VPC	 </a:t>
            </a:r>
            <a:endParaRPr lang="es-EC" sz="2400" b="1" dirty="0">
              <a:solidFill>
                <a:schemeClr val="bg1"/>
              </a:solidFill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68873" y="1296785"/>
            <a:ext cx="9692639" cy="5361710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C" dirty="0">
              <a:solidFill>
                <a:schemeClr val="tx1"/>
              </a:solidFill>
            </a:endParaRPr>
          </a:p>
          <a:p>
            <a:pPr lvl="1"/>
            <a:endParaRPr lang="es-MX" sz="2000" dirty="0">
              <a:solidFill>
                <a:schemeClr val="tx1"/>
              </a:solidFill>
            </a:endParaRP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endParaRPr sz="2000" dirty="0">
              <a:solidFill>
                <a:schemeClr val="tx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1DF316C-ED55-4B7A-80FE-E2AAF0EA9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500" y="1436979"/>
            <a:ext cx="6266788" cy="4915066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718B09E4-5ED6-4E0A-8659-9D6339D87C21}"/>
              </a:ext>
            </a:extLst>
          </p:cNvPr>
          <p:cNvSpPr/>
          <p:nvPr/>
        </p:nvSpPr>
        <p:spPr>
          <a:xfrm>
            <a:off x="5906815" y="2198155"/>
            <a:ext cx="1707789" cy="3325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600" dirty="0"/>
              <a:t>CIDR: 10.0.0.0/16</a:t>
            </a:r>
            <a:endParaRPr lang="es-EC" sz="1600" dirty="0"/>
          </a:p>
        </p:txBody>
      </p:sp>
    </p:spTree>
    <p:extLst>
      <p:ext uri="{BB962C8B-B14F-4D97-AF65-F5344CB8AC3E}">
        <p14:creationId xmlns:p14="http://schemas.microsoft.com/office/powerpoint/2010/main" val="1252553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163859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</a:rPr>
              <a:t>SUBRED	 </a:t>
            </a:r>
            <a:endParaRPr lang="es-EC" sz="2400" b="1" dirty="0">
              <a:solidFill>
                <a:schemeClr val="bg1"/>
              </a:solidFill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38CE272F-4569-4962-986E-B8CDCCF4F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489" y="1292068"/>
            <a:ext cx="7188125" cy="5328290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F69A8557-2133-47D8-BA14-F018C5858CA4}"/>
              </a:ext>
            </a:extLst>
          </p:cNvPr>
          <p:cNvSpPr/>
          <p:nvPr/>
        </p:nvSpPr>
        <p:spPr>
          <a:xfrm>
            <a:off x="6027582" y="2496288"/>
            <a:ext cx="1667941" cy="3325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600" dirty="0"/>
              <a:t>CIDR: 10.0.0.0/16</a:t>
            </a:r>
            <a:endParaRPr lang="es-EC" sz="1600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3E74E69-6D3F-4A6C-ACD5-536196D0C1DE}"/>
              </a:ext>
            </a:extLst>
          </p:cNvPr>
          <p:cNvSpPr/>
          <p:nvPr/>
        </p:nvSpPr>
        <p:spPr>
          <a:xfrm>
            <a:off x="3908452" y="3588176"/>
            <a:ext cx="1715511" cy="332510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600" dirty="0"/>
              <a:t>CIDR: 10.0.1.0/24</a:t>
            </a:r>
            <a:endParaRPr lang="es-EC" sz="160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5A8E6D4-15B9-4E07-B706-9A045B961254}"/>
              </a:ext>
            </a:extLst>
          </p:cNvPr>
          <p:cNvSpPr/>
          <p:nvPr/>
        </p:nvSpPr>
        <p:spPr>
          <a:xfrm>
            <a:off x="5295405" y="4513809"/>
            <a:ext cx="1667941" cy="332510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600" dirty="0"/>
              <a:t>CIDR: 10.0.2.0/24</a:t>
            </a:r>
            <a:endParaRPr lang="es-EC" sz="1600" dirty="0"/>
          </a:p>
        </p:txBody>
      </p:sp>
    </p:spTree>
    <p:extLst>
      <p:ext uri="{BB962C8B-B14F-4D97-AF65-F5344CB8AC3E}">
        <p14:creationId xmlns:p14="http://schemas.microsoft.com/office/powerpoint/2010/main" val="1057027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302358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</a:rPr>
              <a:t>INTERNET GATEWAY	 </a:t>
            </a:r>
            <a:endParaRPr lang="es-EC" sz="2400" b="1" dirty="0">
              <a:solidFill>
                <a:schemeClr val="bg1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3C79AC9-378A-4DD9-92C8-90831CAC2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803" y="1296785"/>
            <a:ext cx="5829497" cy="54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366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302358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</a:rPr>
              <a:t>INTERNET GATEWAY	 </a:t>
            </a:r>
            <a:endParaRPr lang="es-EC" sz="2400" b="1" dirty="0">
              <a:solidFill>
                <a:schemeClr val="bg1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3C79AC9-378A-4DD9-92C8-90831CAC2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803" y="1296785"/>
            <a:ext cx="5829497" cy="549230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C76002C-5B80-49DF-B0F6-AB72E5779165}"/>
              </a:ext>
            </a:extLst>
          </p:cNvPr>
          <p:cNvSpPr/>
          <p:nvPr/>
        </p:nvSpPr>
        <p:spPr>
          <a:xfrm>
            <a:off x="7490903" y="3253226"/>
            <a:ext cx="2324793" cy="789709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LA VPC TIENE SALIDA AL INTERNET POR EL INTERNET GATEWAY ,PERO NINGUNA SUBRED TIENE ACCESO A LA SALIDA</a:t>
            </a:r>
            <a:endParaRPr lang="es-EC" sz="1200" dirty="0"/>
          </a:p>
        </p:txBody>
      </p:sp>
    </p:spTree>
    <p:extLst>
      <p:ext uri="{BB962C8B-B14F-4D97-AF65-F5344CB8AC3E}">
        <p14:creationId xmlns:p14="http://schemas.microsoft.com/office/powerpoint/2010/main" val="2222493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53319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</a:rPr>
              <a:t>Tabla de Enrutamiento (</a:t>
            </a:r>
            <a:r>
              <a:rPr lang="es-MX" sz="2400" b="1" dirty="0" err="1">
                <a:solidFill>
                  <a:schemeClr val="bg1"/>
                </a:solidFill>
              </a:rPr>
              <a:t>Route</a:t>
            </a:r>
            <a:r>
              <a:rPr lang="es-MX" sz="2400" b="1" dirty="0">
                <a:solidFill>
                  <a:schemeClr val="bg1"/>
                </a:solidFill>
              </a:rPr>
              <a:t> Table)	 </a:t>
            </a:r>
            <a:endParaRPr lang="es-EC" sz="2400" b="1" dirty="0">
              <a:solidFill>
                <a:schemeClr val="bg1"/>
              </a:solidFill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68873" y="1296785"/>
            <a:ext cx="9692639" cy="5361710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C" dirty="0">
              <a:solidFill>
                <a:schemeClr val="tx1"/>
              </a:solidFill>
            </a:endParaRPr>
          </a:p>
          <a:p>
            <a:pPr lvl="1"/>
            <a:endParaRPr lang="es-MX" sz="2000" dirty="0">
              <a:solidFill>
                <a:schemeClr val="tx1"/>
              </a:solidFill>
            </a:endParaRP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endParaRPr sz="2000" dirty="0">
              <a:solidFill>
                <a:schemeClr val="tx1"/>
              </a:solidFill>
            </a:endParaRPr>
          </a:p>
        </p:txBody>
      </p:sp>
      <p:graphicFrame>
        <p:nvGraphicFramePr>
          <p:cNvPr id="7" name="Tabla 5">
            <a:extLst>
              <a:ext uri="{FF2B5EF4-FFF2-40B4-BE49-F238E27FC236}">
                <a16:creationId xmlns:a16="http://schemas.microsoft.com/office/drawing/2014/main" id="{FC012CAD-4F02-44AE-905C-B7DDCEE19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255593"/>
              </p:ext>
            </p:extLst>
          </p:nvPr>
        </p:nvGraphicFramePr>
        <p:xfrm>
          <a:off x="1719568" y="2801551"/>
          <a:ext cx="8127999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964">
                  <a:extLst>
                    <a:ext uri="{9D8B030D-6E8A-4147-A177-3AD203B41FA5}">
                      <a16:colId xmlns:a16="http://schemas.microsoft.com/office/drawing/2014/main" val="3299512157"/>
                    </a:ext>
                  </a:extLst>
                </a:gridCol>
                <a:gridCol w="2202873">
                  <a:extLst>
                    <a:ext uri="{9D8B030D-6E8A-4147-A177-3AD203B41FA5}">
                      <a16:colId xmlns:a16="http://schemas.microsoft.com/office/drawing/2014/main" val="2141497261"/>
                    </a:ext>
                  </a:extLst>
                </a:gridCol>
                <a:gridCol w="4243162">
                  <a:extLst>
                    <a:ext uri="{9D8B030D-6E8A-4147-A177-3AD203B41FA5}">
                      <a16:colId xmlns:a16="http://schemas.microsoft.com/office/drawing/2014/main" val="4200947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Destino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Target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b="0" i="1" dirty="0"/>
                        <a:t>Explicación</a:t>
                      </a:r>
                      <a:endParaRPr lang="es-EC" b="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845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0.0.0.0/0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Internet </a:t>
                      </a:r>
                      <a:r>
                        <a:rPr lang="es-ES" dirty="0" err="1"/>
                        <a:t>gateway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Cualquier petición a cualquier </a:t>
                      </a:r>
                      <a:r>
                        <a:rPr lang="es-ES" dirty="0" err="1"/>
                        <a:t>ip</a:t>
                      </a:r>
                      <a:r>
                        <a:rPr lang="es-ES" dirty="0"/>
                        <a:t> se enruta por el internet Gateway</a:t>
                      </a:r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812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10.0.0.0/16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local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Cualquier petición a una que es de la VPC se queda en la VPC, no sale a internet</a:t>
                      </a:r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217986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AC0CAE0C-BA37-4D3B-9265-002678D2F109}"/>
              </a:ext>
            </a:extLst>
          </p:cNvPr>
          <p:cNvSpPr txBox="1"/>
          <p:nvPr/>
        </p:nvSpPr>
        <p:spPr>
          <a:xfrm>
            <a:off x="1719569" y="1546167"/>
            <a:ext cx="415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TABLA DE ENRUTAMIENTO </a:t>
            </a:r>
            <a:r>
              <a:rPr lang="es-MX" b="1" dirty="0"/>
              <a:t>SUBRED A</a:t>
            </a:r>
            <a:endParaRPr lang="es-EC" b="1" dirty="0"/>
          </a:p>
        </p:txBody>
      </p:sp>
    </p:spTree>
    <p:extLst>
      <p:ext uri="{BB962C8B-B14F-4D97-AF65-F5344CB8AC3E}">
        <p14:creationId xmlns:p14="http://schemas.microsoft.com/office/powerpoint/2010/main" val="783274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302358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</a:rPr>
              <a:t>PUBLICA VS PRIVADA	 </a:t>
            </a:r>
            <a:endParaRPr lang="es-EC" sz="2400" b="1" dirty="0">
              <a:solidFill>
                <a:schemeClr val="bg1"/>
              </a:solidFill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60A5B49-1E33-426E-AC57-C2BF58CA3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011" y="1084571"/>
            <a:ext cx="5829497" cy="5492300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614837D0-4F37-484D-A6D0-2B0865EAEDF7}"/>
              </a:ext>
            </a:extLst>
          </p:cNvPr>
          <p:cNvSpPr/>
          <p:nvPr/>
        </p:nvSpPr>
        <p:spPr>
          <a:xfrm>
            <a:off x="7690986" y="3279203"/>
            <a:ext cx="2324793" cy="789709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/>
              <a:t>LA CONFIGURACIÓN DE LA TABLA DE ENRUTAMIENTO LE PERMITE A LA SUBRED A TENER ACCESO A INTERNET</a:t>
            </a:r>
            <a:endParaRPr lang="es-EC" sz="12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DE6C862-25DB-1AE5-C017-F3335B2C1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61" y="3486389"/>
            <a:ext cx="3409140" cy="70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871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210025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</a:rPr>
              <a:t>NAT GATEWAY	 </a:t>
            </a:r>
            <a:endParaRPr lang="es-EC" sz="2400" b="1" dirty="0">
              <a:solidFill>
                <a:schemeClr val="bg1"/>
              </a:solidFill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B7DDF49-6CF5-416B-B09D-86C4F16DF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866" y="1189926"/>
            <a:ext cx="5829497" cy="54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593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53319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</a:rPr>
              <a:t>Tabla de Enrutamiento (</a:t>
            </a:r>
            <a:r>
              <a:rPr lang="es-MX" sz="2400" b="1" dirty="0" err="1">
                <a:solidFill>
                  <a:schemeClr val="bg1"/>
                </a:solidFill>
              </a:rPr>
              <a:t>Route</a:t>
            </a:r>
            <a:r>
              <a:rPr lang="es-MX" sz="2400" b="1" dirty="0">
                <a:solidFill>
                  <a:schemeClr val="bg1"/>
                </a:solidFill>
              </a:rPr>
              <a:t> Table)	 </a:t>
            </a:r>
            <a:endParaRPr lang="es-EC" sz="2400" b="1" dirty="0">
              <a:solidFill>
                <a:schemeClr val="bg1"/>
              </a:solidFill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68873" y="1296785"/>
            <a:ext cx="9692639" cy="5361710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C" dirty="0">
              <a:solidFill>
                <a:schemeClr val="tx1"/>
              </a:solidFill>
            </a:endParaRPr>
          </a:p>
          <a:p>
            <a:pPr lvl="1"/>
            <a:endParaRPr lang="es-MX" sz="2000" dirty="0">
              <a:solidFill>
                <a:schemeClr val="tx1"/>
              </a:solidFill>
            </a:endParaRP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endParaRPr sz="2000" dirty="0">
              <a:solidFill>
                <a:schemeClr val="tx1"/>
              </a:solidFill>
            </a:endParaRPr>
          </a:p>
        </p:txBody>
      </p:sp>
      <p:graphicFrame>
        <p:nvGraphicFramePr>
          <p:cNvPr id="7" name="Tabla 5">
            <a:extLst>
              <a:ext uri="{FF2B5EF4-FFF2-40B4-BE49-F238E27FC236}">
                <a16:creationId xmlns:a16="http://schemas.microsoft.com/office/drawing/2014/main" id="{FC012CAD-4F02-44AE-905C-B7DDCEE19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746320"/>
              </p:ext>
            </p:extLst>
          </p:nvPr>
        </p:nvGraphicFramePr>
        <p:xfrm>
          <a:off x="1719569" y="2033077"/>
          <a:ext cx="8127999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964">
                  <a:extLst>
                    <a:ext uri="{9D8B030D-6E8A-4147-A177-3AD203B41FA5}">
                      <a16:colId xmlns:a16="http://schemas.microsoft.com/office/drawing/2014/main" val="3299512157"/>
                    </a:ext>
                  </a:extLst>
                </a:gridCol>
                <a:gridCol w="2202873">
                  <a:extLst>
                    <a:ext uri="{9D8B030D-6E8A-4147-A177-3AD203B41FA5}">
                      <a16:colId xmlns:a16="http://schemas.microsoft.com/office/drawing/2014/main" val="2141497261"/>
                    </a:ext>
                  </a:extLst>
                </a:gridCol>
                <a:gridCol w="4243162">
                  <a:extLst>
                    <a:ext uri="{9D8B030D-6E8A-4147-A177-3AD203B41FA5}">
                      <a16:colId xmlns:a16="http://schemas.microsoft.com/office/drawing/2014/main" val="4200947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Destino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Target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b="0" i="1" dirty="0"/>
                        <a:t>Explicación</a:t>
                      </a:r>
                      <a:endParaRPr lang="es-EC" b="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845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0.0.0.0/16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Internet Gateway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Cualquier petición a cualquier </a:t>
                      </a:r>
                      <a:r>
                        <a:rPr lang="es-ES" dirty="0" err="1"/>
                        <a:t>ip</a:t>
                      </a:r>
                      <a:r>
                        <a:rPr lang="es-ES" dirty="0"/>
                        <a:t> se va por el Gateway</a:t>
                      </a:r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812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10.0.0.0/16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local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217986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A8CACE58-DB68-4D26-B38A-73204946B0A6}"/>
              </a:ext>
            </a:extLst>
          </p:cNvPr>
          <p:cNvSpPr txBox="1"/>
          <p:nvPr/>
        </p:nvSpPr>
        <p:spPr>
          <a:xfrm>
            <a:off x="1719569" y="1546167"/>
            <a:ext cx="415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TABLA DE ENRUTAMIENTO SUBRED C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071528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210025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</a:rPr>
              <a:t>NAT GATEWAY	 </a:t>
            </a:r>
            <a:endParaRPr lang="es-EC" sz="2400" b="1" dirty="0">
              <a:solidFill>
                <a:schemeClr val="bg1"/>
              </a:solidFill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2DABA39-24FA-4DB7-A272-8286AA756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232" y="1084571"/>
            <a:ext cx="5829497" cy="54923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B6DC6D87-BA57-9700-48CE-E8FC6C1FC7D4}"/>
              </a:ext>
            </a:extLst>
          </p:cNvPr>
          <p:cNvSpPr/>
          <p:nvPr/>
        </p:nvSpPr>
        <p:spPr>
          <a:xfrm>
            <a:off x="5359400" y="4940300"/>
            <a:ext cx="342900" cy="4191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49080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53319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</a:rPr>
              <a:t>Tabla de Enrutamiento (</a:t>
            </a:r>
            <a:r>
              <a:rPr lang="es-MX" sz="2400" b="1" dirty="0" err="1">
                <a:solidFill>
                  <a:schemeClr val="bg1"/>
                </a:solidFill>
              </a:rPr>
              <a:t>Route</a:t>
            </a:r>
            <a:r>
              <a:rPr lang="es-MX" sz="2400" b="1" dirty="0">
                <a:solidFill>
                  <a:schemeClr val="bg1"/>
                </a:solidFill>
              </a:rPr>
              <a:t> Table)	 </a:t>
            </a:r>
            <a:endParaRPr lang="es-EC" sz="2400" b="1" dirty="0">
              <a:solidFill>
                <a:schemeClr val="bg1"/>
              </a:solidFill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68873" y="1296785"/>
            <a:ext cx="9692639" cy="5361710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C" dirty="0">
              <a:solidFill>
                <a:schemeClr val="tx1"/>
              </a:solidFill>
            </a:endParaRPr>
          </a:p>
          <a:p>
            <a:pPr lvl="1"/>
            <a:endParaRPr lang="es-MX" sz="2000" dirty="0">
              <a:solidFill>
                <a:schemeClr val="tx1"/>
              </a:solidFill>
            </a:endParaRP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endParaRPr sz="2000" dirty="0">
              <a:solidFill>
                <a:schemeClr val="tx1"/>
              </a:solidFill>
            </a:endParaRPr>
          </a:p>
        </p:txBody>
      </p:sp>
      <p:graphicFrame>
        <p:nvGraphicFramePr>
          <p:cNvPr id="7" name="Tabla 5">
            <a:extLst>
              <a:ext uri="{FF2B5EF4-FFF2-40B4-BE49-F238E27FC236}">
                <a16:creationId xmlns:a16="http://schemas.microsoft.com/office/drawing/2014/main" id="{FC012CAD-4F02-44AE-905C-B7DDCEE19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7917961"/>
              </p:ext>
            </p:extLst>
          </p:nvPr>
        </p:nvGraphicFramePr>
        <p:xfrm>
          <a:off x="1719569" y="2033077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964">
                  <a:extLst>
                    <a:ext uri="{9D8B030D-6E8A-4147-A177-3AD203B41FA5}">
                      <a16:colId xmlns:a16="http://schemas.microsoft.com/office/drawing/2014/main" val="3299512157"/>
                    </a:ext>
                  </a:extLst>
                </a:gridCol>
                <a:gridCol w="2202873">
                  <a:extLst>
                    <a:ext uri="{9D8B030D-6E8A-4147-A177-3AD203B41FA5}">
                      <a16:colId xmlns:a16="http://schemas.microsoft.com/office/drawing/2014/main" val="2141497261"/>
                    </a:ext>
                  </a:extLst>
                </a:gridCol>
                <a:gridCol w="4243162">
                  <a:extLst>
                    <a:ext uri="{9D8B030D-6E8A-4147-A177-3AD203B41FA5}">
                      <a16:colId xmlns:a16="http://schemas.microsoft.com/office/drawing/2014/main" val="4200947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Destino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Target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b="0" i="1" dirty="0"/>
                        <a:t>Explicación</a:t>
                      </a:r>
                      <a:endParaRPr lang="es-EC" b="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845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0.0.0.0/0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Nat</a:t>
                      </a:r>
                      <a:r>
                        <a:rPr lang="es-ES" dirty="0"/>
                        <a:t> Gateway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Permite la salida por el </a:t>
                      </a:r>
                      <a:r>
                        <a:rPr lang="es-ES" dirty="0" err="1"/>
                        <a:t>Nat</a:t>
                      </a:r>
                      <a:r>
                        <a:rPr lang="es-ES" dirty="0"/>
                        <a:t> Gateway</a:t>
                      </a:r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812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10.0.0.0/16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217986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A8CACE58-DB68-4D26-B38A-73204946B0A6}"/>
              </a:ext>
            </a:extLst>
          </p:cNvPr>
          <p:cNvSpPr txBox="1"/>
          <p:nvPr/>
        </p:nvSpPr>
        <p:spPr>
          <a:xfrm>
            <a:off x="1719569" y="1546167"/>
            <a:ext cx="415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TABLA DE ENRUTAMIENTO SUBRED B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663646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256192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</a:rPr>
              <a:t>ENRUTAMIENTO	 </a:t>
            </a:r>
            <a:endParaRPr lang="es-EC" sz="2400" b="1" dirty="0">
              <a:solidFill>
                <a:schemeClr val="bg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DFC11EB-E996-42C4-8B9B-4813ABECD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480" y="1166195"/>
            <a:ext cx="5829497" cy="54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079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256192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</a:rPr>
              <a:t>Security </a:t>
            </a:r>
            <a:r>
              <a:rPr lang="es-MX" sz="2400" b="1" dirty="0" err="1">
                <a:solidFill>
                  <a:schemeClr val="bg1"/>
                </a:solidFill>
              </a:rPr>
              <a:t>Groups</a:t>
            </a:r>
            <a:r>
              <a:rPr lang="es-MX" sz="2400" b="1" dirty="0">
                <a:solidFill>
                  <a:schemeClr val="bg1"/>
                </a:solidFill>
              </a:rPr>
              <a:t>	 </a:t>
            </a:r>
            <a:endParaRPr lang="es-EC" sz="2400" b="1" dirty="0">
              <a:solidFill>
                <a:schemeClr val="bg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D9D9069-3D45-4E1A-BF1D-BF2F98988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862" y="1296785"/>
            <a:ext cx="5829497" cy="54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640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256192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</a:rPr>
              <a:t>Security </a:t>
            </a:r>
            <a:r>
              <a:rPr lang="es-MX" sz="2400" b="1" dirty="0" err="1">
                <a:solidFill>
                  <a:schemeClr val="bg1"/>
                </a:solidFill>
              </a:rPr>
              <a:t>Groups</a:t>
            </a:r>
            <a:r>
              <a:rPr lang="es-MX" sz="2400" b="1" dirty="0">
                <a:solidFill>
                  <a:schemeClr val="bg1"/>
                </a:solidFill>
              </a:rPr>
              <a:t>	 </a:t>
            </a:r>
            <a:endParaRPr lang="es-EC" sz="2400" b="1" dirty="0">
              <a:solidFill>
                <a:schemeClr val="bg1"/>
              </a:solidFill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68873" y="1296785"/>
            <a:ext cx="9692639" cy="5361710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C" dirty="0">
              <a:solidFill>
                <a:schemeClr val="tx1"/>
              </a:solidFill>
            </a:endParaRPr>
          </a:p>
          <a:p>
            <a:pPr lvl="1"/>
            <a:endParaRPr lang="es-MX" sz="2000" dirty="0">
              <a:solidFill>
                <a:schemeClr val="tx1"/>
              </a:solidFill>
            </a:endParaRP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endParaRPr lang="es-EC" sz="20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E7ED0B75-DAA6-47D3-9C4C-5E6BBBB15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205663"/>
              </p:ext>
            </p:extLst>
          </p:nvPr>
        </p:nvGraphicFramePr>
        <p:xfrm>
          <a:off x="1440041" y="2494280"/>
          <a:ext cx="8298895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9779">
                  <a:extLst>
                    <a:ext uri="{9D8B030D-6E8A-4147-A177-3AD203B41FA5}">
                      <a16:colId xmlns:a16="http://schemas.microsoft.com/office/drawing/2014/main" val="1429151239"/>
                    </a:ext>
                  </a:extLst>
                </a:gridCol>
                <a:gridCol w="1659779">
                  <a:extLst>
                    <a:ext uri="{9D8B030D-6E8A-4147-A177-3AD203B41FA5}">
                      <a16:colId xmlns:a16="http://schemas.microsoft.com/office/drawing/2014/main" val="2234629098"/>
                    </a:ext>
                  </a:extLst>
                </a:gridCol>
                <a:gridCol w="1659779">
                  <a:extLst>
                    <a:ext uri="{9D8B030D-6E8A-4147-A177-3AD203B41FA5}">
                      <a16:colId xmlns:a16="http://schemas.microsoft.com/office/drawing/2014/main" val="2681688881"/>
                    </a:ext>
                  </a:extLst>
                </a:gridCol>
                <a:gridCol w="1659779">
                  <a:extLst>
                    <a:ext uri="{9D8B030D-6E8A-4147-A177-3AD203B41FA5}">
                      <a16:colId xmlns:a16="http://schemas.microsoft.com/office/drawing/2014/main" val="2968583656"/>
                    </a:ext>
                  </a:extLst>
                </a:gridCol>
                <a:gridCol w="1659779">
                  <a:extLst>
                    <a:ext uri="{9D8B030D-6E8A-4147-A177-3AD203B41FA5}">
                      <a16:colId xmlns:a16="http://schemas.microsoft.com/office/drawing/2014/main" val="24093896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Tipo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Protocolo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Puerto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Origen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8841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HTTP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TCP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80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0.0.0.0/0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Cualquier petición http al 80</a:t>
                      </a:r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355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HTTPS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TCP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443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0.0.0.0./0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Cualquier petición </a:t>
                      </a:r>
                      <a:r>
                        <a:rPr lang="es-ES" dirty="0" err="1">
                          <a:solidFill>
                            <a:schemeClr val="tx1"/>
                          </a:solidFill>
                        </a:rPr>
                        <a:t>htts</a:t>
                      </a:r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 al 443</a:t>
                      </a:r>
                      <a:endParaRPr lang="es-EC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3157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SSH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TCP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22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190.10.0.5/32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Solo esta </a:t>
                      </a:r>
                      <a:r>
                        <a:rPr lang="es-ES" dirty="0" err="1">
                          <a:solidFill>
                            <a:schemeClr val="tx1"/>
                          </a:solidFill>
                        </a:rPr>
                        <a:t>ip</a:t>
                      </a:r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 tiene acceso al SSH</a:t>
                      </a:r>
                      <a:endParaRPr lang="es-EC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939114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B9F57218-D41E-49DC-B86B-83AD554B9F7B}"/>
              </a:ext>
            </a:extLst>
          </p:cNvPr>
          <p:cNvSpPr txBox="1"/>
          <p:nvPr/>
        </p:nvSpPr>
        <p:spPr>
          <a:xfrm>
            <a:off x="1732620" y="1690488"/>
            <a:ext cx="415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SECURITY GROUP WEB</a:t>
            </a:r>
            <a:endParaRPr lang="es-EC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B18E7F1-F019-DCDA-77F6-4AB0B6F0D425}"/>
              </a:ext>
            </a:extLst>
          </p:cNvPr>
          <p:cNvSpPr txBox="1"/>
          <p:nvPr/>
        </p:nvSpPr>
        <p:spPr>
          <a:xfrm>
            <a:off x="506591" y="2114403"/>
            <a:ext cx="415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INBOUND</a:t>
            </a:r>
            <a:endParaRPr lang="es-EC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8A8D41A-7101-47B5-2D81-D6112D8D269B}"/>
              </a:ext>
            </a:extLst>
          </p:cNvPr>
          <p:cNvSpPr txBox="1"/>
          <p:nvPr/>
        </p:nvSpPr>
        <p:spPr>
          <a:xfrm>
            <a:off x="4323420" y="1658222"/>
            <a:ext cx="4157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La entrada y respuesta es por el mismo puesto definido.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53399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256192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</a:rPr>
              <a:t>Security </a:t>
            </a:r>
            <a:r>
              <a:rPr lang="es-MX" sz="2400" b="1" dirty="0" err="1">
                <a:solidFill>
                  <a:schemeClr val="bg1"/>
                </a:solidFill>
              </a:rPr>
              <a:t>Groups</a:t>
            </a:r>
            <a:r>
              <a:rPr lang="es-MX" sz="2400" b="1" dirty="0">
                <a:solidFill>
                  <a:schemeClr val="bg1"/>
                </a:solidFill>
              </a:rPr>
              <a:t>	 </a:t>
            </a:r>
            <a:endParaRPr lang="es-EC" sz="2400" b="1" dirty="0">
              <a:solidFill>
                <a:schemeClr val="bg1"/>
              </a:solidFill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68873" y="1296785"/>
            <a:ext cx="9692639" cy="5361710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C" dirty="0">
              <a:solidFill>
                <a:schemeClr val="tx1"/>
              </a:solidFill>
            </a:endParaRPr>
          </a:p>
          <a:p>
            <a:pPr lvl="1"/>
            <a:endParaRPr lang="es-MX" sz="2000" dirty="0">
              <a:solidFill>
                <a:schemeClr val="tx1"/>
              </a:solidFill>
            </a:endParaRP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endParaRPr lang="es-EC" sz="2000" dirty="0">
              <a:solidFill>
                <a:schemeClr val="tx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9F57218-D41E-49DC-B86B-83AD554B9F7B}"/>
              </a:ext>
            </a:extLst>
          </p:cNvPr>
          <p:cNvSpPr txBox="1"/>
          <p:nvPr/>
        </p:nvSpPr>
        <p:spPr>
          <a:xfrm>
            <a:off x="1732620" y="1690488"/>
            <a:ext cx="415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SECURITY GROUP WEB</a:t>
            </a:r>
            <a:endParaRPr lang="es-EC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85294363-DADB-7D5A-2B4E-B1D911B509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002526"/>
              </p:ext>
            </p:extLst>
          </p:nvPr>
        </p:nvGraphicFramePr>
        <p:xfrm>
          <a:off x="1385110" y="2600589"/>
          <a:ext cx="829889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9779">
                  <a:extLst>
                    <a:ext uri="{9D8B030D-6E8A-4147-A177-3AD203B41FA5}">
                      <a16:colId xmlns:a16="http://schemas.microsoft.com/office/drawing/2014/main" val="1429151239"/>
                    </a:ext>
                  </a:extLst>
                </a:gridCol>
                <a:gridCol w="1659779">
                  <a:extLst>
                    <a:ext uri="{9D8B030D-6E8A-4147-A177-3AD203B41FA5}">
                      <a16:colId xmlns:a16="http://schemas.microsoft.com/office/drawing/2014/main" val="2234629098"/>
                    </a:ext>
                  </a:extLst>
                </a:gridCol>
                <a:gridCol w="1659779">
                  <a:extLst>
                    <a:ext uri="{9D8B030D-6E8A-4147-A177-3AD203B41FA5}">
                      <a16:colId xmlns:a16="http://schemas.microsoft.com/office/drawing/2014/main" val="2681688881"/>
                    </a:ext>
                  </a:extLst>
                </a:gridCol>
                <a:gridCol w="1659779">
                  <a:extLst>
                    <a:ext uri="{9D8B030D-6E8A-4147-A177-3AD203B41FA5}">
                      <a16:colId xmlns:a16="http://schemas.microsoft.com/office/drawing/2014/main" val="2968583656"/>
                    </a:ext>
                  </a:extLst>
                </a:gridCol>
                <a:gridCol w="1659779">
                  <a:extLst>
                    <a:ext uri="{9D8B030D-6E8A-4147-A177-3AD203B41FA5}">
                      <a16:colId xmlns:a16="http://schemas.microsoft.com/office/drawing/2014/main" val="24093896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Tipo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Protocolo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Puerto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Destino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8841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ALL trafic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all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all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0.0.0.0/0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355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3157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939114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1087B829-8D97-6770-3ED6-062173AAED02}"/>
              </a:ext>
            </a:extLst>
          </p:cNvPr>
          <p:cNvSpPr txBox="1"/>
          <p:nvPr/>
        </p:nvSpPr>
        <p:spPr>
          <a:xfrm>
            <a:off x="292910" y="1984652"/>
            <a:ext cx="415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OUTBOUND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620857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256192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</a:rPr>
              <a:t>Security </a:t>
            </a:r>
            <a:r>
              <a:rPr lang="es-MX" sz="2400" b="1" dirty="0" err="1">
                <a:solidFill>
                  <a:schemeClr val="bg1"/>
                </a:solidFill>
              </a:rPr>
              <a:t>Groups</a:t>
            </a:r>
            <a:r>
              <a:rPr lang="es-MX" sz="2400" b="1" dirty="0">
                <a:solidFill>
                  <a:schemeClr val="bg1"/>
                </a:solidFill>
              </a:rPr>
              <a:t>	 </a:t>
            </a:r>
            <a:endParaRPr lang="es-EC" sz="2400" b="1" dirty="0">
              <a:solidFill>
                <a:schemeClr val="bg1"/>
              </a:solidFill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68873" y="1296785"/>
            <a:ext cx="9692639" cy="5361710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C" dirty="0">
              <a:solidFill>
                <a:schemeClr val="tx1"/>
              </a:solidFill>
            </a:endParaRPr>
          </a:p>
          <a:p>
            <a:pPr lvl="1"/>
            <a:endParaRPr lang="es-MX" sz="2000" dirty="0">
              <a:solidFill>
                <a:schemeClr val="tx1"/>
              </a:solidFill>
            </a:endParaRP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endParaRPr lang="es-EC" sz="20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E7ED0B75-DAA6-47D3-9C4C-5E6BBBB15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98594"/>
              </p:ext>
            </p:extLst>
          </p:nvPr>
        </p:nvGraphicFramePr>
        <p:xfrm>
          <a:off x="1665744" y="3058870"/>
          <a:ext cx="8298895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9779">
                  <a:extLst>
                    <a:ext uri="{9D8B030D-6E8A-4147-A177-3AD203B41FA5}">
                      <a16:colId xmlns:a16="http://schemas.microsoft.com/office/drawing/2014/main" val="1429151239"/>
                    </a:ext>
                  </a:extLst>
                </a:gridCol>
                <a:gridCol w="1659779">
                  <a:extLst>
                    <a:ext uri="{9D8B030D-6E8A-4147-A177-3AD203B41FA5}">
                      <a16:colId xmlns:a16="http://schemas.microsoft.com/office/drawing/2014/main" val="2234629098"/>
                    </a:ext>
                  </a:extLst>
                </a:gridCol>
                <a:gridCol w="1659779">
                  <a:extLst>
                    <a:ext uri="{9D8B030D-6E8A-4147-A177-3AD203B41FA5}">
                      <a16:colId xmlns:a16="http://schemas.microsoft.com/office/drawing/2014/main" val="2681688881"/>
                    </a:ext>
                  </a:extLst>
                </a:gridCol>
                <a:gridCol w="1659779">
                  <a:extLst>
                    <a:ext uri="{9D8B030D-6E8A-4147-A177-3AD203B41FA5}">
                      <a16:colId xmlns:a16="http://schemas.microsoft.com/office/drawing/2014/main" val="2968583656"/>
                    </a:ext>
                  </a:extLst>
                </a:gridCol>
                <a:gridCol w="1659779">
                  <a:extLst>
                    <a:ext uri="{9D8B030D-6E8A-4147-A177-3AD203B41FA5}">
                      <a16:colId xmlns:a16="http://schemas.microsoft.com/office/drawing/2014/main" val="24093896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Tipo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Protocolo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Puerto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Origen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8841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CUSTOM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3000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Security </a:t>
                      </a:r>
                      <a:r>
                        <a:rPr lang="es-ES" dirty="0" err="1"/>
                        <a:t>Group</a:t>
                      </a:r>
                      <a:r>
                        <a:rPr lang="es-ES" dirty="0"/>
                        <a:t> WEB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355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3157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939114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10758BB1-F74D-440E-B62E-E57B939F97A0}"/>
              </a:ext>
            </a:extLst>
          </p:cNvPr>
          <p:cNvSpPr txBox="1"/>
          <p:nvPr/>
        </p:nvSpPr>
        <p:spPr>
          <a:xfrm>
            <a:off x="1751191" y="2056633"/>
            <a:ext cx="415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SECURITY GROUP EC2 NODE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DF48468-C840-C982-2BFB-403857F7B6DC}"/>
              </a:ext>
            </a:extLst>
          </p:cNvPr>
          <p:cNvSpPr txBox="1"/>
          <p:nvPr/>
        </p:nvSpPr>
        <p:spPr>
          <a:xfrm>
            <a:off x="1732620" y="2453513"/>
            <a:ext cx="415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INBOUND</a:t>
            </a:r>
          </a:p>
        </p:txBody>
      </p:sp>
    </p:spTree>
    <p:extLst>
      <p:ext uri="{BB962C8B-B14F-4D97-AF65-F5344CB8AC3E}">
        <p14:creationId xmlns:p14="http://schemas.microsoft.com/office/powerpoint/2010/main" val="13222262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256192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</a:rPr>
              <a:t>Security </a:t>
            </a:r>
            <a:r>
              <a:rPr lang="es-MX" sz="2400" b="1" dirty="0" err="1">
                <a:solidFill>
                  <a:schemeClr val="bg1"/>
                </a:solidFill>
              </a:rPr>
              <a:t>Groups</a:t>
            </a:r>
            <a:r>
              <a:rPr lang="es-MX" sz="2400" b="1" dirty="0">
                <a:solidFill>
                  <a:schemeClr val="bg1"/>
                </a:solidFill>
              </a:rPr>
              <a:t>	 </a:t>
            </a:r>
            <a:endParaRPr lang="es-EC" sz="2400" b="1" dirty="0">
              <a:solidFill>
                <a:schemeClr val="bg1"/>
              </a:solidFill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68873" y="1296785"/>
            <a:ext cx="9692639" cy="5361710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C" dirty="0">
              <a:solidFill>
                <a:schemeClr val="tx1"/>
              </a:solidFill>
            </a:endParaRPr>
          </a:p>
          <a:p>
            <a:pPr lvl="1"/>
            <a:endParaRPr lang="es-MX" sz="2000" dirty="0">
              <a:solidFill>
                <a:schemeClr val="tx1"/>
              </a:solidFill>
            </a:endParaRP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endParaRPr lang="es-EC" sz="20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E7ED0B75-DAA6-47D3-9C4C-5E6BBBB15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94687"/>
              </p:ext>
            </p:extLst>
          </p:nvPr>
        </p:nvGraphicFramePr>
        <p:xfrm>
          <a:off x="1759272" y="3194459"/>
          <a:ext cx="8298895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9779">
                  <a:extLst>
                    <a:ext uri="{9D8B030D-6E8A-4147-A177-3AD203B41FA5}">
                      <a16:colId xmlns:a16="http://schemas.microsoft.com/office/drawing/2014/main" val="1429151239"/>
                    </a:ext>
                  </a:extLst>
                </a:gridCol>
                <a:gridCol w="1659779">
                  <a:extLst>
                    <a:ext uri="{9D8B030D-6E8A-4147-A177-3AD203B41FA5}">
                      <a16:colId xmlns:a16="http://schemas.microsoft.com/office/drawing/2014/main" val="2234629098"/>
                    </a:ext>
                  </a:extLst>
                </a:gridCol>
                <a:gridCol w="1659779">
                  <a:extLst>
                    <a:ext uri="{9D8B030D-6E8A-4147-A177-3AD203B41FA5}">
                      <a16:colId xmlns:a16="http://schemas.microsoft.com/office/drawing/2014/main" val="2681688881"/>
                    </a:ext>
                  </a:extLst>
                </a:gridCol>
                <a:gridCol w="1659779">
                  <a:extLst>
                    <a:ext uri="{9D8B030D-6E8A-4147-A177-3AD203B41FA5}">
                      <a16:colId xmlns:a16="http://schemas.microsoft.com/office/drawing/2014/main" val="2968583656"/>
                    </a:ext>
                  </a:extLst>
                </a:gridCol>
                <a:gridCol w="1659779">
                  <a:extLst>
                    <a:ext uri="{9D8B030D-6E8A-4147-A177-3AD203B41FA5}">
                      <a16:colId xmlns:a16="http://schemas.microsoft.com/office/drawing/2014/main" val="24093896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Tipo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Protocolo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Puerto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Origen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8841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POSTGRES SQL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TCP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5432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Security </a:t>
                      </a:r>
                      <a:r>
                        <a:rPr lang="es-ES" dirty="0" err="1"/>
                        <a:t>Group</a:t>
                      </a:r>
                      <a:r>
                        <a:rPr lang="es-ES" dirty="0"/>
                        <a:t> EC2 NODE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355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3157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939114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FF3D00B1-FD51-48C1-A8C9-7275FB24FF3B}"/>
              </a:ext>
            </a:extLst>
          </p:cNvPr>
          <p:cNvSpPr txBox="1"/>
          <p:nvPr/>
        </p:nvSpPr>
        <p:spPr>
          <a:xfrm>
            <a:off x="1732620" y="1943491"/>
            <a:ext cx="415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SECURITY GROUP AURORA</a:t>
            </a:r>
            <a:endParaRPr lang="es-EC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D587FF1-1E28-39E3-A9C2-DC35DAB27643}"/>
              </a:ext>
            </a:extLst>
          </p:cNvPr>
          <p:cNvSpPr txBox="1"/>
          <p:nvPr/>
        </p:nvSpPr>
        <p:spPr>
          <a:xfrm>
            <a:off x="1751191" y="2431796"/>
            <a:ext cx="415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INDBOUND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2618655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117692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</a:rPr>
              <a:t>NACL	 </a:t>
            </a:r>
            <a:endParaRPr lang="es-EC" sz="2400" b="1" dirty="0">
              <a:solidFill>
                <a:schemeClr val="bg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4D26C05-78D5-4B2F-A190-5B7B9C94E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723" y="1365700"/>
            <a:ext cx="5829497" cy="54923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99B92DC-C009-8088-136E-E6C9DBA34DD5}"/>
              </a:ext>
            </a:extLst>
          </p:cNvPr>
          <p:cNvSpPr txBox="1"/>
          <p:nvPr/>
        </p:nvSpPr>
        <p:spPr>
          <a:xfrm>
            <a:off x="8197850" y="2184400"/>
            <a:ext cx="15938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NACL</a:t>
            </a:r>
          </a:p>
          <a:p>
            <a:r>
              <a:rPr lang="es-ES" dirty="0"/>
              <a:t>Es un firewall de la subred.</a:t>
            </a:r>
          </a:p>
          <a:p>
            <a:endParaRPr lang="es-ES" dirty="0"/>
          </a:p>
          <a:p>
            <a:r>
              <a:rPr lang="es-ES" dirty="0"/>
              <a:t>Es una seguridad a nivel de red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2037216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709"/>
            <a:ext cx="12161520" cy="109728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1660" y="199505"/>
            <a:ext cx="117692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</a:rPr>
              <a:t>NACL	 </a:t>
            </a:r>
            <a:endParaRPr lang="es-EC" sz="2400" b="1" dirty="0">
              <a:solidFill>
                <a:schemeClr val="bg1"/>
              </a:solidFill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AB842619-C42B-4098-83D6-6FD9AD87DE83}"/>
              </a:ext>
            </a:extLst>
          </p:cNvPr>
          <p:cNvSpPr/>
          <p:nvPr/>
        </p:nvSpPr>
        <p:spPr>
          <a:xfrm>
            <a:off x="968873" y="1296785"/>
            <a:ext cx="9692639" cy="5361710"/>
          </a:xfrm>
          <a:prstGeom prst="round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C" dirty="0">
              <a:solidFill>
                <a:schemeClr val="tx1"/>
              </a:solidFill>
            </a:endParaRPr>
          </a:p>
          <a:p>
            <a:pPr lvl="1"/>
            <a:endParaRPr lang="es-MX" sz="2000" dirty="0">
              <a:solidFill>
                <a:schemeClr val="tx1"/>
              </a:solidFill>
            </a:endParaRPr>
          </a:p>
          <a:p>
            <a:pPr marL="457188" lvl="1">
              <a:defRPr sz="1600">
                <a:solidFill>
                  <a:srgbClr val="232F3E"/>
                </a:solidFill>
              </a:defRPr>
            </a:pPr>
            <a:endParaRPr sz="2000" dirty="0">
              <a:solidFill>
                <a:schemeClr val="tx1"/>
              </a:solidFill>
            </a:endParaRPr>
          </a:p>
        </p:txBody>
      </p:sp>
      <p:graphicFrame>
        <p:nvGraphicFramePr>
          <p:cNvPr id="7" name="Tabla 4">
            <a:extLst>
              <a:ext uri="{FF2B5EF4-FFF2-40B4-BE49-F238E27FC236}">
                <a16:creationId xmlns:a16="http://schemas.microsoft.com/office/drawing/2014/main" id="{7BB3CEC9-343D-4B34-84A2-3206AD2CE7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548403"/>
              </p:ext>
            </p:extLst>
          </p:nvPr>
        </p:nvGraphicFramePr>
        <p:xfrm>
          <a:off x="1457013" y="2623281"/>
          <a:ext cx="8716358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5768">
                  <a:extLst>
                    <a:ext uri="{9D8B030D-6E8A-4147-A177-3AD203B41FA5}">
                      <a16:colId xmlns:a16="http://schemas.microsoft.com/office/drawing/2014/main" val="3646696626"/>
                    </a:ext>
                  </a:extLst>
                </a:gridCol>
                <a:gridCol w="1180407">
                  <a:extLst>
                    <a:ext uri="{9D8B030D-6E8A-4147-A177-3AD203B41FA5}">
                      <a16:colId xmlns:a16="http://schemas.microsoft.com/office/drawing/2014/main" val="1455058011"/>
                    </a:ext>
                  </a:extLst>
                </a:gridCol>
                <a:gridCol w="1213658">
                  <a:extLst>
                    <a:ext uri="{9D8B030D-6E8A-4147-A177-3AD203B41FA5}">
                      <a16:colId xmlns:a16="http://schemas.microsoft.com/office/drawing/2014/main" val="1663767701"/>
                    </a:ext>
                  </a:extLst>
                </a:gridCol>
                <a:gridCol w="881149">
                  <a:extLst>
                    <a:ext uri="{9D8B030D-6E8A-4147-A177-3AD203B41FA5}">
                      <a16:colId xmlns:a16="http://schemas.microsoft.com/office/drawing/2014/main" val="2773194178"/>
                    </a:ext>
                  </a:extLst>
                </a:gridCol>
                <a:gridCol w="1205346">
                  <a:extLst>
                    <a:ext uri="{9D8B030D-6E8A-4147-A177-3AD203B41FA5}">
                      <a16:colId xmlns:a16="http://schemas.microsoft.com/office/drawing/2014/main" val="153680583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869959192"/>
                    </a:ext>
                  </a:extLst>
                </a:gridCol>
                <a:gridCol w="2394067">
                  <a:extLst>
                    <a:ext uri="{9D8B030D-6E8A-4147-A177-3AD203B41FA5}">
                      <a16:colId xmlns:a16="http://schemas.microsoft.com/office/drawing/2014/main" val="1581438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Rule #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Tipo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Protocolo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Puerto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Origen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Acción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10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100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HTTP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TCP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80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0.0.0.0/0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allow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18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200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All</a:t>
                      </a:r>
                      <a:r>
                        <a:rPr lang="es-ES" dirty="0"/>
                        <a:t> trafic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all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all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190.10.20.5/32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deny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9314474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7A429B22-BF27-4F7C-B031-E1D5A2F2234D}"/>
              </a:ext>
            </a:extLst>
          </p:cNvPr>
          <p:cNvSpPr txBox="1"/>
          <p:nvPr/>
        </p:nvSpPr>
        <p:spPr>
          <a:xfrm>
            <a:off x="1310617" y="1632135"/>
            <a:ext cx="2061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NACL SUBRED A</a:t>
            </a:r>
            <a:endParaRPr lang="es-EC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1C0A849-1031-DDDE-0056-A906C37F3D47}"/>
              </a:ext>
            </a:extLst>
          </p:cNvPr>
          <p:cNvSpPr txBox="1"/>
          <p:nvPr/>
        </p:nvSpPr>
        <p:spPr>
          <a:xfrm>
            <a:off x="1386817" y="2011534"/>
            <a:ext cx="415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INBOUND</a:t>
            </a:r>
            <a:endParaRPr lang="es-EC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C1A3378-AB59-7A86-9680-30E03BF47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790215"/>
              </p:ext>
            </p:extLst>
          </p:nvPr>
        </p:nvGraphicFramePr>
        <p:xfrm>
          <a:off x="1457013" y="4773621"/>
          <a:ext cx="8716358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5768">
                  <a:extLst>
                    <a:ext uri="{9D8B030D-6E8A-4147-A177-3AD203B41FA5}">
                      <a16:colId xmlns:a16="http://schemas.microsoft.com/office/drawing/2014/main" val="3646696626"/>
                    </a:ext>
                  </a:extLst>
                </a:gridCol>
                <a:gridCol w="1180407">
                  <a:extLst>
                    <a:ext uri="{9D8B030D-6E8A-4147-A177-3AD203B41FA5}">
                      <a16:colId xmlns:a16="http://schemas.microsoft.com/office/drawing/2014/main" val="1455058011"/>
                    </a:ext>
                  </a:extLst>
                </a:gridCol>
                <a:gridCol w="1213658">
                  <a:extLst>
                    <a:ext uri="{9D8B030D-6E8A-4147-A177-3AD203B41FA5}">
                      <a16:colId xmlns:a16="http://schemas.microsoft.com/office/drawing/2014/main" val="1663767701"/>
                    </a:ext>
                  </a:extLst>
                </a:gridCol>
                <a:gridCol w="881149">
                  <a:extLst>
                    <a:ext uri="{9D8B030D-6E8A-4147-A177-3AD203B41FA5}">
                      <a16:colId xmlns:a16="http://schemas.microsoft.com/office/drawing/2014/main" val="2773194178"/>
                    </a:ext>
                  </a:extLst>
                </a:gridCol>
                <a:gridCol w="1205346">
                  <a:extLst>
                    <a:ext uri="{9D8B030D-6E8A-4147-A177-3AD203B41FA5}">
                      <a16:colId xmlns:a16="http://schemas.microsoft.com/office/drawing/2014/main" val="153680583"/>
                    </a:ext>
                  </a:extLst>
                </a:gridCol>
                <a:gridCol w="955963">
                  <a:extLst>
                    <a:ext uri="{9D8B030D-6E8A-4147-A177-3AD203B41FA5}">
                      <a16:colId xmlns:a16="http://schemas.microsoft.com/office/drawing/2014/main" val="869959192"/>
                    </a:ext>
                  </a:extLst>
                </a:gridCol>
                <a:gridCol w="2394067">
                  <a:extLst>
                    <a:ext uri="{9D8B030D-6E8A-4147-A177-3AD203B41FA5}">
                      <a16:colId xmlns:a16="http://schemas.microsoft.com/office/drawing/2014/main" val="1581438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Rule #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Tipo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Protocolo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Puerto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Destino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Acción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10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100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HTTP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TCP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80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0.0.0.0/0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allow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18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200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dirty="0" err="1"/>
                        <a:t>Ephemeral</a:t>
                      </a:r>
                      <a:r>
                        <a:rPr lang="es-EC" dirty="0"/>
                        <a:t> </a:t>
                      </a:r>
                      <a:r>
                        <a:rPr lang="es-EC" dirty="0" err="1"/>
                        <a:t>ports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TCP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1024-65535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0.0.0.0./0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allow</a:t>
                      </a:r>
                      <a:endParaRPr lang="es-EC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9314474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D5740DFE-BDE7-3A0B-8857-122F788F06EE}"/>
              </a:ext>
            </a:extLst>
          </p:cNvPr>
          <p:cNvSpPr txBox="1"/>
          <p:nvPr/>
        </p:nvSpPr>
        <p:spPr>
          <a:xfrm>
            <a:off x="1386817" y="4261966"/>
            <a:ext cx="415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OUTBOUND</a:t>
            </a:r>
            <a:endParaRPr lang="es-EC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CA3B0FF-551A-4943-640B-5663CB7A4E2E}"/>
              </a:ext>
            </a:extLst>
          </p:cNvPr>
          <p:cNvSpPr txBox="1"/>
          <p:nvPr/>
        </p:nvSpPr>
        <p:spPr>
          <a:xfrm>
            <a:off x="3713594" y="1485369"/>
            <a:ext cx="5633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Permite negar el acceso a una </a:t>
            </a:r>
            <a:r>
              <a:rPr lang="es-ES" dirty="0" err="1"/>
              <a:t>ip</a:t>
            </a:r>
            <a:r>
              <a:rPr lang="es-ES" dirty="0"/>
              <a:t> </a:t>
            </a:r>
            <a:r>
              <a:rPr lang="es-ES" dirty="0" err="1"/>
              <a:t>espefica</a:t>
            </a:r>
            <a:r>
              <a:rPr lang="es-ES" dirty="0"/>
              <a:t>.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86247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3459</TotalTime>
  <Words>662</Words>
  <Application>Microsoft Office PowerPoint</Application>
  <PresentationFormat>Panorámica</PresentationFormat>
  <Paragraphs>252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Santiago Mosquera</dc:creator>
  <cp:keywords/>
  <dc:description>generated using python-pptx</dc:description>
  <cp:lastModifiedBy>Esteban Vallejo</cp:lastModifiedBy>
  <cp:revision>103</cp:revision>
  <dcterms:created xsi:type="dcterms:W3CDTF">2013-01-27T09:14:16Z</dcterms:created>
  <dcterms:modified xsi:type="dcterms:W3CDTF">2026-03-06T03:01:17Z</dcterms:modified>
  <cp:category/>
</cp:coreProperties>
</file>