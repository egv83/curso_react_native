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89" r:id="rId5"/>
    <p:sldId id="265" r:id="rId6"/>
    <p:sldId id="290" r:id="rId7"/>
    <p:sldId id="266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9" r:id="rId16"/>
    <p:sldId id="298" r:id="rId17"/>
    <p:sldId id="30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4"/>
  </p:normalViewPr>
  <p:slideViewPr>
    <p:cSldViewPr snapToGrid="0" snapToObjects="1">
      <p:cViewPr varScale="1">
        <p:scale>
          <a:sx n="92" d="100"/>
          <a:sy n="92" d="100"/>
        </p:scale>
        <p:origin x="226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17903" y="2153918"/>
            <a:ext cx="4931157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32F3E"/>
                </a:solidFill>
              </a:defRPr>
            </a:pPr>
            <a:r>
              <a:rPr sz="3800" dirty="0"/>
              <a:t>AWS Cloud Practitioner</a:t>
            </a:r>
          </a:p>
          <a:p>
            <a:pPr algn="ctr">
              <a:defRPr sz="2000"/>
            </a:pPr>
            <a:r>
              <a:rPr sz="2000" dirty="0" err="1"/>
              <a:t>Curso</a:t>
            </a:r>
            <a:r>
              <a:rPr sz="2000" dirty="0"/>
              <a:t> de </a:t>
            </a:r>
            <a:r>
              <a:rPr sz="2000" dirty="0" err="1"/>
              <a:t>preparación</a:t>
            </a:r>
            <a:r>
              <a:rPr sz="2000" dirty="0"/>
              <a:t> para la </a:t>
            </a:r>
            <a:r>
              <a:rPr sz="2000" dirty="0" err="1"/>
              <a:t>certificación</a:t>
            </a:r>
            <a:endParaRPr lang="es-MX" sz="2000" dirty="0"/>
          </a:p>
          <a:p>
            <a:pPr algn="ctr">
              <a:defRPr sz="2000"/>
            </a:pPr>
            <a:endParaRPr lang="es-EC" sz="2000" dirty="0"/>
          </a:p>
          <a:p>
            <a:pPr algn="ctr">
              <a:defRPr sz="2000"/>
            </a:pPr>
            <a:r>
              <a:rPr lang="es-EC" sz="2800" b="1" dirty="0"/>
              <a:t>Servicios Machine </a:t>
            </a:r>
            <a:r>
              <a:rPr lang="es-EC" sz="2800" b="1" dirty="0" err="1"/>
              <a:t>Learning</a:t>
            </a:r>
            <a:endParaRPr sz="28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390A98-93D6-4100-A6D0-F72B7FA1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3" y="3896543"/>
            <a:ext cx="1361745" cy="4539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7327FF-430C-43C4-B915-654257255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41" y="3355982"/>
            <a:ext cx="1276635" cy="1276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12C6B4-2AFD-4F0C-9C18-47059E82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62" y="1325603"/>
            <a:ext cx="3874289" cy="38742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769C84-3974-43B6-89AB-83B56D0E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43" y="4917106"/>
            <a:ext cx="1257851" cy="125785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5DF995A-3221-4174-A109-60965850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39" y="5100191"/>
            <a:ext cx="2286000" cy="76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0528361-CFAD-4C53-B1AB-B98CC85CA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07" y="5156886"/>
            <a:ext cx="1298847" cy="778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159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400" b="1" dirty="0">
                <a:solidFill>
                  <a:schemeClr val="bg1"/>
                </a:solidFill>
              </a:rPr>
              <a:t>Amazon </a:t>
            </a:r>
            <a:r>
              <a:rPr lang="es-EC" sz="2400" b="1" dirty="0" err="1">
                <a:solidFill>
                  <a:schemeClr val="bg1"/>
                </a:solidFill>
              </a:rPr>
              <a:t>Rekognition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r>
              <a:rPr lang="es-EC" sz="2800" b="1" dirty="0">
                <a:solidFill>
                  <a:schemeClr val="tx1"/>
                </a:solidFill>
              </a:rPr>
              <a:t>Amazon </a:t>
            </a:r>
            <a:r>
              <a:rPr lang="es-EC" sz="2800" b="1" dirty="0" err="1">
                <a:solidFill>
                  <a:schemeClr val="tx1"/>
                </a:solidFill>
              </a:rPr>
              <a:t>Rekognition</a:t>
            </a:r>
            <a:endParaRPr lang="es-EC" sz="2800" b="1" dirty="0">
              <a:solidFill>
                <a:schemeClr val="tx1"/>
              </a:solidFill>
            </a:endParaRPr>
          </a:p>
          <a:p>
            <a:pPr lvl="1"/>
            <a:endParaRPr lang="es-EC" dirty="0">
              <a:solidFill>
                <a:schemeClr val="tx1"/>
              </a:solidFill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MX" dirty="0">
                <a:solidFill>
                  <a:schemeClr val="tx1"/>
                </a:solidFill>
                <a:cs typeface="Times New Roman" panose="02020603050405020304" pitchFamily="18" charset="0"/>
              </a:rPr>
              <a:t>Detecta rostros y objetos</a:t>
            </a:r>
          </a:p>
          <a:p>
            <a:pPr lvl="1"/>
            <a:endParaRPr lang="es-MX" dirty="0">
              <a:solidFill>
                <a:schemeClr val="tx1"/>
              </a:solidFill>
            </a:endParaRPr>
          </a:p>
          <a:p>
            <a:pPr lvl="1"/>
            <a:r>
              <a:rPr lang="es-MX" dirty="0">
                <a:solidFill>
                  <a:schemeClr val="tx1"/>
                </a:solidFill>
              </a:rPr>
              <a:t>🎯 Caso típico de examen:</a:t>
            </a:r>
          </a:p>
          <a:p>
            <a:pPr lvl="1"/>
            <a:endParaRPr lang="es-MX" dirty="0">
              <a:solidFill>
                <a:schemeClr val="tx1"/>
              </a:solidFill>
            </a:endParaRPr>
          </a:p>
          <a:p>
            <a:pPr lvl="1"/>
            <a:r>
              <a:rPr lang="es-MX" dirty="0">
                <a:solidFill>
                  <a:schemeClr val="tx1"/>
                </a:solidFill>
              </a:rPr>
              <a:t>Analizar fotos, identificar personas, moderar contenido de imágenes, validación biométrica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63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928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Amazon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sz="2400" b="1" dirty="0" err="1">
                <a:solidFill>
                  <a:schemeClr val="bg1"/>
                </a:solidFill>
              </a:rPr>
              <a:t>Comprehend</a:t>
            </a:r>
            <a:endParaRPr lang="es-ES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400" b="1" dirty="0">
                <a:solidFill>
                  <a:schemeClr val="tx1"/>
                </a:solidFill>
              </a:rPr>
              <a:t>Amazon </a:t>
            </a:r>
            <a:r>
              <a:rPr lang="es-EC" sz="2400" b="1" dirty="0" err="1">
                <a:solidFill>
                  <a:schemeClr val="tx1"/>
                </a:solidFill>
              </a:rPr>
              <a:t>Comprehend</a:t>
            </a:r>
            <a:endParaRPr lang="es-EC" sz="24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s-MX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Comprehend</a:t>
            </a: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es un servicio </a:t>
            </a:r>
            <a:r>
              <a:rPr lang="es-MX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 procesamiento de lenguaje natural </a:t>
            </a: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(NLP) que utiliza machine </a:t>
            </a:r>
            <a:r>
              <a:rPr lang="es-MX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para: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Extraer información y conocimientos de texto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Detectar entidades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Analizar sentimiento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Identificar temas clave</a:t>
            </a:r>
          </a:p>
          <a:p>
            <a:pPr lvl="1"/>
            <a:r>
              <a:rPr lang="es-MX" dirty="0">
                <a:solidFill>
                  <a:schemeClr val="tx1"/>
                </a:solidFill>
              </a:rPr>
              <a:t>🎯 Caso típico de examen:</a:t>
            </a:r>
          </a:p>
          <a:p>
            <a:pPr lvl="1"/>
            <a:endParaRPr lang="es-MX" dirty="0">
              <a:solidFill>
                <a:schemeClr val="tx1"/>
              </a:solidFill>
            </a:endParaRPr>
          </a:p>
          <a:p>
            <a:pPr lvl="1"/>
            <a:r>
              <a:rPr lang="es-MX" dirty="0">
                <a:solidFill>
                  <a:schemeClr val="tx1"/>
                </a:solidFill>
              </a:rPr>
              <a:t>Analizar opiniones de clientes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MX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78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928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Amazon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sz="2400" b="1" dirty="0" err="1">
                <a:solidFill>
                  <a:schemeClr val="bg1"/>
                </a:solidFill>
              </a:rPr>
              <a:t>Comprehend</a:t>
            </a:r>
            <a:endParaRPr lang="es-ES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MX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Texto: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“María López firmó el contrato con Banco Pichincha el 5 de enero en Quito por $15.000.”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Comprehend</a:t>
            </a: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detecta: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Persona → María López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Organización → Banco Pichincha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Fecha → 5 de enero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Lugar → Quito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Cantidad → $15.000</a:t>
            </a:r>
          </a:p>
        </p:txBody>
      </p:sp>
    </p:spTree>
    <p:extLst>
      <p:ext uri="{BB962C8B-B14F-4D97-AF65-F5344CB8AC3E}">
        <p14:creationId xmlns:p14="http://schemas.microsoft.com/office/powerpoint/2010/main" val="303228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327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</a:t>
            </a:r>
            <a:r>
              <a:rPr lang="es-EC" sz="2800" b="1" dirty="0" err="1"/>
              <a:t>Translate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2400" b="1" dirty="0">
                <a:solidFill>
                  <a:schemeClr val="tx1"/>
                </a:solidFill>
              </a:rPr>
              <a:t>Amazon </a:t>
            </a:r>
            <a:r>
              <a:rPr lang="es-MX" sz="2400" b="1" dirty="0" err="1">
                <a:solidFill>
                  <a:schemeClr val="tx1"/>
                </a:solidFill>
              </a:rPr>
              <a:t>Translate</a:t>
            </a:r>
            <a:endParaRPr lang="es-MX" sz="2400" b="1" dirty="0">
              <a:solidFill>
                <a:schemeClr val="tx1"/>
              </a:solidFill>
            </a:endParaRP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b="1" dirty="0">
                <a:solidFill>
                  <a:srgbClr val="FF0000"/>
                </a:solidFill>
              </a:rPr>
              <a:t>Traducción</a:t>
            </a:r>
            <a:r>
              <a:rPr lang="es-MX" dirty="0">
                <a:solidFill>
                  <a:schemeClr val="tx1"/>
                </a:solidFill>
              </a:rPr>
              <a:t> automática de texto</a:t>
            </a: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dirty="0">
                <a:solidFill>
                  <a:schemeClr val="tx1"/>
                </a:solidFill>
              </a:rPr>
              <a:t>Soporta múltiples idiomas</a:t>
            </a: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MX" dirty="0">
              <a:solidFill>
                <a:schemeClr val="tx1"/>
              </a:solidFill>
            </a:endParaRP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dirty="0">
                <a:solidFill>
                  <a:schemeClr val="tx1"/>
                </a:solidFill>
              </a:rPr>
              <a:t>Aplicación global que necesita traducir contenido.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48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198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dirty="0"/>
              <a:t>Amazon </a:t>
            </a:r>
            <a:r>
              <a:rPr lang="es-EC" sz="2800" dirty="0" err="1"/>
              <a:t>Polly</a:t>
            </a:r>
            <a:endParaRPr lang="es-EC"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2400" b="1" dirty="0">
                <a:solidFill>
                  <a:schemeClr val="tx1"/>
                </a:solidFill>
              </a:rPr>
              <a:t>Amazon </a:t>
            </a:r>
            <a:r>
              <a:rPr lang="es-MX" sz="2400" b="1" dirty="0" err="1">
                <a:solidFill>
                  <a:schemeClr val="tx1"/>
                </a:solidFill>
              </a:rPr>
              <a:t>Polly</a:t>
            </a:r>
            <a:endParaRPr lang="es-MX" sz="2400" b="1" dirty="0">
              <a:solidFill>
                <a:schemeClr val="tx1"/>
              </a:solidFill>
            </a:endParaRP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dirty="0">
                <a:solidFill>
                  <a:schemeClr val="tx1"/>
                </a:solidFill>
              </a:rPr>
              <a:t>Convierte </a:t>
            </a:r>
            <a:r>
              <a:rPr lang="es-MX" b="1" dirty="0">
                <a:solidFill>
                  <a:srgbClr val="FF0000"/>
                </a:solidFill>
              </a:rPr>
              <a:t>texto en voz</a:t>
            </a:r>
            <a:r>
              <a:rPr lang="es-MX" dirty="0">
                <a:solidFill>
                  <a:schemeClr val="tx1"/>
                </a:solidFill>
              </a:rPr>
              <a:t> realista</a:t>
            </a: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MX" dirty="0">
              <a:solidFill>
                <a:schemeClr val="tx1"/>
              </a:solidFill>
            </a:endParaRP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dirty="0">
                <a:solidFill>
                  <a:schemeClr val="tx1"/>
                </a:solidFill>
              </a:rPr>
              <a:t>Aplicación que necesita narración automática.</a:t>
            </a: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2F37E4-7373-48FC-9E66-E1ED33B89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050" y="1913312"/>
            <a:ext cx="2801390" cy="2801390"/>
          </a:xfrm>
          <a:prstGeom prst="rect">
            <a:avLst/>
          </a:prstGeom>
        </p:spPr>
      </p:pic>
      <p:sp>
        <p:nvSpPr>
          <p:cNvPr id="6" name="Flecha: curvada hacia arriba 5">
            <a:extLst>
              <a:ext uri="{FF2B5EF4-FFF2-40B4-BE49-F238E27FC236}">
                <a16:creationId xmlns:a16="http://schemas.microsoft.com/office/drawing/2014/main" id="{35273BF7-C0D7-428B-A39A-3B376C4559E3}"/>
              </a:ext>
            </a:extLst>
          </p:cNvPr>
          <p:cNvSpPr/>
          <p:nvPr/>
        </p:nvSpPr>
        <p:spPr>
          <a:xfrm rot="19450126" flipV="1">
            <a:off x="6501388" y="2793465"/>
            <a:ext cx="1055716" cy="571363"/>
          </a:xfrm>
          <a:prstGeom prst="curved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3F54C8-1FDA-415C-B593-B3D6FE92CA44}"/>
              </a:ext>
            </a:extLst>
          </p:cNvPr>
          <p:cNvSpPr txBox="1"/>
          <p:nvPr/>
        </p:nvSpPr>
        <p:spPr>
          <a:xfrm>
            <a:off x="5430694" y="2946439"/>
            <a:ext cx="1190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chemeClr val="accent6">
                    <a:lumMod val="75000"/>
                  </a:schemeClr>
                </a:solidFill>
              </a:rPr>
              <a:t>TEXTO A VOZ</a:t>
            </a:r>
            <a:endParaRPr lang="es-EC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5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0087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Transcribe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4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Transcribe</a:t>
            </a:r>
            <a:endParaRPr lang="es-ES" sz="24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>
                <a:solidFill>
                  <a:schemeClr val="tx1"/>
                </a:solidFill>
              </a:rPr>
              <a:t>Convierte </a:t>
            </a:r>
            <a:r>
              <a:rPr lang="es-EC" sz="2000" b="1" dirty="0">
                <a:solidFill>
                  <a:srgbClr val="FF0000"/>
                </a:solidFill>
              </a:rPr>
              <a:t>audio en texto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>
                <a:solidFill>
                  <a:schemeClr val="tx1"/>
                </a:solidFill>
              </a:rPr>
              <a:t>Genera transcripciones automáticas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Transcribir llamadas o reuniones.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0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9682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Lex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Lex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EC" sz="2000" dirty="0">
                <a:solidFill>
                  <a:schemeClr val="tx1"/>
                </a:solidFill>
              </a:rPr>
              <a:t>Permite crear </a:t>
            </a:r>
            <a:r>
              <a:rPr lang="es-EC" sz="2000" b="1" dirty="0" err="1">
                <a:solidFill>
                  <a:srgbClr val="FF0000"/>
                </a:solidFill>
              </a:rPr>
              <a:t>chatbots</a:t>
            </a:r>
            <a:endParaRPr lang="es-EC" sz="2000" b="1" dirty="0">
              <a:solidFill>
                <a:srgbClr val="FF0000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Basado en tecnología de </a:t>
            </a:r>
            <a:r>
              <a:rPr lang="es-MX" sz="2000" b="1" dirty="0">
                <a:solidFill>
                  <a:srgbClr val="FF0000"/>
                </a:solidFill>
              </a:rPr>
              <a:t>Alexa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b="1" dirty="0">
              <a:solidFill>
                <a:srgbClr val="FF0000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Crear un </a:t>
            </a:r>
            <a:r>
              <a:rPr lang="es-MX" sz="2000" dirty="0" err="1">
                <a:solidFill>
                  <a:schemeClr val="tx1"/>
                </a:solidFill>
              </a:rPr>
              <a:t>bot</a:t>
            </a:r>
            <a:r>
              <a:rPr lang="es-MX" sz="2000" dirty="0">
                <a:solidFill>
                  <a:schemeClr val="tx1"/>
                </a:solidFill>
              </a:rPr>
              <a:t> de atención al cliente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43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1352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</a:t>
            </a:r>
            <a:r>
              <a:rPr lang="es-EC" sz="2800" b="1" dirty="0" err="1"/>
              <a:t>SageMaker</a:t>
            </a: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s-MX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Construir, entrenar y desplegar modelos propios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b="1" dirty="0">
              <a:solidFill>
                <a:srgbClr val="FF0000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400" dirty="0"/>
              <a:t>Crear y entrenar un modelo personalizado con tus propios datos</a:t>
            </a:r>
            <a:endParaRPr lang="es-MX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57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16413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</a:t>
            </a:r>
            <a:r>
              <a:rPr lang="es-EC" sz="2800" b="1" dirty="0" err="1"/>
              <a:t>Personalize</a:t>
            </a:r>
            <a:endParaRPr lang="es-EC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s-MX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Personalize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Generar recomendaciones personalizadas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La misma tecnología de recomendación utilizada en Amazon.com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b="1" dirty="0">
              <a:solidFill>
                <a:srgbClr val="FF0000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Generar recomendaciones personalizadas basadas en el comportamiento del usuario</a:t>
            </a: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547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72395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</a:t>
            </a:r>
            <a:r>
              <a:rPr lang="es-EC" sz="2800" b="1" dirty="0" err="1"/>
              <a:t>Forecast</a:t>
            </a:r>
            <a:endParaRPr lang="es-EC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s-MX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b="1" dirty="0">
                <a:solidFill>
                  <a:srgbClr val="FF0000"/>
                </a:solidFill>
              </a:rPr>
              <a:t>Predice</a:t>
            </a:r>
            <a:r>
              <a:rPr lang="es-MX" sz="2000" dirty="0">
                <a:solidFill>
                  <a:schemeClr val="tx1"/>
                </a:solidFill>
              </a:rPr>
              <a:t> valores futuros basándose en datos históricos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b="1" dirty="0">
              <a:solidFill>
                <a:srgbClr val="FF0000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Predecir ventas o demanda futura utilizando datos históricos.</a:t>
            </a:r>
          </a:p>
        </p:txBody>
      </p:sp>
    </p:spTree>
    <p:extLst>
      <p:ext uri="{BB962C8B-B14F-4D97-AF65-F5344CB8AC3E}">
        <p14:creationId xmlns:p14="http://schemas.microsoft.com/office/powerpoint/2010/main" val="222507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66188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</a:t>
            </a:r>
            <a:r>
              <a:rPr lang="es-EC" sz="2800" b="1" dirty="0" err="1"/>
              <a:t>Textract</a:t>
            </a:r>
            <a:endParaRPr lang="es-EC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s-MX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Textract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Servicio de Machine </a:t>
            </a:r>
            <a:r>
              <a:rPr lang="es-MX" sz="2000" dirty="0" err="1">
                <a:solidFill>
                  <a:schemeClr val="tx1"/>
                </a:solidFill>
              </a:rPr>
              <a:t>Learning</a:t>
            </a:r>
            <a:r>
              <a:rPr lang="es-MX" sz="2000" dirty="0">
                <a:solidFill>
                  <a:schemeClr val="tx1"/>
                </a:solidFill>
              </a:rPr>
              <a:t> que </a:t>
            </a:r>
            <a:r>
              <a:rPr lang="es-MX" sz="2000" b="1" dirty="0">
                <a:solidFill>
                  <a:srgbClr val="FF0000"/>
                </a:solidFill>
              </a:rPr>
              <a:t>extrae texto y datos estructurados de documentos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Funciona con: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 err="1">
                <a:solidFill>
                  <a:schemeClr val="tx1"/>
                </a:solidFill>
              </a:rPr>
              <a:t>PDFs</a:t>
            </a:r>
            <a:endParaRPr lang="es-MX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Formularios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Facturas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Documentos escaneados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EC" sz="2000" b="1" dirty="0">
              <a:solidFill>
                <a:srgbClr val="FF0000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🎯 Caso típico: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>
                <a:solidFill>
                  <a:schemeClr val="tx1"/>
                </a:solidFill>
              </a:rPr>
              <a:t>Extraer datos de facturas o formularios en PDF.</a:t>
            </a:r>
          </a:p>
        </p:txBody>
      </p:sp>
    </p:spTree>
    <p:extLst>
      <p:ext uri="{BB962C8B-B14F-4D97-AF65-F5344CB8AC3E}">
        <p14:creationId xmlns:p14="http://schemas.microsoft.com/office/powerpoint/2010/main" val="39195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66188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</a:t>
            </a:r>
            <a:r>
              <a:rPr lang="es-EC" sz="2800" b="1" dirty="0" err="1"/>
              <a:t>Textract</a:t>
            </a:r>
            <a:endParaRPr lang="es-EC" sz="2800" b="1" dirty="0"/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10016834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1️⃣ Amazon </a:t>
            </a:r>
            <a:r>
              <a:rPr lang="es-MX" sz="2000" b="1" dirty="0" err="1">
                <a:solidFill>
                  <a:schemeClr val="tx1"/>
                </a:solidFill>
              </a:rPr>
              <a:t>Rekognition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Imagen / biometría / moderación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2️⃣ Amazon </a:t>
            </a:r>
            <a:r>
              <a:rPr lang="es-MX" sz="2000" b="1" dirty="0" err="1">
                <a:solidFill>
                  <a:schemeClr val="tx1"/>
                </a:solidFill>
              </a:rPr>
              <a:t>Comprehend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Análisis de texto (sentimiento, 	entidades)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3️⃣ Amazon </a:t>
            </a:r>
            <a:r>
              <a:rPr lang="es-MX" sz="2000" b="1" dirty="0" err="1">
                <a:solidFill>
                  <a:schemeClr val="tx1"/>
                </a:solidFill>
              </a:rPr>
              <a:t>Textract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Extraer texto y datos de PDF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4️⃣ Amazon </a:t>
            </a:r>
            <a:r>
              <a:rPr lang="es-MX" sz="2000" b="1" dirty="0" err="1">
                <a:solidFill>
                  <a:schemeClr val="tx1"/>
                </a:solidFill>
              </a:rPr>
              <a:t>Personalize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Recomendaciones personalizadas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5️⃣ Amazon </a:t>
            </a:r>
            <a:r>
              <a:rPr lang="es-MX" sz="2000" b="1" dirty="0" err="1">
                <a:solidFill>
                  <a:schemeClr val="tx1"/>
                </a:solidFill>
              </a:rPr>
              <a:t>Forecast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Pronóstico / predicción de demanda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6️⃣ Amazon </a:t>
            </a:r>
            <a:r>
              <a:rPr lang="es-MX" sz="2000" b="1" dirty="0">
                <a:solidFill>
                  <a:schemeClr val="tx1"/>
                </a:solidFill>
              </a:rPr>
              <a:t>Lex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</a:t>
            </a:r>
            <a:r>
              <a:rPr lang="es-MX" sz="2000" dirty="0" err="1">
                <a:solidFill>
                  <a:schemeClr val="tx1"/>
                </a:solidFill>
              </a:rPr>
              <a:t>Chatbots</a:t>
            </a:r>
            <a:r>
              <a:rPr lang="es-MX" sz="2000" dirty="0">
                <a:solidFill>
                  <a:schemeClr val="tx1"/>
                </a:solidFill>
              </a:rPr>
              <a:t> (tecnología tipo Alexa)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7️⃣ Amazon </a:t>
            </a:r>
            <a:r>
              <a:rPr lang="es-MX" sz="2000" b="1" dirty="0" err="1">
                <a:solidFill>
                  <a:schemeClr val="tx1"/>
                </a:solidFill>
              </a:rPr>
              <a:t>Polly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Texto → Voz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8️⃣ Amazon </a:t>
            </a:r>
            <a:r>
              <a:rPr lang="es-MX" sz="2000" b="1" dirty="0">
                <a:solidFill>
                  <a:schemeClr val="tx1"/>
                </a:solidFill>
              </a:rPr>
              <a:t>Transcribe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Voz → Texto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9️⃣ Amazon </a:t>
            </a:r>
            <a:r>
              <a:rPr lang="es-MX" sz="2000" b="1" dirty="0" err="1">
                <a:solidFill>
                  <a:schemeClr val="tx1"/>
                </a:solidFill>
              </a:rPr>
              <a:t>Translate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Traducción automática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🔟 Amazon </a:t>
            </a:r>
            <a:r>
              <a:rPr lang="es-MX" sz="2000" b="1" dirty="0" err="1">
                <a:solidFill>
                  <a:schemeClr val="tx1"/>
                </a:solidFill>
              </a:rPr>
              <a:t>SageMaker</a:t>
            </a:r>
            <a:endParaRPr lang="es-MX" sz="2000" b="1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Entrenar y desplegar modelos 	personalizados</a:t>
            </a:r>
          </a:p>
        </p:txBody>
      </p:sp>
    </p:spTree>
    <p:extLst>
      <p:ext uri="{BB962C8B-B14F-4D97-AF65-F5344CB8AC3E}">
        <p14:creationId xmlns:p14="http://schemas.microsoft.com/office/powerpoint/2010/main" val="218956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53920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Ejemplos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10016834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Una empresa graba el audio de sus reuniones internas en español.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Necesita: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tx1"/>
                </a:solidFill>
              </a:rPr>
              <a:t>Transcribir automáticamente el audio al texto en español.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tx1"/>
                </a:solidFill>
              </a:rPr>
              <a:t>Traducir ese texto al inglés.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tx1"/>
                </a:solidFill>
              </a:rPr>
              <a:t>Guardar ambos textos en documentos separados para archivo y consulta futura.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MX" sz="2000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Qué servicios usaría?</a:t>
            </a:r>
          </a:p>
        </p:txBody>
      </p:sp>
    </p:spTree>
    <p:extLst>
      <p:ext uri="{BB962C8B-B14F-4D97-AF65-F5344CB8AC3E}">
        <p14:creationId xmlns:p14="http://schemas.microsoft.com/office/powerpoint/2010/main" val="3727894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53920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Ejemplos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10016834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Respuesta: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Transcribir -&gt; Transcribe (audio a texto)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Traducir a inglés -&gt; </a:t>
            </a:r>
            <a:r>
              <a:rPr lang="es-MX" sz="2000" dirty="0" err="1">
                <a:solidFill>
                  <a:schemeClr val="tx1"/>
                </a:solidFill>
              </a:rPr>
              <a:t>Translate</a:t>
            </a:r>
            <a:endParaRPr lang="es-MX" sz="2000" dirty="0">
              <a:solidFill>
                <a:schemeClr val="tx1"/>
              </a:solidFill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Guardar -&gt; S3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91238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53920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Ejemplos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10016834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Una empresa de </a:t>
            </a:r>
            <a:r>
              <a:rPr lang="es-MX" sz="2000" dirty="0" err="1">
                <a:solidFill>
                  <a:schemeClr val="tx1"/>
                </a:solidFill>
              </a:rPr>
              <a:t>retail</a:t>
            </a:r>
            <a:r>
              <a:rPr lang="es-MX" sz="2000" dirty="0">
                <a:solidFill>
                  <a:schemeClr val="tx1"/>
                </a:solidFill>
              </a:rPr>
              <a:t> quiere implementar un asistente virtual interno, similar a Alexa, para que sus empleados puedan: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Consultar información usando la voz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Preguntar por inventario o ventas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Recibir respuestas habladas automáticamente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El asistente debe: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Escuchar lo que el empleado dice.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Entender qué quiere.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Generar una respuesta en base a la información de la empresa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Responder usando una voz natural.</a:t>
            </a:r>
          </a:p>
        </p:txBody>
      </p:sp>
    </p:spTree>
    <p:extLst>
      <p:ext uri="{BB962C8B-B14F-4D97-AF65-F5344CB8AC3E}">
        <p14:creationId xmlns:p14="http://schemas.microsoft.com/office/powerpoint/2010/main" val="1339099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53920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Ejemplos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s-EC" sz="2800" b="1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10016834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Respuesta: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Transcribir -&gt; Transcribe (voz a texto)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Lex-&gt; Detectar la intención, mantener el flujo de la conversación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</a:t>
            </a:r>
            <a:r>
              <a:rPr lang="es-MX" sz="2000" dirty="0" err="1">
                <a:solidFill>
                  <a:schemeClr val="tx1"/>
                </a:solidFill>
              </a:rPr>
              <a:t>SageMaker</a:t>
            </a:r>
            <a:r>
              <a:rPr lang="es-MX" sz="2000" dirty="0">
                <a:solidFill>
                  <a:schemeClr val="tx1"/>
                </a:solidFill>
              </a:rPr>
              <a:t> -&gt; Entrenar el modelo para que use la información de la empresa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solidFill>
                  <a:schemeClr val="tx1"/>
                </a:solidFill>
              </a:rPr>
              <a:t>	</a:t>
            </a:r>
            <a:r>
              <a:rPr lang="es-MX" sz="2000" dirty="0" err="1">
                <a:solidFill>
                  <a:schemeClr val="tx1"/>
                </a:solidFill>
              </a:rPr>
              <a:t>Polly</a:t>
            </a:r>
            <a:r>
              <a:rPr lang="es-MX" sz="2000" dirty="0">
                <a:solidFill>
                  <a:schemeClr val="tx1"/>
                </a:solidFill>
              </a:rPr>
              <a:t> -&gt; Convertir la respuesta textual en voz</a:t>
            </a:r>
          </a:p>
        </p:txBody>
      </p:sp>
    </p:spTree>
    <p:extLst>
      <p:ext uri="{BB962C8B-B14F-4D97-AF65-F5344CB8AC3E}">
        <p14:creationId xmlns:p14="http://schemas.microsoft.com/office/powerpoint/2010/main" val="2750516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621</Words>
  <Application>Microsoft Office PowerPoint</Application>
  <PresentationFormat>Panorámica</PresentationFormat>
  <Paragraphs>155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Symbol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Santiago Mosquera</dc:creator>
  <cp:keywords/>
  <dc:description>generated using python-pptx</dc:description>
  <cp:lastModifiedBy>SANTIAGO FERNANDO MOSQUERA VIZUETE</cp:lastModifiedBy>
  <cp:revision>32</cp:revision>
  <dcterms:created xsi:type="dcterms:W3CDTF">2013-01-27T09:14:16Z</dcterms:created>
  <dcterms:modified xsi:type="dcterms:W3CDTF">2026-02-24T12:19:26Z</dcterms:modified>
  <cp:category/>
</cp:coreProperties>
</file>