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3" r:id="rId4"/>
    <p:sldId id="264" r:id="rId5"/>
    <p:sldId id="265" r:id="rId6"/>
    <p:sldId id="266" r:id="rId7"/>
    <p:sldId id="267" r:id="rId8"/>
    <p:sldId id="274" r:id="rId9"/>
    <p:sldId id="269" r:id="rId10"/>
    <p:sldId id="275" r:id="rId11"/>
    <p:sldId id="27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86" y="485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FB616E94-8F03-4901-AED5-F9C5478E9B8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3BC3F5E-E529-4FD6-A552-A0D38F4D736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0B7454-EB78-4D8D-B4BE-94CCFAF562D2}" type="datetimeFigureOut">
              <a:rPr lang="es-EC" smtClean="0"/>
              <a:t>12/2/2026</a:t>
            </a:fld>
            <a:endParaRPr lang="es-EC"/>
          </a:p>
        </p:txBody>
      </p:sp>
      <p:sp>
        <p:nvSpPr>
          <p:cNvPr id="4" name="Marcador de imagen de diapositiva 3">
            <a:extLst>
              <a:ext uri="{FF2B5EF4-FFF2-40B4-BE49-F238E27FC236}">
                <a16:creationId xmlns:a16="http://schemas.microsoft.com/office/drawing/2014/main" id="{1319C993-5E91-4204-9D3E-01A7113F70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C"/>
          </a:p>
        </p:txBody>
      </p:sp>
      <p:sp>
        <p:nvSpPr>
          <p:cNvPr id="5" name="Marcador de notas 4">
            <a:extLst>
              <a:ext uri="{FF2B5EF4-FFF2-40B4-BE49-F238E27FC236}">
                <a16:creationId xmlns:a16="http://schemas.microsoft.com/office/drawing/2014/main" id="{9207AF77-F2A5-4AF3-9DC5-CC668DE9BE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60E19DF-0686-4047-AF73-73A6526E8CD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D1532DC-025F-45BB-92D1-C7D2A9096A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8CE557-399E-4C70-A907-A6F3F7232CCD}" type="slidenum">
              <a:rPr lang="es-EC" smtClean="0"/>
              <a:t>‹Nº›</a:t>
            </a:fld>
            <a:endParaRPr lang="es-EC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A094EC-269E-4587-886E-0DDE6EE1B43C}" type="slidenum">
              <a:rPr lang="es-EC" smtClean="0"/>
              <a:t>7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0468231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0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5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5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3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3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189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457189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defTabSz="457189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457189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457189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457189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" y="0"/>
            <a:ext cx="121615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2000" cy="6400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17903" y="2153918"/>
            <a:ext cx="4931157" cy="17235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232F3E"/>
                </a:solidFill>
              </a:defRPr>
            </a:pPr>
            <a:r>
              <a:rPr sz="3800" dirty="0"/>
              <a:t>AWS Cloud Practitioner</a:t>
            </a:r>
          </a:p>
          <a:p>
            <a:pPr algn="ctr">
              <a:defRPr sz="2000"/>
            </a:pPr>
            <a:r>
              <a:rPr sz="2000" dirty="0" err="1"/>
              <a:t>Curso</a:t>
            </a:r>
            <a:r>
              <a:rPr sz="2000" dirty="0"/>
              <a:t> de </a:t>
            </a:r>
            <a:r>
              <a:rPr sz="2000" dirty="0" err="1"/>
              <a:t>preparación</a:t>
            </a:r>
            <a:r>
              <a:rPr sz="2000" dirty="0"/>
              <a:t> para la </a:t>
            </a:r>
            <a:r>
              <a:rPr sz="2000" dirty="0" err="1"/>
              <a:t>certificación</a:t>
            </a:r>
            <a:endParaRPr lang="es-MX" sz="2000" dirty="0"/>
          </a:p>
          <a:p>
            <a:pPr algn="ctr">
              <a:defRPr sz="2000"/>
            </a:pPr>
            <a:endParaRPr lang="es-EC" sz="2000" dirty="0"/>
          </a:p>
          <a:p>
            <a:pPr algn="ctr">
              <a:defRPr sz="2000"/>
            </a:pPr>
            <a:r>
              <a:rPr lang="es-EC" sz="2800" b="1" dirty="0"/>
              <a:t>Fundamentos de AWS IAM</a:t>
            </a:r>
            <a:endParaRPr sz="2800" b="1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9390A98-93D6-4100-A6D0-F72B7FA1E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4603" y="3896543"/>
            <a:ext cx="1361745" cy="45391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E7327FF-430C-43C4-B915-654257255A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6041" y="3355982"/>
            <a:ext cx="1276635" cy="127663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A012C6B4-2AFD-4F0C-9C18-47059E8220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662" y="1325603"/>
            <a:ext cx="3874289" cy="3874289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08769C84-3974-43B6-89AB-83B56D0E3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0743" y="4917106"/>
            <a:ext cx="1257851" cy="1257851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95DF995A-3221-4174-A109-609658505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5839" y="5100191"/>
            <a:ext cx="2286000" cy="76200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40528361-CFAD-4C53-B1AB-B98CC85CAB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5707" y="5156886"/>
            <a:ext cx="1298847" cy="77829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213391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EC" dirty="0"/>
              <a:t>Usuario </a:t>
            </a:r>
            <a:r>
              <a:rPr lang="es-EC" b="1" dirty="0" err="1"/>
              <a:t>Root</a:t>
            </a:r>
            <a:endParaRPr sz="2800" dirty="0"/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980904" y="1645920"/>
            <a:ext cx="9692639" cy="4114800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Arial" panose="020B0604020202020204" pitchFamily="34" charset="0"/>
              <a:buChar char="•"/>
              <a:defRPr sz="1600">
                <a:solidFill>
                  <a:srgbClr val="232F3E"/>
                </a:solidFill>
              </a:defRPr>
            </a:pPr>
            <a:r>
              <a:rPr lang="es-MX" sz="2133" dirty="0"/>
              <a:t>Es el usuario propietario de la cuenta AWS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 sz="1600">
                <a:solidFill>
                  <a:srgbClr val="232F3E"/>
                </a:solidFill>
              </a:defRPr>
            </a:pPr>
            <a:endParaRPr lang="es-MX" sz="2133" dirty="0"/>
          </a:p>
          <a:p>
            <a:pPr marL="800100" lvl="1" indent="-342900">
              <a:buFont typeface="Arial" panose="020B0604020202020204" pitchFamily="34" charset="0"/>
              <a:buChar char="•"/>
              <a:defRPr sz="1600">
                <a:solidFill>
                  <a:srgbClr val="232F3E"/>
                </a:solidFill>
              </a:defRPr>
            </a:pPr>
            <a:r>
              <a:rPr lang="es-MX" sz="2133" dirty="0"/>
              <a:t>Se crea automáticamente al crear la cuenta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 sz="1600">
                <a:solidFill>
                  <a:srgbClr val="232F3E"/>
                </a:solidFill>
              </a:defRPr>
            </a:pPr>
            <a:endParaRPr lang="es-MX" sz="2133" dirty="0"/>
          </a:p>
          <a:p>
            <a:pPr marL="800100" lvl="1" indent="-342900">
              <a:buFont typeface="Arial" panose="020B0604020202020204" pitchFamily="34" charset="0"/>
              <a:buChar char="•"/>
              <a:defRPr sz="1600">
                <a:solidFill>
                  <a:srgbClr val="232F3E"/>
                </a:solidFill>
              </a:defRPr>
            </a:pPr>
            <a:r>
              <a:rPr lang="es-MX" sz="2133" dirty="0"/>
              <a:t>Tiene acceso total a TODO</a:t>
            </a: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133" dirty="0"/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133" dirty="0"/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133" i="1" dirty="0">
                <a:solidFill>
                  <a:srgbClr val="0070C0"/>
                </a:solidFill>
              </a:rPr>
              <a:t>Cada cuenta tiene un ID y un único usuario </a:t>
            </a:r>
            <a:r>
              <a:rPr lang="es-MX" sz="2133" i="1" dirty="0" err="1">
                <a:solidFill>
                  <a:srgbClr val="0070C0"/>
                </a:solidFill>
              </a:rPr>
              <a:t>root</a:t>
            </a:r>
            <a:endParaRPr lang="es-EC" sz="2133" i="1" dirty="0">
              <a:solidFill>
                <a:srgbClr val="0070C0"/>
              </a:solidFill>
            </a:endParaRPr>
          </a:p>
          <a:p>
            <a:pPr lvl="1">
              <a:defRPr sz="1600">
                <a:solidFill>
                  <a:srgbClr val="232F3E"/>
                </a:solidFill>
              </a:defRPr>
            </a:pPr>
            <a:endParaRPr sz="213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571182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MX" sz="2800" dirty="0"/>
              <a:t>Buenas Prácticas para el usuario </a:t>
            </a:r>
            <a:r>
              <a:rPr lang="es-MX" sz="2800" dirty="0" err="1"/>
              <a:t>root</a:t>
            </a:r>
            <a:endParaRPr sz="2800" dirty="0"/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980904" y="1645920"/>
            <a:ext cx="9692639" cy="4114800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42932" lvl="1" indent="-285744">
              <a:buFont typeface="Arial" panose="020B0604020202020204" pitchFamily="34" charset="0"/>
              <a:buChar char="•"/>
              <a:defRPr sz="1600">
                <a:solidFill>
                  <a:srgbClr val="232F3E"/>
                </a:solidFill>
              </a:defRPr>
            </a:pPr>
            <a:r>
              <a:rPr lang="es-MX" sz="2000" dirty="0"/>
              <a:t>❌ NO usar el </a:t>
            </a:r>
            <a:r>
              <a:rPr lang="es-MX" sz="2000" dirty="0" err="1"/>
              <a:t>root</a:t>
            </a:r>
            <a:r>
              <a:rPr lang="es-MX" sz="2000" dirty="0"/>
              <a:t> para trabajar</a:t>
            </a:r>
          </a:p>
          <a:p>
            <a:pPr marL="742932" lvl="1" indent="-285744">
              <a:buFont typeface="Arial" panose="020B0604020202020204" pitchFamily="34" charset="0"/>
              <a:buChar char="•"/>
              <a:defRPr sz="1600">
                <a:solidFill>
                  <a:srgbClr val="232F3E"/>
                </a:solidFill>
              </a:defRPr>
            </a:pPr>
            <a:r>
              <a:rPr lang="es-MX" sz="2000" dirty="0"/>
              <a:t>❌ NO compartir el </a:t>
            </a:r>
            <a:r>
              <a:rPr lang="es-MX" sz="2000" dirty="0" err="1"/>
              <a:t>root</a:t>
            </a:r>
            <a:endParaRPr lang="es-MX" sz="2000" dirty="0"/>
          </a:p>
          <a:p>
            <a:pPr marL="742932" lvl="1" indent="-285744">
              <a:buFont typeface="Arial" panose="020B0604020202020204" pitchFamily="34" charset="0"/>
              <a:buChar char="•"/>
              <a:defRPr sz="1600">
                <a:solidFill>
                  <a:srgbClr val="232F3E"/>
                </a:solidFill>
              </a:defRPr>
            </a:pPr>
            <a:endParaRPr lang="es-MX" sz="2000" dirty="0"/>
          </a:p>
          <a:p>
            <a:pPr marL="742932" lvl="1" indent="-285744">
              <a:buFont typeface="Arial" panose="020B0604020202020204" pitchFamily="34" charset="0"/>
              <a:buChar char="•"/>
              <a:defRPr sz="1600">
                <a:solidFill>
                  <a:srgbClr val="232F3E"/>
                </a:solidFill>
              </a:defRPr>
            </a:pPr>
            <a:r>
              <a:rPr lang="es-MX" sz="2000" dirty="0"/>
              <a:t>✅ Usarlo solo para:</a:t>
            </a:r>
          </a:p>
          <a:p>
            <a:pPr marL="1200132" lvl="2" indent="-285744">
              <a:buFont typeface="Arial" panose="020B0604020202020204" pitchFamily="34" charset="0"/>
              <a:buChar char="•"/>
              <a:defRPr sz="1600">
                <a:solidFill>
                  <a:srgbClr val="232F3E"/>
                </a:solidFill>
              </a:defRPr>
            </a:pPr>
            <a:r>
              <a:rPr lang="es-MX" sz="2000" dirty="0" err="1"/>
              <a:t>Billing</a:t>
            </a:r>
            <a:endParaRPr lang="es-MX" sz="2000" dirty="0"/>
          </a:p>
          <a:p>
            <a:pPr marL="1200132" lvl="2" indent="-285744">
              <a:buFont typeface="Arial" panose="020B0604020202020204" pitchFamily="34" charset="0"/>
              <a:buChar char="•"/>
              <a:defRPr sz="1600">
                <a:solidFill>
                  <a:srgbClr val="232F3E"/>
                </a:solidFill>
              </a:defRPr>
            </a:pPr>
            <a:r>
              <a:rPr lang="es-MX" sz="2000" dirty="0"/>
              <a:t>Seguridad inicial</a:t>
            </a:r>
          </a:p>
          <a:p>
            <a:pPr marL="1200132" lvl="2" indent="-285744">
              <a:buFont typeface="Arial" panose="020B0604020202020204" pitchFamily="34" charset="0"/>
              <a:buChar char="•"/>
              <a:defRPr sz="1600">
                <a:solidFill>
                  <a:srgbClr val="232F3E"/>
                </a:solidFill>
              </a:defRPr>
            </a:pPr>
            <a:r>
              <a:rPr lang="es-MX" sz="2000" dirty="0"/>
              <a:t>Emergencias</a:t>
            </a:r>
          </a:p>
          <a:p>
            <a:pPr marL="742932" lvl="1" indent="-285744">
              <a:buFont typeface="Arial" panose="020B0604020202020204" pitchFamily="34" charset="0"/>
              <a:buChar char="•"/>
              <a:defRPr sz="1600">
                <a:solidFill>
                  <a:srgbClr val="232F3E"/>
                </a:solidFill>
              </a:defRPr>
            </a:pPr>
            <a:endParaRPr lang="es-MX" sz="2000" dirty="0"/>
          </a:p>
          <a:p>
            <a:pPr marL="742932" lvl="1" indent="-285744">
              <a:buFont typeface="Arial" panose="020B0604020202020204" pitchFamily="34" charset="0"/>
              <a:buChar char="•"/>
              <a:defRPr sz="1600">
                <a:solidFill>
                  <a:srgbClr val="232F3E"/>
                </a:solidFill>
              </a:defRPr>
            </a:pPr>
            <a:r>
              <a:rPr lang="es-MX" sz="2000" dirty="0"/>
              <a:t>✅ MFA obligatorio</a:t>
            </a: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4107637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533434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MX" sz="2800" dirty="0"/>
              <a:t>MFA – Multi Factor </a:t>
            </a:r>
            <a:r>
              <a:rPr lang="es-MX" sz="2800" dirty="0" err="1"/>
              <a:t>Authentication</a:t>
            </a:r>
            <a:endParaRPr sz="2800" dirty="0"/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980904" y="1645923"/>
            <a:ext cx="9692639" cy="4680065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EC" sz="2000" dirty="0"/>
              <a:t>📱 App autenticadora</a:t>
            </a:r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EC" sz="2000" dirty="0"/>
              <a:t>	Google </a:t>
            </a:r>
            <a:r>
              <a:rPr lang="es-EC" sz="2000" dirty="0" err="1"/>
              <a:t>Authenticator</a:t>
            </a:r>
            <a:endParaRPr lang="es-EC" sz="2000" dirty="0"/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EC" sz="2000" dirty="0"/>
              <a:t>	</a:t>
            </a:r>
            <a:r>
              <a:rPr lang="es-EC" sz="2000" dirty="0" err="1"/>
              <a:t>Authy</a:t>
            </a:r>
            <a:endParaRPr lang="es-EC" sz="2000" dirty="0"/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EC" sz="2000" dirty="0"/>
              <a:t>	Microsoft </a:t>
            </a:r>
            <a:r>
              <a:rPr lang="es-EC" sz="2000" dirty="0" err="1"/>
              <a:t>Authenticator</a:t>
            </a:r>
            <a:endParaRPr lang="es-EC" sz="2000" dirty="0"/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EC" sz="2000" dirty="0"/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EC" sz="2000" dirty="0"/>
              <a:t>🔑 Llaves físicas </a:t>
            </a: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EC" sz="2000" dirty="0"/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EC" sz="2000" dirty="0"/>
              <a:t>📲 Dispositivos virtuales</a:t>
            </a: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EC" sz="2000" dirty="0"/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EC" sz="2000" dirty="0"/>
              <a:t>🔹 Obligatorio en el usuario </a:t>
            </a:r>
            <a:r>
              <a:rPr lang="es-EC" sz="2000" dirty="0" err="1"/>
              <a:t>Root</a:t>
            </a:r>
            <a:endParaRPr lang="es-EC" sz="2000" dirty="0"/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EC" sz="2000" dirty="0"/>
              <a:t>🔹 Recomendado en Usuarios administradores</a:t>
            </a: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1215782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219322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EC" dirty="0"/>
              <a:t>Usuarios </a:t>
            </a:r>
            <a:r>
              <a:rPr lang="es-EC" b="1" dirty="0"/>
              <a:t>IAM</a:t>
            </a:r>
            <a:endParaRPr sz="2800" dirty="0"/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980904" y="1645923"/>
            <a:ext cx="9692639" cy="4680065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000" b="1" dirty="0"/>
              <a:t>Representa una persona o aplicación</a:t>
            </a: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000" b="1" dirty="0"/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000" b="1" dirty="0"/>
              <a:t>Tiene:</a:t>
            </a:r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000" b="1" dirty="0"/>
              <a:t>	usuario</a:t>
            </a:r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000" b="1" dirty="0"/>
              <a:t>	contraseña (consola)</a:t>
            </a: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000" b="1" dirty="0"/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000" b="1" dirty="0"/>
              <a:t>		o </a:t>
            </a:r>
            <a:r>
              <a:rPr lang="es-MX" sz="2000" b="1" dirty="0" err="1"/>
              <a:t>access</a:t>
            </a:r>
            <a:r>
              <a:rPr lang="es-MX" sz="2000" b="1" dirty="0"/>
              <a:t> </a:t>
            </a:r>
            <a:r>
              <a:rPr lang="es-MX" sz="2000" b="1" dirty="0" err="1"/>
              <a:t>keys</a:t>
            </a:r>
            <a:r>
              <a:rPr lang="es-MX" sz="2000" b="1" dirty="0"/>
              <a:t> (programático)</a:t>
            </a: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000" b="1" dirty="0"/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000" b="1" dirty="0"/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000" b="1" dirty="0"/>
              <a:t>🔴 Un usuario IAM NO tiene permisos por defecto</a:t>
            </a: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3828480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522450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EC" dirty="0"/>
              <a:t>Políticas </a:t>
            </a:r>
            <a:r>
              <a:rPr lang="es-EC" b="1" dirty="0"/>
              <a:t>IAM – </a:t>
            </a:r>
            <a:r>
              <a:rPr lang="es-EC" b="1" dirty="0" err="1"/>
              <a:t>Permissions</a:t>
            </a:r>
            <a:r>
              <a:rPr lang="es-EC" b="1" dirty="0"/>
              <a:t> </a:t>
            </a:r>
            <a:r>
              <a:rPr lang="es-EC" b="1" dirty="0" err="1"/>
              <a:t>Policy</a:t>
            </a:r>
            <a:endParaRPr sz="2800" dirty="0"/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980904" y="1645923"/>
            <a:ext cx="9692639" cy="4680065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000" dirty="0"/>
              <a:t>Es un documento (JSON) que define:</a:t>
            </a:r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000" dirty="0"/>
              <a:t>	qué acciones están permitidas o denegadas</a:t>
            </a: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000" dirty="0"/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000" dirty="0"/>
              <a:t>Estructura, campos obligatorios</a:t>
            </a:r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000" dirty="0" err="1"/>
              <a:t>Effect</a:t>
            </a:r>
            <a:r>
              <a:rPr lang="es-MX" sz="2000" dirty="0"/>
              <a:t> → </a:t>
            </a:r>
            <a:r>
              <a:rPr lang="es-MX" sz="2000" dirty="0" err="1"/>
              <a:t>Allow</a:t>
            </a:r>
            <a:r>
              <a:rPr lang="es-MX" sz="2000" dirty="0"/>
              <a:t> / </a:t>
            </a:r>
            <a:r>
              <a:rPr lang="es-MX" sz="2000" dirty="0" err="1"/>
              <a:t>Deny</a:t>
            </a:r>
            <a:endParaRPr lang="es-MX" sz="2000" dirty="0"/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000" dirty="0" err="1"/>
              <a:t>Action</a:t>
            </a:r>
            <a:r>
              <a:rPr lang="es-MX" sz="2000" dirty="0"/>
              <a:t> → qué puede hacer</a:t>
            </a:r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000" dirty="0" err="1"/>
              <a:t>Resource</a:t>
            </a:r>
            <a:r>
              <a:rPr lang="es-MX" sz="2000" dirty="0"/>
              <a:t> → sobre qué recurso</a:t>
            </a: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000" dirty="0"/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000" dirty="0"/>
              <a:t>🔹 Tipos de políticas</a:t>
            </a: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000" dirty="0"/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000" dirty="0"/>
              <a:t>	AWS </a:t>
            </a:r>
            <a:r>
              <a:rPr lang="es-MX" sz="2000" dirty="0" err="1"/>
              <a:t>Managed</a:t>
            </a:r>
            <a:r>
              <a:rPr lang="es-MX" sz="2000" dirty="0"/>
              <a:t> </a:t>
            </a:r>
            <a:r>
              <a:rPr lang="es-MX" sz="2000" dirty="0" err="1"/>
              <a:t>Policies</a:t>
            </a:r>
            <a:endParaRPr lang="es-MX" sz="2000" dirty="0"/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000" dirty="0"/>
              <a:t>	</a:t>
            </a:r>
            <a:r>
              <a:rPr lang="es-MX" sz="2000" dirty="0" err="1"/>
              <a:t>Customer</a:t>
            </a:r>
            <a:r>
              <a:rPr lang="es-MX" sz="2000" dirty="0"/>
              <a:t> </a:t>
            </a:r>
            <a:r>
              <a:rPr lang="es-MX" sz="2000" dirty="0" err="1"/>
              <a:t>Managed</a:t>
            </a:r>
            <a:r>
              <a:rPr lang="es-MX" sz="2000" dirty="0"/>
              <a:t> </a:t>
            </a:r>
            <a:r>
              <a:rPr lang="es-MX" sz="2000" dirty="0" err="1"/>
              <a:t>Policies</a:t>
            </a:r>
            <a:endParaRPr lang="es-MX" sz="2000" dirty="0"/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000" dirty="0"/>
              <a:t>	</a:t>
            </a:r>
            <a:r>
              <a:rPr lang="es-MX" sz="2000" dirty="0" err="1"/>
              <a:t>Inline</a:t>
            </a:r>
            <a:r>
              <a:rPr lang="es-MX" sz="2000" dirty="0"/>
              <a:t> </a:t>
            </a:r>
            <a:r>
              <a:rPr lang="es-MX" sz="2000" dirty="0" err="1"/>
              <a:t>policies</a:t>
            </a:r>
            <a:endParaRPr lang="es-MX" sz="2000" dirty="0"/>
          </a:p>
          <a:p>
            <a:pPr lvl="1">
              <a:defRPr sz="1600">
                <a:solidFill>
                  <a:srgbClr val="232F3E"/>
                </a:solidFill>
              </a:defRPr>
            </a:pPr>
            <a:br>
              <a:rPr lang="es-MX" sz="2400" dirty="0"/>
            </a:br>
            <a:r>
              <a:rPr lang="es-MX" sz="2400" i="1" dirty="0">
                <a:solidFill>
                  <a:srgbClr val="0070C0"/>
                </a:solidFill>
              </a:rPr>
              <a:t>Siempre aplicar mínimo privilegio</a:t>
            </a:r>
            <a:endParaRPr sz="2000" i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7907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178286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EC" dirty="0"/>
              <a:t>Roles </a:t>
            </a:r>
            <a:r>
              <a:rPr lang="es-EC" b="1" dirty="0"/>
              <a:t>IAM</a:t>
            </a:r>
            <a:r>
              <a:rPr lang="es-EC" dirty="0"/>
              <a:t> </a:t>
            </a:r>
            <a:endParaRPr sz="2800" dirty="0"/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980904" y="1645923"/>
            <a:ext cx="9692639" cy="4680065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defRPr sz="1600">
                <a:solidFill>
                  <a:srgbClr val="232F3E"/>
                </a:solidFill>
              </a:defRPr>
            </a:pPr>
            <a:endParaRPr lang="es-MX" sz="2000" dirty="0"/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000" dirty="0"/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000" dirty="0"/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000" dirty="0"/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000" dirty="0"/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000" dirty="0"/>
              <a:t>❌ No es una persona</a:t>
            </a:r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000" dirty="0"/>
              <a:t>✅ Es un conjunto de permisos</a:t>
            </a:r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000" dirty="0"/>
              <a:t>Se asume temporalmente</a:t>
            </a: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000" dirty="0"/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133" dirty="0"/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133" dirty="0"/>
              <a:t>Para qué se usan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 sz="1600">
                <a:solidFill>
                  <a:srgbClr val="232F3E"/>
                </a:solidFill>
              </a:defRPr>
            </a:pPr>
            <a:r>
              <a:rPr lang="es-MX" sz="2133" dirty="0"/>
              <a:t>Acceso temporal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 sz="1600">
                <a:solidFill>
                  <a:srgbClr val="232F3E"/>
                </a:solidFill>
              </a:defRPr>
            </a:pPr>
            <a:r>
              <a:rPr lang="es-MX" sz="2133" dirty="0"/>
              <a:t>Buenas prácticas de seguridad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 sz="1600">
                <a:solidFill>
                  <a:srgbClr val="232F3E"/>
                </a:solidFill>
              </a:defRPr>
            </a:pPr>
            <a:r>
              <a:rPr lang="es-MX" sz="2133" dirty="0"/>
              <a:t>Evitar credenciales permanentes</a:t>
            </a: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133" dirty="0"/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133" dirty="0"/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133" i="1" dirty="0"/>
              <a:t>El rol no pertenece a nadie, se asume</a:t>
            </a:r>
            <a:r>
              <a:rPr lang="es-MX" sz="2133" dirty="0"/>
              <a:t>.</a:t>
            </a: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133" dirty="0"/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133" dirty="0"/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133" dirty="0"/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133" dirty="0"/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133" dirty="0"/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133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BDB8D14-012F-403C-AE85-9FB8F6906DF0}"/>
              </a:ext>
            </a:extLst>
          </p:cNvPr>
          <p:cNvSpPr txBox="1"/>
          <p:nvPr/>
        </p:nvSpPr>
        <p:spPr>
          <a:xfrm>
            <a:off x="1241522" y="3304312"/>
            <a:ext cx="9171401" cy="615553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endParaRPr lang="es-EC" dirty="0"/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1600" dirty="0"/>
          </a:p>
        </p:txBody>
      </p:sp>
    </p:spTree>
    <p:extLst>
      <p:ext uri="{BB962C8B-B14F-4D97-AF65-F5344CB8AC3E}">
        <p14:creationId xmlns:p14="http://schemas.microsoft.com/office/powerpoint/2010/main" val="1506620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435760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EC" dirty="0"/>
              <a:t>STS – Security Token </a:t>
            </a:r>
            <a:r>
              <a:rPr lang="es-EC" dirty="0" err="1"/>
              <a:t>Service</a:t>
            </a:r>
            <a:endParaRPr sz="2800" dirty="0"/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980904" y="1645923"/>
            <a:ext cx="9692639" cy="4680065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000" dirty="0"/>
              <a:t>Entrega credenciales temporales</a:t>
            </a: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000" dirty="0"/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000" dirty="0"/>
              <a:t>Hace posible el uso de roles</a:t>
            </a: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000" dirty="0"/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000" dirty="0"/>
              <a:t>	</a:t>
            </a:r>
            <a:r>
              <a:rPr lang="es-EC" sz="2400" b="1" dirty="0"/>
              <a:t>cada vez que asumes un rol, STS está actuando</a:t>
            </a:r>
            <a:r>
              <a:rPr lang="es-EC" sz="2400" dirty="0"/>
              <a:t>.</a:t>
            </a: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000" dirty="0"/>
          </a:p>
        </p:txBody>
      </p:sp>
    </p:spTree>
    <p:extLst>
      <p:ext uri="{BB962C8B-B14F-4D97-AF65-F5344CB8AC3E}">
        <p14:creationId xmlns:p14="http://schemas.microsoft.com/office/powerpoint/2010/main" val="25528897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508286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EC" dirty="0"/>
              <a:t>Trust </a:t>
            </a:r>
            <a:r>
              <a:rPr lang="es-EC" dirty="0" err="1"/>
              <a:t>Policy</a:t>
            </a:r>
            <a:r>
              <a:rPr lang="es-EC" dirty="0"/>
              <a:t> (</a:t>
            </a:r>
            <a:r>
              <a:rPr lang="es-EC" dirty="0" err="1"/>
              <a:t>Trusted</a:t>
            </a:r>
            <a:r>
              <a:rPr lang="es-EC" dirty="0"/>
              <a:t> / Confianza)</a:t>
            </a:r>
            <a:endParaRPr sz="2800" dirty="0"/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980904" y="1645923"/>
            <a:ext cx="9692639" cy="4680065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000" dirty="0"/>
              <a:t>🔹 Qué es una Trust </a:t>
            </a:r>
            <a:r>
              <a:rPr lang="es-MX" sz="2000" dirty="0" err="1"/>
              <a:t>Policy</a:t>
            </a:r>
            <a:endParaRPr lang="es-MX" sz="2000" dirty="0"/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000" dirty="0"/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000" dirty="0"/>
              <a:t>Define:</a:t>
            </a:r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000" dirty="0"/>
              <a:t>	QUIÉN puede asumir un rol</a:t>
            </a:r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000" dirty="0"/>
              <a:t>	No define permisos sobre S3, EC2, etc.</a:t>
            </a: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000" dirty="0"/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000" dirty="0"/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000" dirty="0"/>
              <a:t>Trust </a:t>
            </a:r>
            <a:r>
              <a:rPr lang="es-MX" sz="2000" dirty="0" err="1"/>
              <a:t>policy</a:t>
            </a:r>
            <a:r>
              <a:rPr lang="es-MX" sz="2000" dirty="0"/>
              <a:t> → ¿quién puede asumir?</a:t>
            </a:r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000" dirty="0" err="1"/>
              <a:t>Permission</a:t>
            </a:r>
            <a:r>
              <a:rPr lang="es-MX" sz="2000" dirty="0"/>
              <a:t> </a:t>
            </a:r>
            <a:r>
              <a:rPr lang="es-MX" sz="2000" dirty="0" err="1"/>
              <a:t>policy</a:t>
            </a:r>
            <a:r>
              <a:rPr lang="es-MX" sz="2000" dirty="0"/>
              <a:t> → ¿qué puede hacer?</a:t>
            </a:r>
          </a:p>
        </p:txBody>
      </p:sp>
    </p:spTree>
    <p:extLst>
      <p:ext uri="{BB962C8B-B14F-4D97-AF65-F5344CB8AC3E}">
        <p14:creationId xmlns:p14="http://schemas.microsoft.com/office/powerpoint/2010/main" val="7879208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462338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EC" dirty="0"/>
              <a:t>Autenticación vs Autorización</a:t>
            </a:r>
            <a:endParaRPr sz="2800" dirty="0"/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980904" y="1645923"/>
            <a:ext cx="9692639" cy="4680065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000"/>
              <a:t>🔹 Autenticación</a:t>
            </a: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000" dirty="0"/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000" dirty="0"/>
              <a:t>👉 ¿Quién eres?</a:t>
            </a: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000" dirty="0"/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000" dirty="0"/>
              <a:t>🔹 Autorización</a:t>
            </a: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000" dirty="0"/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000" dirty="0"/>
              <a:t>👉 ¿Qué puedes hacer?</a:t>
            </a: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000" dirty="0"/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000" dirty="0"/>
              <a:t>IAM maneja ambas.</a:t>
            </a:r>
          </a:p>
        </p:txBody>
      </p:sp>
    </p:spTree>
    <p:extLst>
      <p:ext uri="{BB962C8B-B14F-4D97-AF65-F5344CB8AC3E}">
        <p14:creationId xmlns:p14="http://schemas.microsoft.com/office/powerpoint/2010/main" val="18062035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418576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MX" dirty="0"/>
              <a:t>IAM es un servicio </a:t>
            </a:r>
            <a:r>
              <a:rPr lang="es-MX" b="1" dirty="0"/>
              <a:t>GLOBAL</a:t>
            </a:r>
            <a:endParaRPr sz="2800" dirty="0"/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980904" y="1645923"/>
            <a:ext cx="9692639" cy="4680065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000" dirty="0"/>
              <a:t>IAM NO es regional</a:t>
            </a: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000" dirty="0"/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000" dirty="0"/>
              <a:t>Aplica a toda la cuenta AWS</a:t>
            </a:r>
          </a:p>
        </p:txBody>
      </p:sp>
    </p:spTree>
    <p:extLst>
      <p:ext uri="{BB962C8B-B14F-4D97-AF65-F5344CB8AC3E}">
        <p14:creationId xmlns:p14="http://schemas.microsoft.com/office/powerpoint/2010/main" val="2911476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2314</TotalTime>
  <Words>352</Words>
  <Application>Microsoft Office PowerPoint</Application>
  <PresentationFormat>Panorámica</PresentationFormat>
  <Paragraphs>114</Paragraphs>
  <Slides>11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Santiago Mosquera</dc:creator>
  <cp:keywords/>
  <dc:description>generated using python-pptx</dc:description>
  <cp:lastModifiedBy>SANTIAGO FERNANDO MOSQUERA VIZUETE</cp:lastModifiedBy>
  <cp:revision>21</cp:revision>
  <dcterms:created xsi:type="dcterms:W3CDTF">2013-01-27T09:14:16Z</dcterms:created>
  <dcterms:modified xsi:type="dcterms:W3CDTF">2026-02-12T10:02:12Z</dcterms:modified>
  <cp:category/>
</cp:coreProperties>
</file>