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8" r:id="rId3"/>
    <p:sldId id="257" r:id="rId4"/>
    <p:sldId id="263" r:id="rId5"/>
    <p:sldId id="264" r:id="rId6"/>
    <p:sldId id="265" r:id="rId7"/>
    <p:sldId id="266" r:id="rId8"/>
    <p:sldId id="267" r:id="rId9"/>
    <p:sldId id="268" r:id="rId10"/>
    <p:sldId id="274" r:id="rId11"/>
    <p:sldId id="275" r:id="rId12"/>
    <p:sldId id="276" r:id="rId13"/>
    <p:sldId id="277" r:id="rId14"/>
    <p:sldId id="279" r:id="rId15"/>
    <p:sldId id="281" r:id="rId16"/>
    <p:sldId id="280" r:id="rId17"/>
    <p:sldId id="283" r:id="rId18"/>
    <p:sldId id="285" r:id="rId19"/>
    <p:sldId id="27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84"/>
  </p:normalViewPr>
  <p:slideViewPr>
    <p:cSldViewPr snapToGrid="0" snapToObjects="1">
      <p:cViewPr varScale="1">
        <p:scale>
          <a:sx n="92" d="100"/>
          <a:sy n="92" d="100"/>
        </p:scale>
        <p:origin x="226" y="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5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5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3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3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189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457189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457189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457189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457189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457189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" y="0"/>
            <a:ext cx="121615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2000" cy="6400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17903" y="2153918"/>
            <a:ext cx="4931157" cy="17235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32F3E"/>
                </a:solidFill>
              </a:defRPr>
            </a:pPr>
            <a:r>
              <a:rPr sz="3800" dirty="0"/>
              <a:t>AWS Cloud Practitioner</a:t>
            </a:r>
          </a:p>
          <a:p>
            <a:pPr algn="ctr">
              <a:defRPr sz="2000"/>
            </a:pPr>
            <a:r>
              <a:rPr sz="2000" dirty="0" err="1"/>
              <a:t>Curso</a:t>
            </a:r>
            <a:r>
              <a:rPr sz="2000" dirty="0"/>
              <a:t> de </a:t>
            </a:r>
            <a:r>
              <a:rPr sz="2000" dirty="0" err="1"/>
              <a:t>preparación</a:t>
            </a:r>
            <a:r>
              <a:rPr sz="2000" dirty="0"/>
              <a:t> para la </a:t>
            </a:r>
            <a:r>
              <a:rPr sz="2000" dirty="0" err="1"/>
              <a:t>certificación</a:t>
            </a:r>
            <a:endParaRPr lang="es-MX" sz="2000" dirty="0"/>
          </a:p>
          <a:p>
            <a:pPr algn="ctr">
              <a:defRPr sz="2000"/>
            </a:pPr>
            <a:endParaRPr lang="es-EC" sz="2000" dirty="0"/>
          </a:p>
          <a:p>
            <a:pPr algn="ctr">
              <a:defRPr sz="2000"/>
            </a:pPr>
            <a:r>
              <a:rPr lang="es-EC" sz="2800" b="1" dirty="0"/>
              <a:t>S3 (Simple Storage </a:t>
            </a:r>
            <a:r>
              <a:rPr lang="es-EC" sz="2800" b="1" dirty="0" err="1"/>
              <a:t>Service</a:t>
            </a:r>
            <a:r>
              <a:rPr lang="es-EC" sz="2800" b="1" dirty="0"/>
              <a:t>)</a:t>
            </a:r>
            <a:endParaRPr sz="2800" b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9390A98-93D6-4100-A6D0-F72B7FA1E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603" y="3896543"/>
            <a:ext cx="1361745" cy="45391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E7327FF-430C-43C4-B915-654257255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6041" y="3355982"/>
            <a:ext cx="1276635" cy="127663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012C6B4-2AFD-4F0C-9C18-47059E8220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662" y="1325603"/>
            <a:ext cx="3874289" cy="387428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8769C84-3974-43B6-89AB-83B56D0E3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743" y="4917106"/>
            <a:ext cx="1257851" cy="125785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95DF995A-3221-4174-A109-609658505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839" y="5100191"/>
            <a:ext cx="2286000" cy="76200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40528361-CFAD-4C53-B1AB-B98CC85CAB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5707" y="5156886"/>
            <a:ext cx="1298847" cy="7782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1965603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sz="2800" b="1" dirty="0"/>
              <a:t>S3 Standard</a:t>
            </a:r>
            <a:endParaRPr lang="es-ES" sz="2800" b="1" dirty="0"/>
          </a:p>
          <a:p>
            <a:pPr>
              <a:defRPr sz="2800" b="1">
                <a:solidFill>
                  <a:srgbClr val="FFFFFF"/>
                </a:solidFill>
              </a:defRPr>
            </a:pPr>
            <a:endParaRPr sz="28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56357CE-440F-4626-86AA-62F67E04D8B4}"/>
              </a:ext>
            </a:extLst>
          </p:cNvPr>
          <p:cNvSpPr txBox="1"/>
          <p:nvPr/>
        </p:nvSpPr>
        <p:spPr>
          <a:xfrm>
            <a:off x="846511" y="2042946"/>
            <a:ext cx="4281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err="1"/>
              <a:t>Famila</a:t>
            </a:r>
            <a:r>
              <a:rPr lang="es-MX" b="1" dirty="0"/>
              <a:t> STANDARD</a:t>
            </a:r>
            <a:endParaRPr lang="es-EC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7042630-6C5E-4F94-8E97-57F56FDD8501}"/>
              </a:ext>
            </a:extLst>
          </p:cNvPr>
          <p:cNvSpPr txBox="1"/>
          <p:nvPr/>
        </p:nvSpPr>
        <p:spPr>
          <a:xfrm>
            <a:off x="5895801" y="2037588"/>
            <a:ext cx="4281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Familia GLACIER</a:t>
            </a:r>
            <a:endParaRPr lang="es-EC" b="1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9FE8A4A-C001-4E79-9950-E1FAE0B2879A}"/>
              </a:ext>
            </a:extLst>
          </p:cNvPr>
          <p:cNvSpPr txBox="1"/>
          <p:nvPr/>
        </p:nvSpPr>
        <p:spPr>
          <a:xfrm>
            <a:off x="2560321" y="4434039"/>
            <a:ext cx="5246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/>
              <a:t>Imágenes de una página web (logo, banners)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014083F-C7BB-445A-A675-E77AFA4F76D3}"/>
              </a:ext>
            </a:extLst>
          </p:cNvPr>
          <p:cNvSpPr txBox="1"/>
          <p:nvPr/>
        </p:nvSpPr>
        <p:spPr>
          <a:xfrm>
            <a:off x="2693323" y="4927041"/>
            <a:ext cx="5246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Declaraciones tributarias de hace 5 años</a:t>
            </a:r>
            <a:endParaRPr lang="es-EC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1C49570-2CC4-4136-8E30-7C4913F83365}"/>
              </a:ext>
            </a:extLst>
          </p:cNvPr>
          <p:cNvSpPr txBox="1"/>
          <p:nvPr/>
        </p:nvSpPr>
        <p:spPr>
          <a:xfrm>
            <a:off x="2834639" y="5483813"/>
            <a:ext cx="6122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Logs antiguos que solo se consultan si hay investigación</a:t>
            </a:r>
            <a:endParaRPr lang="es-EC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0558514-B496-4DB7-8EE8-C688A3F8567D}"/>
              </a:ext>
            </a:extLst>
          </p:cNvPr>
          <p:cNvSpPr txBox="1"/>
          <p:nvPr/>
        </p:nvSpPr>
        <p:spPr>
          <a:xfrm>
            <a:off x="2987039" y="6005545"/>
            <a:ext cx="6122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 err="1"/>
              <a:t>Backups</a:t>
            </a:r>
            <a:r>
              <a:rPr lang="es-MX" dirty="0"/>
              <a:t> de bases de datos</a:t>
            </a:r>
            <a:endParaRPr lang="es-EC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9E40614F-D37B-434C-AFCD-D2860D674679}"/>
              </a:ext>
            </a:extLst>
          </p:cNvPr>
          <p:cNvSpPr/>
          <p:nvPr/>
        </p:nvSpPr>
        <p:spPr>
          <a:xfrm>
            <a:off x="704861" y="2460033"/>
            <a:ext cx="4648535" cy="1593872"/>
          </a:xfrm>
          <a:prstGeom prst="roundRect">
            <a:avLst/>
          </a:prstGeom>
          <a:solidFill>
            <a:srgbClr val="FF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95F0DFA-325D-4429-A0C2-2E98B38C5590}"/>
              </a:ext>
            </a:extLst>
          </p:cNvPr>
          <p:cNvSpPr txBox="1"/>
          <p:nvPr/>
        </p:nvSpPr>
        <p:spPr>
          <a:xfrm>
            <a:off x="1155467" y="2908551"/>
            <a:ext cx="42810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Datos Activos o </a:t>
            </a:r>
            <a:r>
              <a:rPr lang="es-MX" dirty="0" err="1"/>
              <a:t>Semi-activos</a:t>
            </a:r>
            <a:endParaRPr lang="es-MX" dirty="0"/>
          </a:p>
          <a:p>
            <a:r>
              <a:rPr lang="es-EC" dirty="0"/>
              <a:t>Recuperación inmediata (milisegundos)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6EB7AA3E-B95F-4E80-8544-E7606FCD1B57}"/>
              </a:ext>
            </a:extLst>
          </p:cNvPr>
          <p:cNvSpPr/>
          <p:nvPr/>
        </p:nvSpPr>
        <p:spPr>
          <a:xfrm>
            <a:off x="5712060" y="2455484"/>
            <a:ext cx="4648535" cy="1593872"/>
          </a:xfrm>
          <a:prstGeom prst="roundRect">
            <a:avLst/>
          </a:prstGeom>
          <a:solidFill>
            <a:srgbClr val="99C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D35B839-2EDE-4ACF-823E-C7F5D38D149C}"/>
              </a:ext>
            </a:extLst>
          </p:cNvPr>
          <p:cNvSpPr txBox="1"/>
          <p:nvPr/>
        </p:nvSpPr>
        <p:spPr>
          <a:xfrm>
            <a:off x="5895801" y="2918157"/>
            <a:ext cx="42810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Pensadas para </a:t>
            </a:r>
            <a:r>
              <a:rPr lang="es-MX" b="1" dirty="0">
                <a:solidFill>
                  <a:srgbClr val="FF0000"/>
                </a:solidFill>
              </a:rPr>
              <a:t>archivado</a:t>
            </a:r>
            <a:r>
              <a:rPr lang="es-MX" dirty="0"/>
              <a:t> – acceso raro o muy raro</a:t>
            </a:r>
          </a:p>
        </p:txBody>
      </p:sp>
      <p:sp>
        <p:nvSpPr>
          <p:cNvPr id="18" name="Bocadillo: ovalado 17">
            <a:extLst>
              <a:ext uri="{FF2B5EF4-FFF2-40B4-BE49-F238E27FC236}">
                <a16:creationId xmlns:a16="http://schemas.microsoft.com/office/drawing/2014/main" id="{09900CF0-B25E-4677-8E2F-B4BED1FEB5DF}"/>
              </a:ext>
            </a:extLst>
          </p:cNvPr>
          <p:cNvSpPr/>
          <p:nvPr/>
        </p:nvSpPr>
        <p:spPr>
          <a:xfrm>
            <a:off x="8753302" y="4434039"/>
            <a:ext cx="2477193" cy="1593872"/>
          </a:xfrm>
          <a:prstGeom prst="wedgeEllipseCallout">
            <a:avLst>
              <a:gd name="adj1" fmla="val -56068"/>
              <a:gd name="adj2" fmla="val 46854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6705994-86D2-436F-9E53-CD459CA66DDA}"/>
              </a:ext>
            </a:extLst>
          </p:cNvPr>
          <p:cNvSpPr txBox="1"/>
          <p:nvPr/>
        </p:nvSpPr>
        <p:spPr>
          <a:xfrm>
            <a:off x="9058794" y="4666759"/>
            <a:ext cx="18662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¿Estos objetos se guardarían en Standard o Glacier?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4126157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1965603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sz="2800" b="1" dirty="0"/>
              <a:t>S3 Standard</a:t>
            </a:r>
            <a:endParaRPr lang="es-ES" sz="2800" b="1" dirty="0"/>
          </a:p>
          <a:p>
            <a:pPr>
              <a:defRPr sz="2800" b="1">
                <a:solidFill>
                  <a:srgbClr val="FFFFFF"/>
                </a:solidFill>
              </a:defRPr>
            </a:pPr>
            <a:endParaRPr sz="2800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0"/>
            <a:ext cx="9692639" cy="4114800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Uso frecuente</a:t>
            </a:r>
            <a:endParaRPr lang="es-ES" sz="16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Baja latencia</a:t>
            </a:r>
            <a:endParaRPr lang="es-ES" sz="16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Multi-AZ</a:t>
            </a:r>
            <a:endParaRPr lang="es-ES" sz="16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Sin duración mínima</a:t>
            </a:r>
            <a:endParaRPr lang="es-ES" sz="1600" dirty="0">
              <a:solidFill>
                <a:schemeClr val="tx1"/>
              </a:solidFill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EC" sz="1600" dirty="0"/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EC" sz="1600" dirty="0"/>
              <a:t>📌 Ideal para:</a:t>
            </a:r>
            <a:br>
              <a:rPr lang="es-EC" sz="1600" dirty="0"/>
            </a:br>
            <a:r>
              <a:rPr lang="es-EC" sz="1600" dirty="0"/>
              <a:t>Apps web, imágenes, contenido activo</a:t>
            </a:r>
            <a:endParaRPr lang="es-ES" sz="1600" dirty="0"/>
          </a:p>
          <a:p>
            <a:pPr lvl="1">
              <a:defRPr sz="1600">
                <a:solidFill>
                  <a:srgbClr val="232F3E"/>
                </a:solidFill>
              </a:defRPr>
            </a:pPr>
            <a:endParaRPr sz="2133" dirty="0"/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9B22DDDE-A85B-407E-9D77-B38E08F27A11}"/>
              </a:ext>
            </a:extLst>
          </p:cNvPr>
          <p:cNvSpPr txBox="1"/>
          <p:nvPr/>
        </p:nvSpPr>
        <p:spPr>
          <a:xfrm>
            <a:off x="1518457" y="1838489"/>
            <a:ext cx="196733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S3 </a:t>
            </a:r>
            <a:r>
              <a:rPr lang="es-EC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Standard</a:t>
            </a:r>
            <a:endParaRPr lang="es-E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28232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C" sz="2400" b="1" dirty="0">
                <a:solidFill>
                  <a:schemeClr val="bg1"/>
                </a:solidFill>
              </a:rPr>
              <a:t>S3 Intelligent-Tiering</a:t>
            </a:r>
            <a:endParaRPr lang="es-ES" sz="2400" dirty="0">
              <a:solidFill>
                <a:schemeClr val="bg1"/>
              </a:solidFill>
            </a:endParaRP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0"/>
            <a:ext cx="9692639" cy="4114800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Para acceso impredecible</a:t>
            </a:r>
            <a:endParaRPr lang="es-ES" sz="16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Se mueve automáticamente entre niveles</a:t>
            </a:r>
            <a:endParaRPr lang="es-ES" sz="16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Multi-AZ</a:t>
            </a:r>
            <a:endParaRPr lang="es-ES" sz="16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Tiene pequeño costo de monitoreo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C" sz="1600" dirty="0">
              <a:solidFill>
                <a:schemeClr val="tx1"/>
              </a:solidFill>
            </a:endParaRPr>
          </a:p>
          <a:p>
            <a:pPr lvl="1"/>
            <a:r>
              <a:rPr lang="es-EC" dirty="0">
                <a:solidFill>
                  <a:schemeClr val="tx1"/>
                </a:solidFill>
              </a:rPr>
              <a:t>📌 Ideal para:</a:t>
            </a:r>
            <a:br>
              <a:rPr lang="es-EC" dirty="0">
                <a:solidFill>
                  <a:schemeClr val="tx1"/>
                </a:solidFill>
              </a:rPr>
            </a:br>
            <a:r>
              <a:rPr lang="es-EC" dirty="0">
                <a:solidFill>
                  <a:schemeClr val="tx1"/>
                </a:solidFill>
              </a:rPr>
              <a:t>Datos donde no sabes qué se va a usar</a:t>
            </a:r>
            <a:endParaRPr lang="es-ES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1600" dirty="0">
              <a:solidFill>
                <a:schemeClr val="tx1"/>
              </a:solidFill>
            </a:endParaRP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endParaRPr lang="es-ES" sz="1600" dirty="0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03AF626B-14E0-4191-A642-2CF2B4E30341}"/>
              </a:ext>
            </a:extLst>
          </p:cNvPr>
          <p:cNvSpPr txBox="1"/>
          <p:nvPr/>
        </p:nvSpPr>
        <p:spPr>
          <a:xfrm>
            <a:off x="1518457" y="1838489"/>
            <a:ext cx="298145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S3 </a:t>
            </a:r>
            <a:r>
              <a:rPr lang="es-EC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Intelligent</a:t>
            </a:r>
            <a:r>
              <a:rPr lang="es-EC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- </a:t>
            </a:r>
            <a:r>
              <a:rPr lang="es-EC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Tier</a:t>
            </a:r>
            <a:endParaRPr lang="es-E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A0392D8B-5F5E-40A5-8F84-438D3A4E745F}"/>
              </a:ext>
            </a:extLst>
          </p:cNvPr>
          <p:cNvSpPr/>
          <p:nvPr/>
        </p:nvSpPr>
        <p:spPr>
          <a:xfrm>
            <a:off x="7855527" y="3054927"/>
            <a:ext cx="2003367" cy="552796"/>
          </a:xfrm>
          <a:prstGeom prst="roundRect">
            <a:avLst/>
          </a:prstGeom>
          <a:solidFill>
            <a:srgbClr val="FF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</a:rPr>
              <a:t>S3 </a:t>
            </a:r>
            <a:r>
              <a:rPr lang="es-MX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Intelligent</a:t>
            </a:r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</a:rPr>
              <a:t> -</a:t>
            </a:r>
            <a:r>
              <a:rPr lang="es-MX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Tier</a:t>
            </a:r>
            <a:endParaRPr lang="es-EC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3F43053A-EAC2-44F4-9F37-E605D23AB1C2}"/>
              </a:ext>
            </a:extLst>
          </p:cNvPr>
          <p:cNvSpPr/>
          <p:nvPr/>
        </p:nvSpPr>
        <p:spPr>
          <a:xfrm>
            <a:off x="6752705" y="2217180"/>
            <a:ext cx="2003367" cy="55279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Standard</a:t>
            </a:r>
            <a:endParaRPr lang="es-EC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55CF3C63-1328-46A1-8503-DDE20D0E01E3}"/>
              </a:ext>
            </a:extLst>
          </p:cNvPr>
          <p:cNvSpPr/>
          <p:nvPr/>
        </p:nvSpPr>
        <p:spPr>
          <a:xfrm>
            <a:off x="6752705" y="3811627"/>
            <a:ext cx="2003367" cy="55279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Standard IA</a:t>
            </a:r>
            <a:endParaRPr lang="es-EC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9F57EC5C-41F6-4416-9981-74064F3CD8EF}"/>
              </a:ext>
            </a:extLst>
          </p:cNvPr>
          <p:cNvSpPr/>
          <p:nvPr/>
        </p:nvSpPr>
        <p:spPr>
          <a:xfrm>
            <a:off x="6752705" y="4568327"/>
            <a:ext cx="2003367" cy="55279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Glacier</a:t>
            </a:r>
            <a:endParaRPr lang="es-EC" dirty="0"/>
          </a:p>
        </p:txBody>
      </p:sp>
      <p:sp>
        <p:nvSpPr>
          <p:cNvPr id="6" name="Flecha: arriba y abajo 5">
            <a:extLst>
              <a:ext uri="{FF2B5EF4-FFF2-40B4-BE49-F238E27FC236}">
                <a16:creationId xmlns:a16="http://schemas.microsoft.com/office/drawing/2014/main" id="{DF001495-DDD0-4E0C-A951-8DF40843D45A}"/>
              </a:ext>
            </a:extLst>
          </p:cNvPr>
          <p:cNvSpPr/>
          <p:nvPr/>
        </p:nvSpPr>
        <p:spPr>
          <a:xfrm>
            <a:off x="7360920" y="2951018"/>
            <a:ext cx="299258" cy="773084"/>
          </a:xfrm>
          <a:prstGeom prst="upDown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07637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247215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sz="2800" b="1"/>
              <a:t>S3 Standard-IA</a:t>
            </a:r>
            <a:r>
              <a:rPr lang="es-ES" sz="2800" b="1" dirty="0"/>
              <a:t> </a:t>
            </a:r>
            <a:endParaRPr sz="2800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Acceso </a:t>
            </a:r>
            <a:r>
              <a:rPr lang="es-EC" b="1" dirty="0">
                <a:solidFill>
                  <a:srgbClr val="FF0000"/>
                </a:solidFill>
              </a:rPr>
              <a:t>infrecuente</a:t>
            </a:r>
            <a:endParaRPr lang="es-ES" sz="1600" b="1" dirty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Recuperación inmediata</a:t>
            </a:r>
            <a:endParaRPr lang="es-ES" sz="16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Multi-AZ</a:t>
            </a:r>
            <a:endParaRPr lang="es-ES" sz="16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Duración mínima 30 días</a:t>
            </a:r>
            <a:endParaRPr lang="es-ES" sz="16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Tiene costo por recuperación</a:t>
            </a:r>
          </a:p>
          <a:p>
            <a:pPr lvl="1"/>
            <a:endParaRPr lang="es-ES" sz="1600" dirty="0">
              <a:solidFill>
                <a:schemeClr val="tx1"/>
              </a:solidFill>
            </a:endParaRPr>
          </a:p>
          <a:p>
            <a:pPr lvl="1"/>
            <a:r>
              <a:rPr lang="es-EC" dirty="0">
                <a:solidFill>
                  <a:schemeClr val="tx1"/>
                </a:solidFill>
              </a:rPr>
              <a:t>📌 Ideal para:</a:t>
            </a:r>
            <a:br>
              <a:rPr lang="es-EC" dirty="0">
                <a:solidFill>
                  <a:schemeClr val="tx1"/>
                </a:solidFill>
              </a:rPr>
            </a:br>
            <a:r>
              <a:rPr lang="es-EC" dirty="0">
                <a:solidFill>
                  <a:schemeClr val="tx1"/>
                </a:solidFill>
              </a:rPr>
              <a:t>Backups mensuales que rara vez restauras</a:t>
            </a:r>
            <a:endParaRPr lang="es-ES" sz="1600" dirty="0">
              <a:solidFill>
                <a:schemeClr val="tx1"/>
              </a:solidFill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sz="2000" dirty="0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2CEFDAC9-E7B6-48A1-A387-F081394BC418}"/>
              </a:ext>
            </a:extLst>
          </p:cNvPr>
          <p:cNvSpPr txBox="1"/>
          <p:nvPr/>
        </p:nvSpPr>
        <p:spPr>
          <a:xfrm>
            <a:off x="1645994" y="1979806"/>
            <a:ext cx="55423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S3 </a:t>
            </a:r>
            <a:r>
              <a:rPr lang="es-EC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Standard – IA (</a:t>
            </a:r>
            <a:r>
              <a:rPr lang="es-EC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Infrecuent</a:t>
            </a:r>
            <a:r>
              <a:rPr lang="es-EC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Access)</a:t>
            </a:r>
            <a:endParaRPr lang="es-E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5782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247375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S3 One Zone-IA</a:t>
            </a:r>
            <a:endParaRPr lang="es-ES" sz="2800" dirty="0">
              <a:solidFill>
                <a:schemeClr val="bg1"/>
              </a:solidFill>
            </a:endParaRP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Igual que </a:t>
            </a:r>
            <a:r>
              <a:rPr lang="es-EC" b="1" dirty="0">
                <a:solidFill>
                  <a:srgbClr val="FF0000"/>
                </a:solidFill>
              </a:rPr>
              <a:t>Standard-IA</a:t>
            </a:r>
            <a:endParaRPr lang="es-ES" sz="1600" b="1" dirty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Pero en </a:t>
            </a:r>
            <a:r>
              <a:rPr lang="es-EC" b="1" dirty="0">
                <a:solidFill>
                  <a:srgbClr val="FF0000"/>
                </a:solidFill>
              </a:rPr>
              <a:t>1 sola AZ</a:t>
            </a:r>
            <a:endParaRPr lang="es-ES" sz="1600" b="1" dirty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Menor resiliencia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C" sz="1600" dirty="0">
              <a:solidFill>
                <a:schemeClr val="tx1"/>
              </a:solidFill>
            </a:endParaRPr>
          </a:p>
          <a:p>
            <a:pPr lvl="1"/>
            <a:r>
              <a:rPr lang="es-EC" dirty="0">
                <a:solidFill>
                  <a:schemeClr val="tx1"/>
                </a:solidFill>
              </a:rPr>
              <a:t>📌 Ideal para:</a:t>
            </a:r>
            <a:br>
              <a:rPr lang="es-EC" dirty="0">
                <a:solidFill>
                  <a:schemeClr val="tx1"/>
                </a:solidFill>
              </a:rPr>
            </a:br>
            <a:r>
              <a:rPr lang="es-EC" dirty="0">
                <a:solidFill>
                  <a:schemeClr val="tx1"/>
                </a:solidFill>
              </a:rPr>
              <a:t>Datos que puedes regenerar</a:t>
            </a:r>
            <a:endParaRPr lang="es-ES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1600" dirty="0">
              <a:solidFill>
                <a:schemeClr val="tx1"/>
              </a:solidFill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C3EBF16D-D486-4120-87FC-F0F4BB308900}"/>
              </a:ext>
            </a:extLst>
          </p:cNvPr>
          <p:cNvSpPr txBox="1"/>
          <p:nvPr/>
        </p:nvSpPr>
        <p:spPr>
          <a:xfrm>
            <a:off x="1645994" y="1979806"/>
            <a:ext cx="263751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S3 </a:t>
            </a:r>
            <a:r>
              <a:rPr lang="es-EC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One</a:t>
            </a:r>
            <a:r>
              <a:rPr lang="es-EC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s-EC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Zone</a:t>
            </a:r>
            <a:r>
              <a:rPr lang="es-EC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- IA</a:t>
            </a:r>
            <a:endParaRPr lang="es-E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DF91F288-486D-4130-A3B4-648B1A4D34F4}"/>
              </a:ext>
            </a:extLst>
          </p:cNvPr>
          <p:cNvSpPr/>
          <p:nvPr/>
        </p:nvSpPr>
        <p:spPr>
          <a:xfrm>
            <a:off x="6486697" y="5075403"/>
            <a:ext cx="3314008" cy="55279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Multi AZ – Alta disponibilidad</a:t>
            </a:r>
            <a:endParaRPr lang="es-EC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8480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4193840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sz="2800" b="1" dirty="0"/>
              <a:t>S3 Glacier Instant Retrieval</a:t>
            </a:r>
            <a:endParaRPr lang="es-ES" sz="2800" b="1" dirty="0"/>
          </a:p>
          <a:p>
            <a:pPr>
              <a:defRPr sz="2800" b="1">
                <a:solidFill>
                  <a:srgbClr val="FFFFFF"/>
                </a:solidFill>
              </a:defRPr>
            </a:pPr>
            <a:endParaRPr sz="2800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>
                <a:solidFill>
                  <a:srgbClr val="FF0000"/>
                </a:solidFill>
              </a:rPr>
              <a:t>Archivado</a:t>
            </a:r>
            <a:endParaRPr lang="es-ES" sz="1600" b="1" dirty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>
                <a:solidFill>
                  <a:schemeClr val="tx1"/>
                </a:solidFill>
              </a:rPr>
              <a:t>Recuperación inmediata</a:t>
            </a:r>
            <a:endParaRPr lang="es-ES" sz="1600" b="1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Duración mínima 90 días</a:t>
            </a:r>
            <a:endParaRPr lang="es-ES" sz="16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Tiene costo por recuperación</a:t>
            </a:r>
            <a:endParaRPr lang="es-ES" sz="1600" dirty="0">
              <a:solidFill>
                <a:schemeClr val="tx1"/>
              </a:solidFill>
            </a:endParaRPr>
          </a:p>
          <a:p>
            <a:pPr lvl="1"/>
            <a:endParaRPr lang="es-EC" dirty="0">
              <a:solidFill>
                <a:schemeClr val="tx1"/>
              </a:solidFill>
            </a:endParaRPr>
          </a:p>
          <a:p>
            <a:pPr lvl="1"/>
            <a:r>
              <a:rPr lang="es-EC" dirty="0">
                <a:solidFill>
                  <a:schemeClr val="tx1"/>
                </a:solidFill>
              </a:rPr>
              <a:t>📌 Ideal para:</a:t>
            </a:r>
            <a:br>
              <a:rPr lang="es-EC" dirty="0">
                <a:solidFill>
                  <a:schemeClr val="tx1"/>
                </a:solidFill>
              </a:rPr>
            </a:br>
            <a:r>
              <a:rPr lang="es-EC" dirty="0">
                <a:solidFill>
                  <a:schemeClr val="tx1"/>
                </a:solidFill>
              </a:rPr>
              <a:t>Datos que consultas 1–2 veces al año</a:t>
            </a:r>
            <a:endParaRPr lang="es-ES" sz="1600" dirty="0">
              <a:solidFill>
                <a:schemeClr val="tx1"/>
              </a:solidFill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sz="2000" dirty="0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21FDB17D-E653-4B8C-A899-239134A37682}"/>
              </a:ext>
            </a:extLst>
          </p:cNvPr>
          <p:cNvSpPr txBox="1"/>
          <p:nvPr/>
        </p:nvSpPr>
        <p:spPr>
          <a:xfrm>
            <a:off x="1518457" y="1964574"/>
            <a:ext cx="419384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sz="2800" b="1" dirty="0">
                <a:solidFill>
                  <a:schemeClr val="bg2">
                    <a:lumMod val="10000"/>
                  </a:schemeClr>
                </a:solidFill>
              </a:rPr>
              <a:t>S3 Glacier </a:t>
            </a:r>
            <a:r>
              <a:rPr lang="es-EC" sz="2800" b="1" dirty="0" err="1">
                <a:solidFill>
                  <a:schemeClr val="bg2">
                    <a:lumMod val="10000"/>
                  </a:schemeClr>
                </a:solidFill>
              </a:rPr>
              <a:t>Instant</a:t>
            </a:r>
            <a:r>
              <a:rPr lang="es-EC" sz="28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s-EC" sz="2800" b="1" dirty="0" err="1">
                <a:solidFill>
                  <a:schemeClr val="bg2">
                    <a:lumMod val="10000"/>
                  </a:schemeClr>
                </a:solidFill>
              </a:rPr>
              <a:t>Retrieval</a:t>
            </a:r>
            <a:endParaRPr lang="es-ES" sz="2800" b="1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7907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4296882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sz="2800" b="1" dirty="0"/>
              <a:t>S3 Glacier Flexible Retrieval</a:t>
            </a:r>
            <a:endParaRPr lang="es-ES" sz="2800" b="1" dirty="0"/>
          </a:p>
          <a:p>
            <a:pPr>
              <a:defRPr sz="2800" b="1">
                <a:solidFill>
                  <a:srgbClr val="FFFFFF"/>
                </a:solidFill>
              </a:defRPr>
            </a:pPr>
            <a:endParaRPr sz="2800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Recuperación </a:t>
            </a:r>
            <a:r>
              <a:rPr lang="es-EC" b="1" dirty="0">
                <a:solidFill>
                  <a:srgbClr val="FF0000"/>
                </a:solidFill>
              </a:rPr>
              <a:t>en minutos u horas</a:t>
            </a:r>
            <a:endParaRPr lang="es-ES" b="1" dirty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Duración mínima 90 días</a:t>
            </a:r>
            <a:endParaRPr lang="es-ES" dirty="0">
              <a:solidFill>
                <a:schemeClr val="tx1"/>
              </a:solidFill>
            </a:endParaRPr>
          </a:p>
          <a:p>
            <a:pPr lvl="1"/>
            <a:endParaRPr lang="es-EC" dirty="0">
              <a:solidFill>
                <a:schemeClr val="tx1"/>
              </a:solidFill>
            </a:endParaRPr>
          </a:p>
          <a:p>
            <a:pPr lvl="1"/>
            <a:r>
              <a:rPr lang="es-EC" dirty="0">
                <a:solidFill>
                  <a:schemeClr val="tx1"/>
                </a:solidFill>
              </a:rPr>
              <a:t>📌 Ideal para:</a:t>
            </a:r>
            <a:br>
              <a:rPr lang="es-EC" dirty="0">
                <a:solidFill>
                  <a:schemeClr val="tx1"/>
                </a:solidFill>
              </a:rPr>
            </a:br>
            <a:r>
              <a:rPr lang="es-EC" dirty="0">
                <a:solidFill>
                  <a:schemeClr val="tx1"/>
                </a:solidFill>
              </a:rPr>
              <a:t>Backups históricos</a:t>
            </a:r>
            <a:endParaRPr lang="es-ES" dirty="0">
              <a:solidFill>
                <a:schemeClr val="tx1"/>
              </a:solidFill>
            </a:endParaRPr>
          </a:p>
          <a:p>
            <a:endParaRPr lang="es-ES" sz="1600" dirty="0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8B8F9297-A21C-449A-B30A-B9E98111D363}"/>
              </a:ext>
            </a:extLst>
          </p:cNvPr>
          <p:cNvSpPr txBox="1"/>
          <p:nvPr/>
        </p:nvSpPr>
        <p:spPr>
          <a:xfrm>
            <a:off x="1518457" y="1964574"/>
            <a:ext cx="429688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sz="2800" b="1" dirty="0">
                <a:solidFill>
                  <a:schemeClr val="bg2">
                    <a:lumMod val="10000"/>
                  </a:schemeClr>
                </a:solidFill>
              </a:rPr>
              <a:t>S3 Glacier Flexible </a:t>
            </a:r>
            <a:r>
              <a:rPr lang="es-EC" sz="2800" b="1" dirty="0" err="1">
                <a:solidFill>
                  <a:schemeClr val="bg2">
                    <a:lumMod val="10000"/>
                  </a:schemeClr>
                </a:solidFill>
              </a:rPr>
              <a:t>Retrieval</a:t>
            </a:r>
            <a:endParaRPr lang="es-ES" sz="2800" b="1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6620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3725700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sz="2800" b="1" dirty="0"/>
              <a:t>S3 Glacier Deep Archive</a:t>
            </a:r>
            <a:endParaRPr lang="es-ES" sz="2800" b="1" dirty="0"/>
          </a:p>
          <a:p>
            <a:pPr>
              <a:defRPr sz="2800" b="1">
                <a:solidFill>
                  <a:srgbClr val="FFFFFF"/>
                </a:solidFill>
              </a:defRPr>
            </a:pPr>
            <a:endParaRPr sz="2800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Recuperación </a:t>
            </a:r>
            <a:r>
              <a:rPr lang="es-EC" b="1" dirty="0">
                <a:solidFill>
                  <a:srgbClr val="FF0000"/>
                </a:solidFill>
              </a:rPr>
              <a:t>en horas</a:t>
            </a:r>
            <a:endParaRPr lang="es-ES" sz="1600" b="1" dirty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Duración mínima 180 días</a:t>
            </a:r>
            <a:endParaRPr lang="es-ES" sz="1600" dirty="0">
              <a:solidFill>
                <a:schemeClr val="tx1"/>
              </a:solidFill>
            </a:endParaRPr>
          </a:p>
          <a:p>
            <a:pPr lvl="1"/>
            <a:endParaRPr lang="es-EC" dirty="0">
              <a:solidFill>
                <a:schemeClr val="tx1"/>
              </a:solidFill>
            </a:endParaRPr>
          </a:p>
          <a:p>
            <a:pPr lvl="1"/>
            <a:r>
              <a:rPr lang="es-EC" dirty="0">
                <a:solidFill>
                  <a:schemeClr val="tx1"/>
                </a:solidFill>
              </a:rPr>
              <a:t>📌 Ideal para:</a:t>
            </a:r>
            <a:br>
              <a:rPr lang="es-EC" dirty="0">
                <a:solidFill>
                  <a:schemeClr val="tx1"/>
                </a:solidFill>
              </a:rPr>
            </a:br>
            <a:r>
              <a:rPr lang="es-EC" dirty="0">
                <a:solidFill>
                  <a:schemeClr val="tx1"/>
                </a:solidFill>
              </a:rPr>
              <a:t>Retención legal 7–10 años</a:t>
            </a:r>
            <a:endParaRPr lang="es-ES" sz="1600" dirty="0">
              <a:solidFill>
                <a:schemeClr val="tx1"/>
              </a:solidFill>
            </a:endParaRPr>
          </a:p>
          <a:p>
            <a:pPr lvl="1"/>
            <a:r>
              <a:rPr lang="es-EC" dirty="0">
                <a:solidFill>
                  <a:schemeClr val="tx1"/>
                </a:solidFill>
              </a:rPr>
              <a:t> </a:t>
            </a:r>
            <a:endParaRPr lang="es-ES" dirty="0">
              <a:solidFill>
                <a:schemeClr val="tx1"/>
              </a:solidFill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8A4929F6-BE4F-4339-B71A-64BB76B13C1C}"/>
              </a:ext>
            </a:extLst>
          </p:cNvPr>
          <p:cNvSpPr txBox="1"/>
          <p:nvPr/>
        </p:nvSpPr>
        <p:spPr>
          <a:xfrm>
            <a:off x="1518457" y="1964574"/>
            <a:ext cx="372691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sz="2800" b="1" dirty="0">
                <a:solidFill>
                  <a:schemeClr val="bg2">
                    <a:lumMod val="10000"/>
                  </a:schemeClr>
                </a:solidFill>
              </a:rPr>
              <a:t>S3 Glacier Deep Archive</a:t>
            </a:r>
            <a:endParaRPr lang="es-ES" sz="2800" b="1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5569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7B4D4-AFA5-6791-8767-19DF4A4AB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1D6FD3-EFB7-9AEB-8E5C-FC091BA0FE1F}"/>
              </a:ext>
            </a:extLst>
          </p:cNvPr>
          <p:cNvSpPr/>
          <p:nvPr/>
        </p:nvSpPr>
        <p:spPr>
          <a:xfrm>
            <a:off x="-72189" y="-12709"/>
            <a:ext cx="12276221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866C1F-8D3D-4C5B-3223-0D585353F73F}"/>
              </a:ext>
            </a:extLst>
          </p:cNvPr>
          <p:cNvSpPr txBox="1"/>
          <p:nvPr/>
        </p:nvSpPr>
        <p:spPr>
          <a:xfrm>
            <a:off x="451660" y="199505"/>
            <a:ext cx="3350597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sz="2800" b="1" dirty="0"/>
              <a:t>¿Qué es Amazon S3?</a:t>
            </a:r>
            <a:r>
              <a:rPr lang="es-ES" sz="2800" b="1" dirty="0"/>
              <a:t> 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endParaRPr sz="2800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4ABD7A77-B1CA-889D-48EC-CA2C2AB3544A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Amazon Simple Storage Service (S3)</a:t>
            </a:r>
            <a:endParaRPr lang="es-ES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Servicio de </a:t>
            </a:r>
            <a:r>
              <a:rPr lang="es-EC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almacenamiento de objetos</a:t>
            </a:r>
            <a:endParaRPr lang="es-ES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Escalable automáticamente</a:t>
            </a:r>
            <a:endParaRPr lang="es-ES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Totalmente administrado</a:t>
            </a:r>
            <a:endParaRPr lang="es-ES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 requiere administrar servidores</a:t>
            </a:r>
            <a:endParaRPr lang="es-ES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Accesible desde internet</a:t>
            </a:r>
            <a:endParaRPr lang="es-ES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99.999999999% de durabilidad (11 nueves)</a:t>
            </a:r>
            <a:endParaRPr lang="es-ES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sz="2000" dirty="0">
                <a:solidFill>
                  <a:schemeClr val="tx1"/>
                </a:solidFill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🎯</a:t>
            </a: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Clave examen:</a:t>
            </a:r>
            <a:b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S3 = almacenamiento de objetos altamente durable.</a:t>
            </a:r>
            <a:endParaRPr lang="es-ES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7626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AAD7C-D723-2361-FCC7-E660B1ACC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81A970-F5FD-3F7E-4CB0-E3D6DAAD7F78}"/>
              </a:ext>
            </a:extLst>
          </p:cNvPr>
          <p:cNvSpPr/>
          <p:nvPr/>
        </p:nvSpPr>
        <p:spPr>
          <a:xfrm>
            <a:off x="-72189" y="-12709"/>
            <a:ext cx="12276221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926E70-CAAA-037D-202C-3011C6AD0E90}"/>
              </a:ext>
            </a:extLst>
          </p:cNvPr>
          <p:cNvSpPr txBox="1"/>
          <p:nvPr/>
        </p:nvSpPr>
        <p:spPr>
          <a:xfrm>
            <a:off x="451660" y="199505"/>
            <a:ext cx="328327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sz="2800" b="1" dirty="0"/>
              <a:t>¿Cómo funciona S3?</a:t>
            </a:r>
            <a:r>
              <a:rPr lang="es-ES" sz="2800" b="1" dirty="0"/>
              <a:t> </a:t>
            </a:r>
            <a:endParaRPr sz="2800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546F0B30-639B-5433-656C-346BC1C6AB48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Los archivos se almacenan como </a:t>
            </a:r>
            <a:r>
              <a:rPr lang="es-EC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objetos</a:t>
            </a:r>
            <a:endParaRPr lang="es-ES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Los objetos viven dentro de </a:t>
            </a:r>
            <a:r>
              <a:rPr lang="es-EC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buckets</a:t>
            </a:r>
            <a:endParaRPr lang="es-ES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Cada bucket pertenece a una </a:t>
            </a:r>
            <a:r>
              <a:rPr lang="es-EC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región</a:t>
            </a:r>
            <a:endParaRPr lang="es-ES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Estructura básica:</a:t>
            </a:r>
            <a:b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Bucket → Objeto → Metadata</a:t>
            </a:r>
            <a:endParaRPr lang="es-ES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sz="2000" dirty="0">
                <a:solidFill>
                  <a:schemeClr val="tx1"/>
                </a:solidFill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🎯</a:t>
            </a: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No es almacenamiento en bloque.</a:t>
            </a:r>
            <a:endParaRPr lang="es-ES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4156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54813-8B94-5883-40BE-6E34A1C0A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CF6E09-EA39-4BB0-4726-7E82A3834CB9}"/>
              </a:ext>
            </a:extLst>
          </p:cNvPr>
          <p:cNvSpPr/>
          <p:nvPr/>
        </p:nvSpPr>
        <p:spPr>
          <a:xfrm>
            <a:off x="-72189" y="-12709"/>
            <a:ext cx="12276221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158FBD-837F-3832-9842-E12A202EDBDC}"/>
              </a:ext>
            </a:extLst>
          </p:cNvPr>
          <p:cNvSpPr txBox="1"/>
          <p:nvPr/>
        </p:nvSpPr>
        <p:spPr>
          <a:xfrm>
            <a:off x="451660" y="199505"/>
            <a:ext cx="23118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S3 es Regional</a:t>
            </a:r>
            <a:endParaRPr lang="es-ES" sz="2800" dirty="0">
              <a:solidFill>
                <a:schemeClr val="bg1"/>
              </a:solidFill>
            </a:endParaRP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F8FD3AB8-2899-021D-C9E2-AB5712E4A3C2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Los </a:t>
            </a:r>
            <a:r>
              <a:rPr lang="es-EC" sz="20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buckets</a:t>
            </a: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se crean en una región específica</a:t>
            </a:r>
            <a:endParaRPr lang="es-ES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Los datos se replican automáticamente en múltiples AZ</a:t>
            </a:r>
            <a:endParaRPr lang="es-ES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Alta durabilidad dentro de la región</a:t>
            </a:r>
            <a:endParaRPr lang="es-ES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sz="2000" dirty="0">
                <a:solidFill>
                  <a:schemeClr val="tx1"/>
                </a:solidFill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🎯</a:t>
            </a: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S3 es regional, no global. IAM es global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s-EC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 se quiere replicar en otra región, se debe activar Cross </a:t>
            </a:r>
            <a:r>
              <a:rPr lang="es-MX" sz="18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Region</a:t>
            </a:r>
            <a:r>
              <a:rPr lang="es-MX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18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Replication</a:t>
            </a:r>
            <a:endParaRPr lang="es-ES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s-ES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7112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AA14B-DB3C-9C79-D9C1-037D297B4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7F6055-A271-FB02-52C6-1A68E2E943FC}"/>
              </a:ext>
            </a:extLst>
          </p:cNvPr>
          <p:cNvSpPr/>
          <p:nvPr/>
        </p:nvSpPr>
        <p:spPr>
          <a:xfrm>
            <a:off x="-72189" y="-12709"/>
            <a:ext cx="12276221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39F9D0-4F0A-F4EE-ACDF-E9E18CA88053}"/>
              </a:ext>
            </a:extLst>
          </p:cNvPr>
          <p:cNvSpPr txBox="1"/>
          <p:nvPr/>
        </p:nvSpPr>
        <p:spPr>
          <a:xfrm>
            <a:off x="451660" y="199505"/>
            <a:ext cx="461927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Durabilidad vs Disponibilidad</a:t>
            </a:r>
            <a:r>
              <a:rPr lang="es-ES" sz="28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79708053-F0F6-7299-1755-1DF5A721D628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Durabilidad</a:t>
            </a:r>
            <a:endParaRPr lang="es-ES" sz="20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Probabilidad de no perder datos (11 nueves).</a:t>
            </a:r>
            <a:endParaRPr lang="es-ES" sz="20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Disponibilidad</a:t>
            </a:r>
            <a:endParaRPr lang="es-ES" sz="20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Probabilidad de poder acceder a los datos.</a:t>
            </a:r>
            <a:endParaRPr lang="es-ES" sz="20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965804B-68C4-4B20-85CF-7A9BD7CD23C1}"/>
              </a:ext>
            </a:extLst>
          </p:cNvPr>
          <p:cNvSpPr txBox="1"/>
          <p:nvPr/>
        </p:nvSpPr>
        <p:spPr>
          <a:xfrm>
            <a:off x="3005744" y="5212077"/>
            <a:ext cx="61805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s-EC" b="1" dirty="0">
                <a:solidFill>
                  <a:srgbClr val="FF0000"/>
                </a:solidFill>
              </a:rPr>
              <a:t>D</a:t>
            </a:r>
            <a:r>
              <a:rPr lang="es-EC" sz="1800" b="1" dirty="0">
                <a:solidFill>
                  <a:srgbClr val="FF0000"/>
                </a:solidFill>
              </a:rPr>
              <a:t>isponibilidad: </a:t>
            </a:r>
            <a:r>
              <a:rPr lang="es-EC" sz="1800" dirty="0">
                <a:solidFill>
                  <a:schemeClr val="tx1"/>
                </a:solidFill>
              </a:rPr>
              <a:t>La cantidad de tiempo que el servicio está operativo y accesible cuando lo necesitas</a:t>
            </a:r>
            <a:endParaRPr lang="es-MX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6215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1DC42-E785-DCBF-8C7A-32342360F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E0A511-17D8-924E-DBB7-1841C390A9D1}"/>
              </a:ext>
            </a:extLst>
          </p:cNvPr>
          <p:cNvSpPr/>
          <p:nvPr/>
        </p:nvSpPr>
        <p:spPr>
          <a:xfrm>
            <a:off x="-72189" y="-12709"/>
            <a:ext cx="12276221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4596B6-692D-4BAB-B9DC-0ECFA3148109}"/>
              </a:ext>
            </a:extLst>
          </p:cNvPr>
          <p:cNvSpPr txBox="1"/>
          <p:nvPr/>
        </p:nvSpPr>
        <p:spPr>
          <a:xfrm>
            <a:off x="451660" y="199505"/>
            <a:ext cx="183062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Versioning</a:t>
            </a:r>
            <a:r>
              <a:rPr lang="es-ES" sz="28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34EB0249-9DD0-24BF-09F0-854B38C0FE68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Permite:</a:t>
            </a:r>
            <a:endParaRPr lang="es-ES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Recuperar archivos eliminados</a:t>
            </a:r>
            <a:endParaRPr lang="es-ES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Mantener múltiples versiones</a:t>
            </a:r>
            <a:endParaRPr lang="es-ES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Proteger contra sobrescritura accidental</a:t>
            </a:r>
            <a:endParaRPr lang="es-ES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sz="2000" dirty="0">
                <a:solidFill>
                  <a:schemeClr val="tx1"/>
                </a:solidFill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🎯</a:t>
            </a: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Caso típico: restaurar archivos borrados.</a:t>
            </a:r>
            <a:endParaRPr lang="es-ES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>
              <a:solidFill>
                <a:schemeClr val="tx1"/>
              </a:solidFill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F9727800-FD90-49E3-A746-2258E3FBF93C}"/>
              </a:ext>
            </a:extLst>
          </p:cNvPr>
          <p:cNvSpPr txBox="1"/>
          <p:nvPr/>
        </p:nvSpPr>
        <p:spPr>
          <a:xfrm>
            <a:off x="1518457" y="1964574"/>
            <a:ext cx="174887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sz="2800" b="1" dirty="0" err="1">
                <a:solidFill>
                  <a:schemeClr val="bg2">
                    <a:lumMod val="10000"/>
                  </a:schemeClr>
                </a:solidFill>
              </a:rPr>
              <a:t>Versioning</a:t>
            </a:r>
            <a:endParaRPr lang="es-ES" sz="2800" b="1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2080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25811-0FA6-5CF5-2A64-15D1B5BF6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37CAB1-7682-264D-9F49-D52C50ACAC02}"/>
              </a:ext>
            </a:extLst>
          </p:cNvPr>
          <p:cNvSpPr/>
          <p:nvPr/>
        </p:nvSpPr>
        <p:spPr>
          <a:xfrm>
            <a:off x="-72189" y="-12709"/>
            <a:ext cx="12276221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FD1ADE-BB90-B797-49E8-1264CF95ADE6}"/>
              </a:ext>
            </a:extLst>
          </p:cNvPr>
          <p:cNvSpPr txBox="1"/>
          <p:nvPr/>
        </p:nvSpPr>
        <p:spPr>
          <a:xfrm>
            <a:off x="451660" y="199505"/>
            <a:ext cx="27302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Lifecycle Policies </a:t>
            </a:r>
            <a:endParaRPr lang="es-ES" sz="2800" dirty="0">
              <a:solidFill>
                <a:schemeClr val="bg1"/>
              </a:solidFill>
            </a:endParaRP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3E8363C9-9605-F50A-26A3-EAF8D61D66AC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Automatiza:</a:t>
            </a:r>
            <a:endParaRPr lang="es-ES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Mover objetos entre clases</a:t>
            </a:r>
            <a:endParaRPr lang="es-ES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Archivar en Glacier</a:t>
            </a:r>
            <a:endParaRPr lang="es-ES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Eliminar objetos después de X tiempo</a:t>
            </a:r>
            <a:endParaRPr lang="es-ES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sz="2000" dirty="0">
                <a:solidFill>
                  <a:schemeClr val="tx1"/>
                </a:solidFill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🎯</a:t>
            </a: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Optimización automática de costos.</a:t>
            </a:r>
            <a:endParaRPr lang="es-ES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>
              <a:solidFill>
                <a:schemeClr val="tx1"/>
              </a:solidFill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AF7AD3BD-1695-4864-B33A-0C99351B1BF0}"/>
              </a:ext>
            </a:extLst>
          </p:cNvPr>
          <p:cNvSpPr txBox="1"/>
          <p:nvPr/>
        </p:nvSpPr>
        <p:spPr>
          <a:xfrm>
            <a:off x="1518457" y="1964574"/>
            <a:ext cx="264790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sz="2800" b="1" dirty="0" err="1">
                <a:solidFill>
                  <a:schemeClr val="bg2">
                    <a:lumMod val="10000"/>
                  </a:schemeClr>
                </a:solidFill>
              </a:rPr>
              <a:t>Lifecycle</a:t>
            </a:r>
            <a:r>
              <a:rPr lang="es-EC" sz="28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s-EC" sz="2800" b="1" dirty="0" err="1">
                <a:solidFill>
                  <a:schemeClr val="bg2">
                    <a:lumMod val="10000"/>
                  </a:schemeClr>
                </a:solidFill>
              </a:rPr>
              <a:t>Policies</a:t>
            </a:r>
            <a:endParaRPr lang="es-ES" sz="2800" b="1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0592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6DA20-DA58-AA9D-920C-E6B2F9F4B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F14B4D-908E-F044-5E58-BE3847DD0AE7}"/>
              </a:ext>
            </a:extLst>
          </p:cNvPr>
          <p:cNvSpPr/>
          <p:nvPr/>
        </p:nvSpPr>
        <p:spPr>
          <a:xfrm>
            <a:off x="-72189" y="-12709"/>
            <a:ext cx="12276221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FDBFEB-967C-6442-4B4E-AA1C8BDFC80C}"/>
              </a:ext>
            </a:extLst>
          </p:cNvPr>
          <p:cNvSpPr txBox="1"/>
          <p:nvPr/>
        </p:nvSpPr>
        <p:spPr>
          <a:xfrm>
            <a:off x="451660" y="199505"/>
            <a:ext cx="264848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Seguridad en S3</a:t>
            </a:r>
            <a:r>
              <a:rPr lang="es-ES" sz="28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3783E8EA-927E-ABFB-E118-D36AED4D30E8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Conceptos clave:</a:t>
            </a:r>
            <a:endParaRPr lang="es-ES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Block </a:t>
            </a:r>
            <a:r>
              <a:rPr lang="es-EC" sz="20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Access – Evita acceso público accidental</a:t>
            </a:r>
            <a:endParaRPr lang="es-ES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sz="20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Bucket</a:t>
            </a: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C" sz="20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Policy</a:t>
            </a: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Acceso desde </a:t>
            </a:r>
            <a:r>
              <a:rPr lang="es-EC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otra cuenta</a:t>
            </a:r>
            <a:endParaRPr lang="es-ES" b="1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Encriptación :</a:t>
            </a:r>
          </a:p>
          <a:p>
            <a:pPr marL="1257300" lvl="2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Cifrado en reposo – automático</a:t>
            </a:r>
          </a:p>
          <a:p>
            <a:pPr marL="1257300" lvl="2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Cifrado en tránsito – usando </a:t>
            </a:r>
            <a:r>
              <a:rPr lang="es-EC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HTTPs</a:t>
            </a:r>
            <a:endParaRPr lang="es-ES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>
              <a:solidFill>
                <a:schemeClr val="tx1"/>
              </a:solidFill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57AEA8C4-DAE8-4C7F-92A7-4F555E2192EB}"/>
              </a:ext>
            </a:extLst>
          </p:cNvPr>
          <p:cNvSpPr txBox="1"/>
          <p:nvPr/>
        </p:nvSpPr>
        <p:spPr>
          <a:xfrm>
            <a:off x="1518457" y="1964574"/>
            <a:ext cx="256672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MX" sz="2800" b="1" dirty="0">
                <a:solidFill>
                  <a:schemeClr val="bg2">
                    <a:lumMod val="10000"/>
                  </a:schemeClr>
                </a:solidFill>
              </a:rPr>
              <a:t>S</a:t>
            </a:r>
            <a:r>
              <a:rPr lang="es-EC" sz="2800" b="1" dirty="0" err="1">
                <a:solidFill>
                  <a:schemeClr val="bg2">
                    <a:lumMod val="10000"/>
                  </a:schemeClr>
                </a:solidFill>
              </a:rPr>
              <a:t>eguridad</a:t>
            </a:r>
            <a:r>
              <a:rPr lang="es-EC" sz="2800" b="1" dirty="0">
                <a:solidFill>
                  <a:schemeClr val="bg2">
                    <a:lumMod val="10000"/>
                  </a:schemeClr>
                </a:solidFill>
              </a:rPr>
              <a:t> en S3</a:t>
            </a:r>
            <a:endParaRPr lang="es-ES" sz="2800" b="1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2649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412A0-67E7-3495-ED60-A9D052568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EF5FEB-FA54-37E0-5D97-85CBDE7165E6}"/>
              </a:ext>
            </a:extLst>
          </p:cNvPr>
          <p:cNvSpPr/>
          <p:nvPr/>
        </p:nvSpPr>
        <p:spPr>
          <a:xfrm>
            <a:off x="-72189" y="-12709"/>
            <a:ext cx="12276221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A8B8D5-ACA5-355F-18AE-A0DF96D3CF26}"/>
              </a:ext>
            </a:extLst>
          </p:cNvPr>
          <p:cNvSpPr txBox="1"/>
          <p:nvPr/>
        </p:nvSpPr>
        <p:spPr>
          <a:xfrm>
            <a:off x="451660" y="199505"/>
            <a:ext cx="341247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Hosting Web Estático </a:t>
            </a:r>
            <a:endParaRPr lang="es-ES" sz="2800" dirty="0">
              <a:solidFill>
                <a:schemeClr val="bg1"/>
              </a:solidFill>
            </a:endParaRP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CD2342C6-8C2B-EB1E-DD37-E3E3509E80A3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Permite:</a:t>
            </a:r>
            <a:endParaRPr lang="es-ES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Hospedar HTML, CSS y JS</a:t>
            </a:r>
            <a:endParaRPr lang="es-ES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 servidores</a:t>
            </a:r>
            <a:endParaRPr lang="es-ES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Ideal para sitios estáticos</a:t>
            </a:r>
            <a:endParaRPr lang="es-ES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es-EC" sz="2000" dirty="0">
                <a:solidFill>
                  <a:schemeClr val="tx1"/>
                </a:solidFill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🎯</a:t>
            </a: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Caso examen: sitio web simple sin backend.</a:t>
            </a:r>
            <a:r>
              <a:rPr lang="es-ES" sz="2000" dirty="0">
                <a:solidFill>
                  <a:schemeClr val="tx1"/>
                </a:solidFill>
                <a:effectLst/>
              </a:rPr>
              <a:t> </a:t>
            </a:r>
            <a:endParaRPr lang="es-MX" sz="2000" dirty="0">
              <a:solidFill>
                <a:schemeClr val="tx1"/>
              </a:solidFill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3000A267-59A1-4855-A5FB-4C0E65B23558}"/>
              </a:ext>
            </a:extLst>
          </p:cNvPr>
          <p:cNvSpPr txBox="1"/>
          <p:nvPr/>
        </p:nvSpPr>
        <p:spPr>
          <a:xfrm>
            <a:off x="1518457" y="1964574"/>
            <a:ext cx="333072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MX" sz="2800" b="1" dirty="0">
                <a:solidFill>
                  <a:schemeClr val="bg2">
                    <a:lumMod val="10000"/>
                  </a:schemeClr>
                </a:solidFill>
              </a:rPr>
              <a:t>H</a:t>
            </a:r>
            <a:r>
              <a:rPr lang="es-EC" sz="2800" b="1" dirty="0" err="1">
                <a:solidFill>
                  <a:schemeClr val="bg2">
                    <a:lumMod val="10000"/>
                  </a:schemeClr>
                </a:solidFill>
              </a:rPr>
              <a:t>osting</a:t>
            </a:r>
            <a:r>
              <a:rPr lang="es-EC" sz="2800" b="1" dirty="0">
                <a:solidFill>
                  <a:schemeClr val="bg2">
                    <a:lumMod val="10000"/>
                  </a:schemeClr>
                </a:solidFill>
              </a:rPr>
              <a:t> Web Estático</a:t>
            </a:r>
            <a:endParaRPr lang="es-ES" sz="2800" b="1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4772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CB1B9-3F9A-6504-ABDB-18DA59E8A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A5B5D2-A785-DF01-BAD1-7650C859BA32}"/>
              </a:ext>
            </a:extLst>
          </p:cNvPr>
          <p:cNvSpPr/>
          <p:nvPr/>
        </p:nvSpPr>
        <p:spPr>
          <a:xfrm>
            <a:off x="-72189" y="-12709"/>
            <a:ext cx="12276221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89114C-D2A2-A598-BB5A-FAE0C243950C}"/>
              </a:ext>
            </a:extLst>
          </p:cNvPr>
          <p:cNvSpPr txBox="1"/>
          <p:nvPr/>
        </p:nvSpPr>
        <p:spPr>
          <a:xfrm>
            <a:off x="451660" y="199505"/>
            <a:ext cx="513172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Límites y Características Técnicas </a:t>
            </a:r>
            <a:endParaRPr lang="es-ES" sz="2800" dirty="0">
              <a:solidFill>
                <a:schemeClr val="bg1"/>
              </a:solidFill>
            </a:endParaRP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8F52FE5A-4A76-D869-021B-7B97ECD7ECD8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Tamaño máximo por objeto: </a:t>
            </a:r>
            <a:r>
              <a:rPr lang="es-EC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 TB</a:t>
            </a:r>
            <a:endParaRPr lang="es-ES" b="1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Escalabilidad automática</a:t>
            </a:r>
            <a:endParaRPr lang="es-ES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 es file system tradicional</a:t>
            </a:r>
            <a:endParaRPr lang="es-ES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 es base de datos</a:t>
            </a:r>
            <a:endParaRPr lang="es-ES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29A4F949-C9C1-4BBD-B15D-D22541FA4648}"/>
              </a:ext>
            </a:extLst>
          </p:cNvPr>
          <p:cNvSpPr txBox="1"/>
          <p:nvPr/>
        </p:nvSpPr>
        <p:spPr>
          <a:xfrm>
            <a:off x="1518457" y="1964574"/>
            <a:ext cx="498155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MX" sz="2800" b="1" dirty="0">
                <a:solidFill>
                  <a:schemeClr val="bg2">
                    <a:lumMod val="10000"/>
                  </a:schemeClr>
                </a:solidFill>
              </a:rPr>
              <a:t>L</a:t>
            </a:r>
            <a:r>
              <a:rPr lang="es-EC" sz="2800" b="1" dirty="0" err="1">
                <a:solidFill>
                  <a:schemeClr val="bg2">
                    <a:lumMod val="10000"/>
                  </a:schemeClr>
                </a:solidFill>
              </a:rPr>
              <a:t>ímites</a:t>
            </a:r>
            <a:r>
              <a:rPr lang="es-EC" sz="2800" b="1" dirty="0">
                <a:solidFill>
                  <a:schemeClr val="bg2">
                    <a:lumMod val="10000"/>
                  </a:schemeClr>
                </a:solidFill>
              </a:rPr>
              <a:t> y características técnicas</a:t>
            </a:r>
            <a:endParaRPr lang="es-ES" sz="2800" b="1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72563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9200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91985" y="309723"/>
            <a:ext cx="232627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MX" sz="2800" dirty="0"/>
              <a:t>El primer paso</a:t>
            </a:r>
            <a:endParaRPr sz="2800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2718263" y="2680859"/>
            <a:ext cx="7500851" cy="3183772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133" b="1" dirty="0"/>
              <a:t>🚀 Hoy empieza el camino hacia la certificación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/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/>
              <a:t>		No se trata solo de aprobar…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/>
              <a:t>			se trata de comprender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60519DD-BE48-4AD8-92F0-B2715AAB5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389" y="4501375"/>
            <a:ext cx="1789569" cy="107234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E6F0039-F237-47BB-AF00-7BF1908A6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8310" y="1663749"/>
            <a:ext cx="1912943" cy="63764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BF3B10F-6186-490E-B92B-6AC971A629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8823" y="1464036"/>
            <a:ext cx="1071563" cy="107156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966766A-DAA8-42EC-99E5-1DE316F277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6333" y="1284284"/>
            <a:ext cx="2348625" cy="234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791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1629</TotalTime>
  <Words>639</Words>
  <Application>Microsoft Office PowerPoint</Application>
  <PresentationFormat>Panorámica</PresentationFormat>
  <Paragraphs>141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5" baseType="lpstr">
      <vt:lpstr>Arial</vt:lpstr>
      <vt:lpstr>Calibri</vt:lpstr>
      <vt:lpstr>Segoe UI Emoji</vt:lpstr>
      <vt:lpstr>Symbol</vt:lpstr>
      <vt:lpstr>Times New Roman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Santiago Mosquera</dc:creator>
  <cp:keywords/>
  <dc:description>generated using python-pptx</dc:description>
  <cp:lastModifiedBy>SANTIAGO FERNANDO MOSQUERA VIZUETE</cp:lastModifiedBy>
  <cp:revision>23</cp:revision>
  <dcterms:created xsi:type="dcterms:W3CDTF">2013-01-27T09:14:16Z</dcterms:created>
  <dcterms:modified xsi:type="dcterms:W3CDTF">2026-02-19T11:53:39Z</dcterms:modified>
  <cp:category/>
</cp:coreProperties>
</file>