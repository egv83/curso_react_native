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80" r:id="rId8"/>
    <p:sldId id="268" r:id="rId9"/>
    <p:sldId id="281" r:id="rId10"/>
    <p:sldId id="282" r:id="rId11"/>
    <p:sldId id="283" r:id="rId12"/>
    <p:sldId id="284" r:id="rId13"/>
    <p:sldId id="267" r:id="rId14"/>
    <p:sldId id="269" r:id="rId15"/>
    <p:sldId id="279" r:id="rId16"/>
    <p:sldId id="270" r:id="rId17"/>
    <p:sldId id="288" r:id="rId18"/>
    <p:sldId id="275" r:id="rId19"/>
    <p:sldId id="271" r:id="rId20"/>
    <p:sldId id="272" r:id="rId21"/>
    <p:sldId id="286" r:id="rId22"/>
    <p:sldId id="285" r:id="rId23"/>
    <p:sldId id="287" r:id="rId24"/>
    <p:sldId id="27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4"/>
  </p:normalViewPr>
  <p:slideViewPr>
    <p:cSldViewPr snapToGrid="0" snapToObjects="1">
      <p:cViewPr varScale="1">
        <p:scale>
          <a:sx n="92" d="100"/>
          <a:sy n="92" d="100"/>
        </p:scale>
        <p:origin x="226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" y="0"/>
            <a:ext cx="121615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17903" y="2153918"/>
            <a:ext cx="4931157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32F3E"/>
                </a:solidFill>
              </a:defRPr>
            </a:pPr>
            <a:r>
              <a:rPr sz="3800" dirty="0"/>
              <a:t>AWS Cloud Practitioner</a:t>
            </a:r>
          </a:p>
          <a:p>
            <a:pPr algn="ctr">
              <a:defRPr sz="2000"/>
            </a:pPr>
            <a:r>
              <a:rPr sz="2000" dirty="0" err="1"/>
              <a:t>Curso</a:t>
            </a:r>
            <a:r>
              <a:rPr sz="2000" dirty="0"/>
              <a:t> de </a:t>
            </a:r>
            <a:r>
              <a:rPr sz="2000" dirty="0" err="1"/>
              <a:t>preparación</a:t>
            </a:r>
            <a:r>
              <a:rPr sz="2000" dirty="0"/>
              <a:t> para la </a:t>
            </a:r>
            <a:r>
              <a:rPr sz="2000" dirty="0" err="1"/>
              <a:t>certificación</a:t>
            </a:r>
            <a:endParaRPr lang="es-MX" sz="2000" dirty="0"/>
          </a:p>
          <a:p>
            <a:pPr algn="ctr">
              <a:defRPr sz="2000"/>
            </a:pPr>
            <a:endParaRPr lang="es-EC" sz="2000" dirty="0"/>
          </a:p>
          <a:p>
            <a:pPr algn="ctr">
              <a:defRPr sz="2000"/>
            </a:pPr>
            <a:r>
              <a:rPr lang="es-EC" sz="2800" b="1" dirty="0"/>
              <a:t>Servicios BDD</a:t>
            </a:r>
            <a:endParaRPr sz="28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390A98-93D6-4100-A6D0-F72B7FA1E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603" y="3896543"/>
            <a:ext cx="1361745" cy="45391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E7327FF-430C-43C4-B915-654257255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041" y="3355982"/>
            <a:ext cx="1276635" cy="12766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012C6B4-2AFD-4F0C-9C18-47059E822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62" y="1325603"/>
            <a:ext cx="3874289" cy="387428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8769C84-3974-43B6-89AB-83B56D0E3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43" y="4917106"/>
            <a:ext cx="1257851" cy="125785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5DF995A-3221-4174-A109-609658505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839" y="5100191"/>
            <a:ext cx="2286000" cy="762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0528361-CFAD-4C53-B1AB-B98CC85CA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707" y="5156886"/>
            <a:ext cx="1298847" cy="7782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59170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S" sz="2800" b="1" dirty="0"/>
              <a:t>Panorama General de Bases de Datos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0"/>
            <a:ext cx="9692639" cy="411480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endParaRPr lang="es-EC" dirty="0">
              <a:solidFill>
                <a:schemeClr val="tx1"/>
              </a:solidFill>
            </a:endParaRPr>
          </a:p>
          <a:p>
            <a:pPr lvl="1"/>
            <a:r>
              <a:rPr lang="es-EC" dirty="0">
                <a:solidFill>
                  <a:schemeClr val="tx1"/>
                </a:solidFill>
              </a:rPr>
              <a:t>AWS ofrece:</a:t>
            </a:r>
            <a:br>
              <a:rPr lang="es-EC" dirty="0">
                <a:solidFill>
                  <a:schemeClr val="tx1"/>
                </a:solidFill>
              </a:rPr>
            </a:b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Bases de datos </a:t>
            </a:r>
            <a:r>
              <a:rPr lang="es-EC" b="1" dirty="0">
                <a:solidFill>
                  <a:schemeClr val="tx1"/>
                </a:solidFill>
              </a:rPr>
              <a:t>Relacionales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Bases de datos </a:t>
            </a:r>
            <a:r>
              <a:rPr lang="es-EC" b="1" dirty="0">
                <a:solidFill>
                  <a:schemeClr val="tx1"/>
                </a:solidFill>
              </a:rPr>
              <a:t>NoSQL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Bases para </a:t>
            </a:r>
            <a:r>
              <a:rPr lang="es-EC" b="1" dirty="0">
                <a:solidFill>
                  <a:schemeClr val="tx1"/>
                </a:solidFill>
              </a:rPr>
              <a:t>Analítica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Servicios de </a:t>
            </a:r>
            <a:r>
              <a:rPr lang="es-EC" b="1" dirty="0">
                <a:solidFill>
                  <a:schemeClr val="tx1"/>
                </a:solidFill>
              </a:rPr>
              <a:t>Caché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Servicios de </a:t>
            </a:r>
            <a:r>
              <a:rPr lang="es-EC" b="1" dirty="0">
                <a:solidFill>
                  <a:schemeClr val="tx1"/>
                </a:solidFill>
              </a:rPr>
              <a:t>Respaldo administrado</a:t>
            </a:r>
            <a:endParaRPr lang="es-ES" sz="1600" dirty="0">
              <a:solidFill>
                <a:schemeClr val="tx1"/>
              </a:solidFill>
            </a:endParaRPr>
          </a:p>
          <a:p>
            <a:pPr lvl="1"/>
            <a:br>
              <a:rPr lang="es-EC" dirty="0">
                <a:solidFill>
                  <a:schemeClr val="tx1"/>
                </a:solidFill>
              </a:rPr>
            </a:br>
            <a:r>
              <a:rPr lang="es-EC" dirty="0">
                <a:solidFill>
                  <a:schemeClr val="tx1"/>
                </a:solidFill>
              </a:rPr>
              <a:t>🎯 En el examen debes identificar:</a:t>
            </a:r>
            <a:br>
              <a:rPr lang="es-EC" dirty="0">
                <a:solidFill>
                  <a:schemeClr val="tx1"/>
                </a:solidFill>
              </a:rPr>
            </a:b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¿Relacional?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¿NoSQL?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¿Analítica?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¿Caché?</a:t>
            </a:r>
            <a:endParaRPr lang="es-ES" sz="1600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sz="21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8328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b="1" dirty="0">
                <a:solidFill>
                  <a:schemeClr val="bg1"/>
                </a:solidFill>
              </a:rPr>
              <a:t>Amazon RDS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C" b="1" dirty="0">
                <a:solidFill>
                  <a:schemeClr val="bg1"/>
                </a:solidFill>
              </a:rPr>
              <a:t>Relational Database Service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r>
              <a:rPr lang="es-EC" sz="2800" b="1" dirty="0">
                <a:solidFill>
                  <a:schemeClr val="tx1"/>
                </a:solidFill>
              </a:rPr>
              <a:t>Amazon RDS</a:t>
            </a:r>
          </a:p>
          <a:p>
            <a:pPr lvl="1"/>
            <a:endParaRPr lang="es-EC" dirty="0">
              <a:solidFill>
                <a:schemeClr val="tx1"/>
              </a:solidFill>
            </a:endParaRPr>
          </a:p>
          <a:p>
            <a:pPr lvl="1"/>
            <a:r>
              <a:rPr lang="es-EC" dirty="0">
                <a:solidFill>
                  <a:schemeClr val="tx1"/>
                </a:solidFill>
              </a:rPr>
              <a:t>Base de datos relacional administrada.</a:t>
            </a:r>
            <a:br>
              <a:rPr lang="es-EC" dirty="0">
                <a:solidFill>
                  <a:schemeClr val="tx1"/>
                </a:solidFill>
              </a:rPr>
            </a:br>
            <a:endParaRPr lang="es-ES" sz="1600" dirty="0">
              <a:solidFill>
                <a:schemeClr val="tx1"/>
              </a:solidFill>
            </a:endParaRPr>
          </a:p>
          <a:p>
            <a:pPr lvl="1"/>
            <a:r>
              <a:rPr lang="es-EC" dirty="0">
                <a:solidFill>
                  <a:schemeClr val="tx1"/>
                </a:solidFill>
              </a:rPr>
              <a:t>Soporta:</a:t>
            </a:r>
            <a:br>
              <a:rPr lang="es-EC" dirty="0">
                <a:solidFill>
                  <a:schemeClr val="tx1"/>
                </a:solidFill>
              </a:rPr>
            </a:br>
            <a:endParaRPr lang="es-ES" sz="1600" dirty="0">
              <a:solidFill>
                <a:schemeClr val="tx1"/>
              </a:solidFill>
            </a:endParaRPr>
          </a:p>
          <a:p>
            <a:pPr lvl="1"/>
            <a:r>
              <a:rPr lang="es-EC" dirty="0">
                <a:solidFill>
                  <a:schemeClr val="tx1"/>
                </a:solidFill>
              </a:rPr>
              <a:t>	MySQL - 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C" dirty="0">
                <a:solidFill>
                  <a:schemeClr val="tx1"/>
                </a:solidFill>
              </a:rPr>
              <a:t>PostgreSQL -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C" dirty="0" err="1">
                <a:solidFill>
                  <a:schemeClr val="tx1"/>
                </a:solidFill>
              </a:rPr>
              <a:t>MariaDB</a:t>
            </a:r>
            <a:r>
              <a:rPr lang="es-ES" sz="1600" dirty="0">
                <a:solidFill>
                  <a:schemeClr val="tx1"/>
                </a:solidFill>
              </a:rPr>
              <a:t> – </a:t>
            </a:r>
            <a:r>
              <a:rPr lang="es-EC" dirty="0">
                <a:solidFill>
                  <a:schemeClr val="tx1"/>
                </a:solidFill>
              </a:rPr>
              <a:t>Oracle -</a:t>
            </a:r>
            <a:r>
              <a:rPr lang="es-ES" sz="1600" dirty="0">
                <a:solidFill>
                  <a:schemeClr val="tx1"/>
                </a:solidFill>
              </a:rPr>
              <a:t> </a:t>
            </a:r>
            <a:r>
              <a:rPr lang="es-EC" dirty="0">
                <a:solidFill>
                  <a:schemeClr val="tx1"/>
                </a:solidFill>
              </a:rPr>
              <a:t>SQL Server</a:t>
            </a:r>
            <a:br>
              <a:rPr lang="es-EC" dirty="0">
                <a:solidFill>
                  <a:schemeClr val="tx1"/>
                </a:solidFill>
              </a:rPr>
            </a:br>
            <a:endParaRPr lang="es-ES" sz="1600" dirty="0">
              <a:solidFill>
                <a:schemeClr val="tx1"/>
              </a:solidFill>
            </a:endParaRPr>
          </a:p>
          <a:p>
            <a:pPr lvl="1"/>
            <a:r>
              <a:rPr lang="es-EC" b="1" dirty="0">
                <a:solidFill>
                  <a:schemeClr val="tx1"/>
                </a:solidFill>
              </a:rPr>
              <a:t>Beneficios:</a:t>
            </a:r>
            <a:br>
              <a:rPr lang="es-EC" b="1" dirty="0">
                <a:solidFill>
                  <a:schemeClr val="tx1"/>
                </a:solidFill>
              </a:rPr>
            </a:br>
            <a:endParaRPr lang="es-ES" sz="14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Backups automáticos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Parches automáticos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Multi-AZ (alta disponibilidad)</a:t>
            </a:r>
            <a:endParaRPr lang="es-ES" sz="16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tx1"/>
                </a:solidFill>
              </a:rPr>
              <a:t>Réplicas de lectura</a:t>
            </a:r>
            <a:br>
              <a:rPr lang="es-EC" dirty="0">
                <a:solidFill>
                  <a:schemeClr val="tx1"/>
                </a:solidFill>
              </a:rPr>
            </a:br>
            <a:endParaRPr lang="es-ES" sz="1600" dirty="0">
              <a:solidFill>
                <a:schemeClr val="tx1"/>
              </a:solidFill>
            </a:endParaRPr>
          </a:p>
          <a:p>
            <a:pPr lvl="1"/>
            <a:r>
              <a:rPr lang="es-EC" dirty="0">
                <a:solidFill>
                  <a:schemeClr val="tx1"/>
                </a:solidFill>
              </a:rPr>
              <a:t>🎯 Caso típico:</a:t>
            </a:r>
            <a:br>
              <a:rPr lang="es-EC" dirty="0">
                <a:solidFill>
                  <a:schemeClr val="tx1"/>
                </a:solidFill>
              </a:rPr>
            </a:br>
            <a:r>
              <a:rPr lang="es-EC" dirty="0">
                <a:solidFill>
                  <a:schemeClr val="tx1"/>
                </a:solidFill>
              </a:rPr>
              <a:t>“Base relacional sin administrar infraestructura” → </a:t>
            </a:r>
            <a:r>
              <a:rPr lang="es-EC" b="1" dirty="0">
                <a:solidFill>
                  <a:schemeClr val="tx1"/>
                </a:solidFill>
              </a:rPr>
              <a:t>RDS</a:t>
            </a:r>
            <a:endParaRPr lang="es-ES" sz="16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63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415049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b="1" dirty="0">
                <a:solidFill>
                  <a:schemeClr val="bg1"/>
                </a:solidFill>
              </a:rPr>
              <a:t>Amazon Aurora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C" b="1" dirty="0">
                <a:solidFill>
                  <a:schemeClr val="bg1"/>
                </a:solidFill>
              </a:rPr>
              <a:t>Motor relacional optimizado para la nube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400" b="1" dirty="0">
                <a:solidFill>
                  <a:schemeClr val="tx1"/>
                </a:solidFill>
              </a:rPr>
              <a:t>Amazon Aurora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Compatible con: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Diferencias frente a RDS tradicional: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Mayor rendimiento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Escalabilidad más rápida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Replicación más eficiente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Mejor disponibilidad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Caso típico:</a:t>
            </a:r>
            <a:b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“Mayor rendimiento y alta disponibilidad” → </a:t>
            </a:r>
            <a:r>
              <a:rPr lang="es-EC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Aurora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782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8857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Aurora Serverless</a:t>
            </a:r>
            <a:r>
              <a:rPr lang="es-ES" sz="2800" b="1" dirty="0"/>
              <a:t> 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EC" sz="2000" b="1" dirty="0">
                <a:solidFill>
                  <a:schemeClr val="tx1"/>
                </a:solidFill>
              </a:rPr>
              <a:t>Aurora </a:t>
            </a:r>
            <a:r>
              <a:rPr lang="es-EC" sz="2000" b="1" dirty="0" err="1">
                <a:solidFill>
                  <a:schemeClr val="tx1"/>
                </a:solidFill>
              </a:rPr>
              <a:t>Serverless</a:t>
            </a:r>
            <a:endParaRPr lang="es-EC" sz="2000" b="1" dirty="0">
              <a:solidFill>
                <a:schemeClr val="tx1"/>
              </a:solidFill>
            </a:endParaRPr>
          </a:p>
          <a:p>
            <a:pPr lvl="1"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s-EC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Escala automáticamente.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requiere capacidad fija.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Pago por uso real.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Caso típico:</a:t>
            </a:r>
            <a:b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Aplicación con tráfico impredecible → </a:t>
            </a:r>
            <a:r>
              <a:rPr lang="es-EC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Aurora Serverless</a:t>
            </a:r>
            <a:endParaRPr lang="es-ES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480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32354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Amazon DynamoDB</a:t>
            </a:r>
            <a:r>
              <a:rPr lang="es-ES" sz="2800" b="1" dirty="0"/>
              <a:t> 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sz="3200" b="1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DynamoDB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Serverless</a:t>
            </a:r>
            <a:endParaRPr lang="es-EC" sz="2000" dirty="0"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NoSQL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Baja latencia (milisegundos)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Escalado automático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Alta disponibilidad</a:t>
            </a: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MX" sz="20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Guarda ítems por clave primaria y permite atributos tipo JSON.</a:t>
            </a: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Caso típico:</a:t>
            </a:r>
            <a:b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Aplicación móvil con millones de usuarios → </a:t>
            </a:r>
            <a:r>
              <a:rPr lang="es-EC" sz="2000" b="1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DynamoDB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907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85732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Amazon </a:t>
            </a:r>
            <a:r>
              <a:rPr lang="es-EC" sz="2800" b="1" dirty="0" err="1"/>
              <a:t>Neptune</a:t>
            </a:r>
            <a:r>
              <a:rPr lang="es-ES" sz="2800" b="1" dirty="0"/>
              <a:t> 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EC" sz="3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EC" sz="3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EC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400" b="1" dirty="0" err="1">
                <a:solidFill>
                  <a:schemeClr val="tx1"/>
                </a:solidFill>
              </a:rPr>
              <a:t>Neptune</a:t>
            </a:r>
            <a:endParaRPr lang="es-MX" sz="2400" b="1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dirty="0">
                <a:solidFill>
                  <a:schemeClr val="tx1"/>
                </a:solidFill>
              </a:rPr>
              <a:t>Base de datos NoSQL de </a:t>
            </a:r>
            <a:r>
              <a:rPr lang="es-MX" sz="2133" b="1" dirty="0">
                <a:solidFill>
                  <a:srgbClr val="FF0000"/>
                </a:solidFill>
              </a:rPr>
              <a:t>grafos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dirty="0">
                <a:solidFill>
                  <a:schemeClr val="tx1"/>
                </a:solidFill>
              </a:rPr>
              <a:t>Servicio administrado para bases de datos tipo </a:t>
            </a:r>
            <a:r>
              <a:rPr lang="es-MX" sz="2133" dirty="0" err="1">
                <a:solidFill>
                  <a:schemeClr val="tx1"/>
                </a:solidFill>
              </a:rPr>
              <a:t>Graph</a:t>
            </a:r>
            <a:r>
              <a:rPr lang="es-MX" sz="2133" dirty="0">
                <a:solidFill>
                  <a:schemeClr val="tx1"/>
                </a:solidFill>
              </a:rPr>
              <a:t>.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dirty="0">
                <a:solidFill>
                  <a:schemeClr val="tx1"/>
                </a:solidFill>
              </a:rPr>
              <a:t>En lugar de tablas, usa: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dirty="0">
                <a:solidFill>
                  <a:schemeClr val="tx1"/>
                </a:solidFill>
              </a:rPr>
              <a:t>	Nodos   -  Relaciones (</a:t>
            </a:r>
            <a:r>
              <a:rPr lang="es-MX" sz="2133" dirty="0" err="1">
                <a:solidFill>
                  <a:schemeClr val="tx1"/>
                </a:solidFill>
              </a:rPr>
              <a:t>edges</a:t>
            </a:r>
            <a:r>
              <a:rPr lang="es-MX" sz="2133" dirty="0">
                <a:solidFill>
                  <a:schemeClr val="tx1"/>
                </a:solidFill>
              </a:rPr>
              <a:t>)  -  Propiedades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dirty="0">
                <a:solidFill>
                  <a:schemeClr val="tx1"/>
                </a:solidFill>
              </a:rPr>
              <a:t>Cuando lo más importante son las relaciones complejas entre datos.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133" dirty="0">
                <a:solidFill>
                  <a:schemeClr val="tx1"/>
                </a:solidFill>
              </a:rPr>
              <a:t>	Detección de fraude bancario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133" dirty="0">
                <a:solidFill>
                  <a:schemeClr val="tx1"/>
                </a:solidFill>
              </a:rPr>
              <a:t>	Redes sociales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133" dirty="0">
                <a:solidFill>
                  <a:schemeClr val="tx1"/>
                </a:solidFill>
              </a:rPr>
              <a:t>	Motores de recomendación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1600">
                <a:solidFill>
                  <a:srgbClr val="232F3E"/>
                </a:solidFill>
              </a:defRPr>
            </a:pPr>
            <a:r>
              <a:rPr lang="es-MX" sz="2133" dirty="0">
                <a:solidFill>
                  <a:schemeClr val="tx1"/>
                </a:solidFill>
              </a:rPr>
              <a:t>	Gestión de redes o dependencias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DB8D14-012F-403C-AE85-9FB8F6906DF0}"/>
              </a:ext>
            </a:extLst>
          </p:cNvPr>
          <p:cNvSpPr txBox="1"/>
          <p:nvPr/>
        </p:nvSpPr>
        <p:spPr>
          <a:xfrm>
            <a:off x="1241522" y="3304312"/>
            <a:ext cx="9171401" cy="61555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endParaRPr lang="es-EC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2121176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850460" cy="530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EC" sz="2800" b="1" kern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Amazon Redshift</a:t>
            </a:r>
            <a:endParaRPr lang="es-ES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400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  <a:r>
              <a:rPr lang="es-EC" sz="2400" b="1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Redshift</a:t>
            </a:r>
            <a:endParaRPr lang="es-EC" sz="2400" b="1" dirty="0"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 Warehouse (Analítica)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Consultas complejas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Grandes volúmenes históricos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Integración con herramientas BI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Caso típico:</a:t>
            </a:r>
            <a:b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Análisis de millones de registros → </a:t>
            </a:r>
            <a:r>
              <a:rPr lang="es-EC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Redshift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3895569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34517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dirty="0"/>
              <a:t>Amazon </a:t>
            </a:r>
            <a:r>
              <a:rPr lang="es-EC" dirty="0" err="1"/>
              <a:t>DocumentDB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400" b="1" dirty="0" err="1">
                <a:solidFill>
                  <a:schemeClr val="tx1"/>
                </a:solidFill>
              </a:rPr>
              <a:t>DocumentDB</a:t>
            </a:r>
            <a:endParaRPr lang="es-MX" sz="2400" b="1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dirty="0">
                <a:solidFill>
                  <a:schemeClr val="tx1"/>
                </a:solidFill>
              </a:rPr>
              <a:t>Base de datos NoSQL de documentos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dirty="0">
                <a:solidFill>
                  <a:schemeClr val="tx1"/>
                </a:solidFill>
              </a:rPr>
              <a:t>Servicio administrado compatible con</a:t>
            </a:r>
            <a:r>
              <a:rPr lang="es-MX" sz="2133" dirty="0">
                <a:solidFill>
                  <a:srgbClr val="FF0000"/>
                </a:solidFill>
              </a:rPr>
              <a:t> MongoDB</a:t>
            </a:r>
            <a:r>
              <a:rPr lang="es-MX" sz="2133" dirty="0">
                <a:solidFill>
                  <a:schemeClr val="tx1"/>
                </a:solidFill>
              </a:rPr>
              <a:t>.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dirty="0">
                <a:solidFill>
                  <a:schemeClr val="tx1"/>
                </a:solidFill>
              </a:rPr>
              <a:t>Almacena datos en formato JSON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847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035796" cy="530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b="1" kern="1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s-EC" sz="2800" b="1" kern="18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ipos</a:t>
            </a:r>
            <a:endParaRPr lang="es-ES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8F14DB4-9434-46CC-93DB-67C9F102C0CE}"/>
              </a:ext>
            </a:extLst>
          </p:cNvPr>
          <p:cNvSpPr txBox="1"/>
          <p:nvPr/>
        </p:nvSpPr>
        <p:spPr>
          <a:xfrm>
            <a:off x="1795549" y="2053244"/>
            <a:ext cx="399842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SQL</a:t>
            </a:r>
          </a:p>
          <a:p>
            <a:endParaRPr lang="es-MX" dirty="0"/>
          </a:p>
          <a:p>
            <a:r>
              <a:rPr lang="es-MX" dirty="0"/>
              <a:t>RDS </a:t>
            </a:r>
          </a:p>
          <a:p>
            <a:r>
              <a:rPr lang="es-MX" dirty="0"/>
              <a:t>Aurora</a:t>
            </a:r>
            <a:endParaRPr lang="es-EC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3E051B-6008-476F-B8B8-C11ACAF28061}"/>
              </a:ext>
            </a:extLst>
          </p:cNvPr>
          <p:cNvSpPr txBox="1"/>
          <p:nvPr/>
        </p:nvSpPr>
        <p:spPr>
          <a:xfrm>
            <a:off x="5306292" y="2090294"/>
            <a:ext cx="399842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NoSQL</a:t>
            </a:r>
          </a:p>
          <a:p>
            <a:endParaRPr lang="es-MX" dirty="0"/>
          </a:p>
          <a:p>
            <a:r>
              <a:rPr lang="es-MX" dirty="0" err="1"/>
              <a:t>DynamoDB</a:t>
            </a:r>
            <a:endParaRPr lang="es-MX" dirty="0"/>
          </a:p>
          <a:p>
            <a:r>
              <a:rPr lang="es-MX" dirty="0" err="1"/>
              <a:t>DocumentDB</a:t>
            </a:r>
            <a:endParaRPr lang="es-MX" dirty="0"/>
          </a:p>
          <a:p>
            <a:r>
              <a:rPr lang="es-MX" dirty="0" err="1"/>
              <a:t>Neptune</a:t>
            </a:r>
            <a:endParaRPr lang="es-MX" dirty="0"/>
          </a:p>
          <a:p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F624C3E-336C-4AB4-B25E-15F4989BB90B}"/>
              </a:ext>
            </a:extLst>
          </p:cNvPr>
          <p:cNvSpPr txBox="1"/>
          <p:nvPr/>
        </p:nvSpPr>
        <p:spPr>
          <a:xfrm>
            <a:off x="2768138" y="4339486"/>
            <a:ext cx="399842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 err="1"/>
              <a:t>DataWareHose</a:t>
            </a:r>
            <a:endParaRPr lang="es-MX" sz="2400" b="1" dirty="0"/>
          </a:p>
          <a:p>
            <a:endParaRPr lang="es-MX" dirty="0"/>
          </a:p>
          <a:p>
            <a:r>
              <a:rPr lang="es-MX" dirty="0" err="1"/>
              <a:t>Redshift</a:t>
            </a:r>
            <a:endParaRPr lang="es-MX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907082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513188" cy="530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b="1" kern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RDS vs Aurora</a:t>
            </a:r>
            <a:endParaRPr lang="es-ES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8F14DB4-9434-46CC-93DB-67C9F102C0CE}"/>
              </a:ext>
            </a:extLst>
          </p:cNvPr>
          <p:cNvSpPr txBox="1"/>
          <p:nvPr/>
        </p:nvSpPr>
        <p:spPr>
          <a:xfrm>
            <a:off x="1305097" y="1756361"/>
            <a:ext cx="86951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RDS</a:t>
            </a:r>
          </a:p>
          <a:p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Servicio administrado por AWS para bases relacionales tradicionales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Tú eliges el motor: MySQL, PostgreSQL, Oracle, SQL Server, </a:t>
            </a:r>
            <a:r>
              <a:rPr lang="es-MX" dirty="0" err="1"/>
              <a:t>MariaDB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AWS gestiona parches, </a:t>
            </a:r>
            <a:r>
              <a:rPr lang="es-MX" dirty="0" err="1"/>
              <a:t>backups</a:t>
            </a:r>
            <a:r>
              <a:rPr lang="es-MX" dirty="0"/>
              <a:t> y alta disponibilidad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Ideal para aplicaciones empresariales clásicas</a:t>
            </a:r>
          </a:p>
          <a:p>
            <a:endParaRPr lang="es-EC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26A622-2B8E-43AA-B097-5D8C56DFB00E}"/>
              </a:ext>
            </a:extLst>
          </p:cNvPr>
          <p:cNvSpPr txBox="1"/>
          <p:nvPr/>
        </p:nvSpPr>
        <p:spPr>
          <a:xfrm>
            <a:off x="1873133" y="3880019"/>
            <a:ext cx="869511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Aurora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También administrado por AWS, pero el motor fue diseñado por AWS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Arquitectura diferente: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Almacenamiento distribuido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Mayor rendimiento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Mejor escalabilidad</a:t>
            </a:r>
          </a:p>
          <a:p>
            <a:r>
              <a:rPr lang="es-MX" dirty="0"/>
              <a:t>👉 No es solo “PostgreSQL en AWS”, es una versión optimizada para la nube.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10271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342034" cy="5305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800" b="1" kern="18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NoSQL</a:t>
            </a:r>
            <a:endParaRPr lang="es-ES" sz="2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8F72EC8-AD53-46A5-8A72-0C2FFC0C1518}"/>
              </a:ext>
            </a:extLst>
          </p:cNvPr>
          <p:cNvSpPr txBox="1"/>
          <p:nvPr/>
        </p:nvSpPr>
        <p:spPr>
          <a:xfrm>
            <a:off x="1305097" y="1756361"/>
            <a:ext cx="86951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 err="1"/>
              <a:t>DynamoDB</a:t>
            </a:r>
            <a:r>
              <a:rPr lang="es-MX" sz="2000" b="1" dirty="0"/>
              <a:t> – </a:t>
            </a:r>
            <a:r>
              <a:rPr lang="es-MX" sz="2000" dirty="0"/>
              <a:t>Clave-Valor + Documentos(JSON)</a:t>
            </a:r>
          </a:p>
          <a:p>
            <a:r>
              <a:rPr lang="es-MX" sz="2000" b="1" dirty="0" err="1"/>
              <a:t>DocumentDB</a:t>
            </a:r>
            <a:r>
              <a:rPr lang="es-MX" sz="2000" b="1" dirty="0"/>
              <a:t> – </a:t>
            </a:r>
            <a:r>
              <a:rPr lang="es-MX" sz="2000" dirty="0"/>
              <a:t>Documentos (JSON)</a:t>
            </a:r>
          </a:p>
          <a:p>
            <a:r>
              <a:rPr lang="es-MX" sz="2000" b="1" dirty="0" err="1"/>
              <a:t>Neptune</a:t>
            </a:r>
            <a:r>
              <a:rPr lang="es-MX" sz="2000" b="1" dirty="0"/>
              <a:t>	-	</a:t>
            </a:r>
            <a:r>
              <a:rPr lang="es-MX" sz="2000" dirty="0"/>
              <a:t>Grafos</a:t>
            </a:r>
          </a:p>
          <a:p>
            <a:endParaRPr lang="es-MX" sz="20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4935AB5-FF8F-4FBB-89E4-CC9EDC7A103F}"/>
              </a:ext>
            </a:extLst>
          </p:cNvPr>
          <p:cNvSpPr txBox="1"/>
          <p:nvPr/>
        </p:nvSpPr>
        <p:spPr>
          <a:xfrm>
            <a:off x="2191790" y="3120044"/>
            <a:ext cx="86951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 err="1"/>
              <a:t>DocumentDB</a:t>
            </a:r>
            <a:r>
              <a:rPr lang="es-MX" sz="2000" b="1" dirty="0"/>
              <a:t> – </a:t>
            </a:r>
            <a:r>
              <a:rPr lang="es-MX" sz="2000" dirty="0"/>
              <a:t>Compatible con MongoDB</a:t>
            </a:r>
          </a:p>
          <a:p>
            <a:endParaRPr lang="es-MX" sz="20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BBB25EC-7E69-421F-9D1E-0E641716B133}"/>
              </a:ext>
            </a:extLst>
          </p:cNvPr>
          <p:cNvSpPr txBox="1"/>
          <p:nvPr/>
        </p:nvSpPr>
        <p:spPr>
          <a:xfrm>
            <a:off x="2430086" y="4178136"/>
            <a:ext cx="86951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 err="1"/>
              <a:t>DynamoDB</a:t>
            </a:r>
            <a:r>
              <a:rPr lang="es-MX" sz="2000" b="1" dirty="0"/>
              <a:t> – </a:t>
            </a:r>
            <a:r>
              <a:rPr lang="es-MX" sz="2000" dirty="0"/>
              <a:t>Apps de alto tráfico – Escalado automático nativo</a:t>
            </a:r>
          </a:p>
          <a:p>
            <a:r>
              <a:rPr lang="es-MX" sz="2000" b="1" dirty="0" err="1"/>
              <a:t>DocumentDB</a:t>
            </a:r>
            <a:r>
              <a:rPr lang="es-MX" sz="2000" b="1" dirty="0"/>
              <a:t> – </a:t>
            </a:r>
            <a:r>
              <a:rPr lang="es-MX" sz="2000" dirty="0"/>
              <a:t>Apps con </a:t>
            </a:r>
            <a:r>
              <a:rPr lang="es-MX" sz="2000" dirty="0" err="1"/>
              <a:t>json</a:t>
            </a:r>
            <a:r>
              <a:rPr lang="es-MX" sz="2000" dirty="0"/>
              <a:t>  </a:t>
            </a:r>
          </a:p>
          <a:p>
            <a:r>
              <a:rPr lang="es-MX" sz="2000" b="1" dirty="0" err="1"/>
              <a:t>Neptune</a:t>
            </a:r>
            <a:r>
              <a:rPr lang="es-MX" sz="2000" b="1" dirty="0"/>
              <a:t>	- </a:t>
            </a:r>
            <a:r>
              <a:rPr lang="es-MX" sz="2000" dirty="0"/>
              <a:t>Relaciones complejas</a:t>
            </a:r>
          </a:p>
          <a:p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530050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32426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Amazon ElastiCache</a:t>
            </a:r>
            <a:r>
              <a:rPr lang="es-ES" sz="2800" b="1" dirty="0"/>
              <a:t> 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EC" sz="36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EC" sz="3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EC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EC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400" b="1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ElastiCache</a:t>
            </a:r>
            <a:endParaRPr lang="es-EC" sz="2400" b="1" dirty="0"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Caché en memoria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Motores: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Memcached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 usa para: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Reducir carga en RDS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Mejorar tiempos de respuesta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Aumentar rendimiento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Caso típico:</a:t>
            </a:r>
            <a:b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Aplicación lenta por consultas repetidas → </a:t>
            </a:r>
            <a:r>
              <a:rPr lang="es-EC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ElastiCache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133" dirty="0"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DB8D14-012F-403C-AE85-9FB8F6906DF0}"/>
              </a:ext>
            </a:extLst>
          </p:cNvPr>
          <p:cNvSpPr txBox="1"/>
          <p:nvPr/>
        </p:nvSpPr>
        <p:spPr>
          <a:xfrm>
            <a:off x="1241522" y="3304312"/>
            <a:ext cx="9171401" cy="61555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endParaRPr lang="es-EC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1506620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0473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AWS Backup</a:t>
            </a:r>
            <a:endParaRPr lang="es-ES" sz="2800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s-EC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800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AWS </a:t>
            </a:r>
            <a:r>
              <a:rPr lang="es-EC" sz="2800" b="1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Backup</a:t>
            </a:r>
            <a:endParaRPr lang="es-EC" sz="2800" b="1" dirty="0"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Servicio centralizado para respaldos de:</a:t>
            </a:r>
            <a:endParaRPr lang="es-ES" sz="20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RDS</a:t>
            </a:r>
            <a:endParaRPr lang="es-ES" sz="20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EBS</a:t>
            </a:r>
            <a:endParaRPr lang="es-ES" sz="20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DynamoDB</a:t>
            </a:r>
            <a:endParaRPr lang="es-ES" sz="20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EFS</a:t>
            </a:r>
            <a:b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sz="20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Permite:</a:t>
            </a:r>
            <a:endParaRPr lang="es-ES" sz="20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Automatización</a:t>
            </a:r>
            <a:endParaRPr lang="es-ES" sz="20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Retención</a:t>
            </a:r>
            <a:endParaRPr lang="es-ES" sz="20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Cumplimiento</a:t>
            </a:r>
            <a:endParaRPr lang="es-ES" sz="20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Caso típico:</a:t>
            </a:r>
            <a:b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“Centralizar y automatizar respaldos” → </a:t>
            </a:r>
            <a:r>
              <a:rPr lang="es-EC" sz="2000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AWS Backup</a:t>
            </a:r>
            <a:endParaRPr lang="es-ES" sz="20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920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A58E5-D6D8-9347-DBEC-3FA18A193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052A12-9AAA-2D1B-DE43-0F36F8A09EBD}"/>
              </a:ext>
            </a:extLst>
          </p:cNvPr>
          <p:cNvSpPr/>
          <p:nvPr/>
        </p:nvSpPr>
        <p:spPr>
          <a:xfrm>
            <a:off x="-12033" y="-12709"/>
            <a:ext cx="12204033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C1A25-4B5B-8C35-837D-AB3083044296}"/>
              </a:ext>
            </a:extLst>
          </p:cNvPr>
          <p:cNvSpPr txBox="1"/>
          <p:nvPr/>
        </p:nvSpPr>
        <p:spPr>
          <a:xfrm>
            <a:off x="391985" y="309723"/>
            <a:ext cx="23262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El primer paso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7D40AAE4-C51A-5A7B-A632-6494FCC05AB8}"/>
              </a:ext>
            </a:extLst>
          </p:cNvPr>
          <p:cNvSpPr/>
          <p:nvPr/>
        </p:nvSpPr>
        <p:spPr>
          <a:xfrm>
            <a:off x="2478500" y="2825243"/>
            <a:ext cx="7002113" cy="3183772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s-EC" sz="4000" b="1" kern="1800" dirty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MIGRACIÓN Y MOVIMIENTO DE DATOS</a:t>
            </a:r>
            <a:endParaRPr lang="es-ES" sz="4000" dirty="0">
              <a:solidFill>
                <a:schemeClr val="tx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BCEB5E-73FC-4FB8-1EE9-EAEB4B94B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613" y="5472843"/>
            <a:ext cx="1789569" cy="10723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8AB2128-D4C5-1F00-0005-28D18151B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686" y="1832194"/>
            <a:ext cx="1912943" cy="63764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8A5D359-3458-DFA5-4785-DAA0DE1C4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199" y="1632481"/>
            <a:ext cx="1071563" cy="107156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C7D5350-6240-683F-BCD8-C0D19A735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87" y="1428668"/>
            <a:ext cx="2348625" cy="234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301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4144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AWS Snowball</a:t>
            </a:r>
            <a:r>
              <a:rPr lang="es-ES" sz="2800" b="1" dirty="0"/>
              <a:t> 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3200" b="1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Aws</a:t>
            </a:r>
            <a:r>
              <a:rPr lang="es-EC" sz="3200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C" sz="3200" b="1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Snowball</a:t>
            </a:r>
            <a:endParaRPr lang="es-EC" sz="3200" b="1" dirty="0"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Dispositivo físico portátil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 usa cuando: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Tienes decenas o cientos de TB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Internet es lento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Migración masiva única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📌</a:t>
            </a: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Ejemplo:</a:t>
            </a:r>
            <a:b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Empresa migra 200 TB a S3 desde on-premises.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Si el caso dice “gran volumen + internet limitado” → </a:t>
            </a:r>
            <a:r>
              <a:rPr lang="es-EC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Snowball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1CA148-5794-4979-A7A2-646CBB322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398" y="2094808"/>
            <a:ext cx="3569624" cy="237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76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8195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AWS </a:t>
            </a:r>
            <a:r>
              <a:rPr lang="es-MX" sz="2800" b="1" dirty="0" err="1"/>
              <a:t>Snowmobile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3200" b="1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Aws</a:t>
            </a:r>
            <a:r>
              <a:rPr lang="es-EC" sz="3200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C" sz="3200" b="1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Snowmobile</a:t>
            </a:r>
            <a:endParaRPr lang="es-EC" sz="3200" b="1" dirty="0"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Servicio de migración física de datos a gran escala.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un 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camión de transporte de datos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 que AWS envía a tu centro de datos para mover información hacia la nube.</a:t>
            </a:r>
            <a:endParaRPr lang="es-MX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/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Cuando necesitas migrar: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Cientos de terabytes (TB)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Petabytes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(PB)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Hasta exabytes de datos</a:t>
            </a:r>
          </a:p>
          <a:p>
            <a:pPr lvl="2"/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Y tu conexión a internet no es suficiente.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4385E53-6C85-4AA0-BAE1-88E0DCFD3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795" y="3887123"/>
            <a:ext cx="3981798" cy="265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26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A59D9-0850-6226-2A85-CD920E685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C8518B-1304-0D4F-CEE8-A84BAB4B9DB4}"/>
              </a:ext>
            </a:extLst>
          </p:cNvPr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EB613-571F-AD75-1E4F-82B96B9500C5}"/>
              </a:ext>
            </a:extLst>
          </p:cNvPr>
          <p:cNvSpPr txBox="1"/>
          <p:nvPr/>
        </p:nvSpPr>
        <p:spPr>
          <a:xfrm>
            <a:off x="451660" y="199505"/>
            <a:ext cx="32474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AWS Direct Connect</a:t>
            </a:r>
            <a:r>
              <a:rPr lang="es-ES" sz="2800" b="1" dirty="0"/>
              <a:t> 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61C45611-9A8B-AE58-ACC9-7C86631C84D6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2400" b="1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AWS Direct </a:t>
            </a:r>
            <a:r>
              <a:rPr lang="es-EC" sz="2400" b="1" dirty="0" err="1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endParaRPr lang="es-EC" sz="2400" b="1" dirty="0">
              <a:solidFill>
                <a:schemeClr val="tx1"/>
              </a:solidFill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b="1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Conexión dedicada privada</a:t>
            </a:r>
            <a:endParaRPr lang="es-ES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Línea directa entre data center y AWS</a:t>
            </a:r>
            <a:endParaRPr lang="es-ES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No usa internet pública</a:t>
            </a:r>
            <a:endParaRPr lang="es-ES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Baja latencia</a:t>
            </a:r>
            <a:endParaRPr lang="es-ES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Mayor estabilidad</a:t>
            </a:r>
            <a:endParaRPr lang="es-ES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Si dice “conexión dedicada estable” → </a:t>
            </a:r>
            <a:r>
              <a:rPr lang="es-EC" b="1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Direct Connect</a:t>
            </a:r>
            <a:endParaRPr lang="es-ES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dirty="0"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1F60C5-9DDA-45BA-B952-8B9488893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56" y="1928071"/>
            <a:ext cx="3960322" cy="264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18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59" y="199505"/>
            <a:ext cx="24236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AWS DataSync</a:t>
            </a:r>
            <a:r>
              <a:rPr lang="es-ES" sz="2800" b="1" dirty="0"/>
              <a:t> 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endParaRPr lang="es-EC" b="1" dirty="0">
              <a:solidFill>
                <a:schemeClr val="tx1"/>
              </a:solidFill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b="1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AWS </a:t>
            </a:r>
            <a:r>
              <a:rPr lang="es-EC" b="1" dirty="0" err="1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DataSync</a:t>
            </a:r>
            <a:endParaRPr lang="es-EC" b="1" dirty="0">
              <a:solidFill>
                <a:schemeClr val="tx1"/>
              </a:solidFill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b="1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Transferencia online automatizada</a:t>
            </a:r>
            <a:endParaRPr lang="es-ES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On-premises ↔ AWS</a:t>
            </a:r>
            <a:endParaRPr lang="es-ES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S3 ↔ EFS ↔ FSx</a:t>
            </a:r>
            <a:endParaRPr lang="es-ES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Se usa cuando:</a:t>
            </a:r>
            <a:endParaRPr lang="es-ES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Migración continua</a:t>
            </a:r>
            <a:endParaRPr lang="es-ES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Transferencia frecuente</a:t>
            </a:r>
            <a:endParaRPr lang="es-ES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No quieres dispositivos físicos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EC" dirty="0">
                <a:latin typeface="+mj-lt"/>
              </a:rPr>
              <a:t>🎯 </a:t>
            </a:r>
            <a:r>
              <a:rPr lang="es-EC" dirty="0">
                <a:solidFill>
                  <a:schemeClr val="tx1"/>
                </a:solidFill>
                <a:latin typeface="+mj-lt"/>
              </a:rPr>
              <a:t>Caso típico:</a:t>
            </a:r>
            <a:br>
              <a:rPr lang="es-EC" dirty="0">
                <a:solidFill>
                  <a:schemeClr val="tx1"/>
                </a:solidFill>
                <a:latin typeface="+mj-lt"/>
              </a:rPr>
            </a:br>
            <a:r>
              <a:rPr lang="es-EC" dirty="0">
                <a:solidFill>
                  <a:schemeClr val="tx1"/>
                </a:solidFill>
                <a:latin typeface="+mj-lt"/>
              </a:rPr>
              <a:t>Transferencia constante de </a:t>
            </a:r>
            <a:r>
              <a:rPr lang="es-EC" dirty="0">
                <a:solidFill>
                  <a:srgbClr val="FF0000"/>
                </a:solidFill>
                <a:latin typeface="+mj-lt"/>
              </a:rPr>
              <a:t>ARCHIVOS</a:t>
            </a:r>
            <a:r>
              <a:rPr lang="es-EC" dirty="0">
                <a:solidFill>
                  <a:schemeClr val="tx1"/>
                </a:solidFill>
                <a:latin typeface="+mj-lt"/>
              </a:rPr>
              <a:t>, automatizada y eficiente→ </a:t>
            </a:r>
            <a:r>
              <a:rPr lang="es-EC" b="1" dirty="0">
                <a:solidFill>
                  <a:schemeClr val="tx1"/>
                </a:solidFill>
                <a:latin typeface="+mj-lt"/>
              </a:rPr>
              <a:t>DataSync</a:t>
            </a:r>
            <a:endParaRPr lang="es-ES" dirty="0">
              <a:solidFill>
                <a:schemeClr val="tx1"/>
              </a:solidFill>
              <a:latin typeface="+mj-lt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s-ES" dirty="0"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dirty="0">
              <a:latin typeface="+mj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2878DD-5A05-48F2-B7F5-8F33D733E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747" y="1330036"/>
            <a:ext cx="5561214" cy="370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877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61571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EC" sz="2800" b="1" dirty="0"/>
              <a:t>AWS Database Migration Service (DMS)</a:t>
            </a:r>
            <a:r>
              <a:rPr lang="es-ES" sz="2800" b="1" dirty="0"/>
              <a:t> 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3200" b="1" dirty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DMS</a:t>
            </a:r>
            <a:endParaRPr lang="es-EC" sz="3200" b="1" dirty="0"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Migración de bases de datos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Permite: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Migración homogénea (MySQL → Aurora MySQL)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Migración heterogénea (Oracle → PostgreSQL)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Mínimo </a:t>
            </a:r>
            <a:r>
              <a:rPr lang="es-EC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downtime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📌</a:t>
            </a: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Ejemplo:</a:t>
            </a:r>
            <a:b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Migrar base Oracle </a:t>
            </a:r>
            <a:r>
              <a:rPr lang="es-EC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-premises a Aurora.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Caso típico:</a:t>
            </a:r>
            <a:b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“Migrar base de datos con mínima interrupción(</a:t>
            </a:r>
            <a:r>
              <a:rPr lang="es-EC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downtime</a:t>
            </a:r>
            <a:r>
              <a:rPr lang="es-EC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)” → </a:t>
            </a:r>
            <a:r>
              <a:rPr lang="es-EC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DMS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2044905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A58E5-D6D8-9347-DBEC-3FA18A193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052A12-9AAA-2D1B-DE43-0F36F8A09EBD}"/>
              </a:ext>
            </a:extLst>
          </p:cNvPr>
          <p:cNvSpPr/>
          <p:nvPr/>
        </p:nvSpPr>
        <p:spPr>
          <a:xfrm>
            <a:off x="-12033" y="-12709"/>
            <a:ext cx="12204033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C1A25-4B5B-8C35-837D-AB3083044296}"/>
              </a:ext>
            </a:extLst>
          </p:cNvPr>
          <p:cNvSpPr txBox="1"/>
          <p:nvPr/>
        </p:nvSpPr>
        <p:spPr>
          <a:xfrm>
            <a:off x="391985" y="309723"/>
            <a:ext cx="23262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El primer paso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7D40AAE4-C51A-5A7B-A632-6494FCC05AB8}"/>
              </a:ext>
            </a:extLst>
          </p:cNvPr>
          <p:cNvSpPr/>
          <p:nvPr/>
        </p:nvSpPr>
        <p:spPr>
          <a:xfrm>
            <a:off x="2478500" y="2825243"/>
            <a:ext cx="7002113" cy="3183772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>
              <a:lnSpc>
                <a:spcPct val="107000"/>
              </a:lnSpc>
              <a:spcAft>
                <a:spcPts val="800"/>
              </a:spcAft>
            </a:pPr>
            <a:r>
              <a:rPr lang="es-MX" sz="4000" b="1" kern="18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s-EC" sz="4000" b="1" kern="1800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EAD REPLICA Y MULTI AZ</a:t>
            </a:r>
            <a:endParaRPr lang="es-ES" sz="4000" dirty="0">
              <a:solidFill>
                <a:schemeClr val="tx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BCEB5E-73FC-4FB8-1EE9-EAEB4B94B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613" y="5472843"/>
            <a:ext cx="1789569" cy="10723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8AB2128-D4C5-1F00-0005-28D18151B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686" y="1832194"/>
            <a:ext cx="1912943" cy="63764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8A5D359-3458-DFA5-4785-DAA0DE1C4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199" y="1632481"/>
            <a:ext cx="1071563" cy="107156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C7D5350-6240-683F-BCD8-C0D19A735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87" y="1428668"/>
            <a:ext cx="2348625" cy="234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68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0876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b="1" dirty="0" err="1"/>
              <a:t>Read</a:t>
            </a:r>
            <a:r>
              <a:rPr lang="es-MX" sz="2800" b="1" dirty="0"/>
              <a:t> Replica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3200" b="1" dirty="0" err="1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s-EC" sz="3200" b="1" dirty="0">
                <a:solidFill>
                  <a:schemeClr val="tx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Replica</a:t>
            </a:r>
            <a:endParaRPr lang="es-EC" sz="3200" b="1" dirty="0"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Escalabilidad de lectura</a:t>
            </a:r>
            <a:endParaRPr lang="es-E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Copias de solo lectura de la base de datos primaria.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Replican datos desde la instancia principal.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Se usan para distribuir consultas SELECT.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No procesan escrituras.</a:t>
            </a:r>
            <a:endParaRPr lang="es-MX" dirty="0"/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4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dirty="0" err="1"/>
              <a:t>Read</a:t>
            </a:r>
            <a:r>
              <a:rPr lang="es-MX" dirty="0"/>
              <a:t> Replicas mejoran </a:t>
            </a:r>
            <a:r>
              <a:rPr lang="es-MX" dirty="0">
                <a:solidFill>
                  <a:srgbClr val="FF0000"/>
                </a:solidFill>
              </a:rPr>
              <a:t>rendimiento</a:t>
            </a:r>
            <a:r>
              <a:rPr lang="es-MX" dirty="0"/>
              <a:t> (lecturas), </a:t>
            </a:r>
            <a:r>
              <a:rPr lang="es-MX" dirty="0">
                <a:solidFill>
                  <a:srgbClr val="FF0000"/>
                </a:solidFill>
              </a:rPr>
              <a:t>no están activadas por defecto.</a:t>
            </a:r>
          </a:p>
        </p:txBody>
      </p:sp>
    </p:spTree>
    <p:extLst>
      <p:ext uri="{BB962C8B-B14F-4D97-AF65-F5344CB8AC3E}">
        <p14:creationId xmlns:p14="http://schemas.microsoft.com/office/powerpoint/2010/main" val="3325456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4638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Multi AZ</a:t>
            </a:r>
            <a:endParaRPr lang="es-EC"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80904" y="1645923"/>
            <a:ext cx="9692639" cy="4680065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3200" b="1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Multi – AZ 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Instancia </a:t>
            </a:r>
            <a:r>
              <a:rPr lang="es-MX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standby</a:t>
            </a: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en otra Zona de Disponibilidad.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Replica síncrona.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 err="1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Failover</a:t>
            </a:r>
            <a:r>
              <a:rPr lang="es-MX" dirty="0"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automático.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 mejora rendimiento.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s-MX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tx1"/>
                </a:solidFill>
                <a:cs typeface="Times New Roman" panose="02020603050405020304" pitchFamily="18" charset="0"/>
              </a:rPr>
              <a:t>En </a:t>
            </a:r>
            <a:r>
              <a:rPr lang="es-MX" dirty="0">
                <a:solidFill>
                  <a:srgbClr val="FF0000"/>
                </a:solidFill>
                <a:cs typeface="Times New Roman" panose="02020603050405020304" pitchFamily="18" charset="0"/>
              </a:rPr>
              <a:t>RDS</a:t>
            </a:r>
            <a:r>
              <a:rPr lang="es-MX" dirty="0">
                <a:solidFill>
                  <a:schemeClr val="tx1"/>
                </a:solidFill>
                <a:cs typeface="Times New Roman" panose="02020603050405020304" pitchFamily="18" charset="0"/>
              </a:rPr>
              <a:t> se habilita </a:t>
            </a:r>
            <a:r>
              <a:rPr lang="es-MX" dirty="0">
                <a:solidFill>
                  <a:srgbClr val="FF0000"/>
                </a:solidFill>
                <a:cs typeface="Times New Roman" panose="02020603050405020304" pitchFamily="18" charset="0"/>
              </a:rPr>
              <a:t>manualmente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solidFill>
                  <a:schemeClr val="tx1"/>
                </a:solidFill>
                <a:cs typeface="Times New Roman" panose="02020603050405020304" pitchFamily="18" charset="0"/>
              </a:rPr>
              <a:t>	En </a:t>
            </a:r>
            <a:r>
              <a:rPr lang="es-MX" dirty="0">
                <a:solidFill>
                  <a:srgbClr val="FF0000"/>
                </a:solidFill>
                <a:cs typeface="Times New Roman" panose="02020603050405020304" pitchFamily="18" charset="0"/>
              </a:rPr>
              <a:t>Aurora</a:t>
            </a:r>
            <a:r>
              <a:rPr lang="es-MX" dirty="0">
                <a:solidFill>
                  <a:schemeClr val="tx1"/>
                </a:solidFill>
                <a:cs typeface="Times New Roman" panose="02020603050405020304" pitchFamily="18" charset="0"/>
              </a:rPr>
              <a:t> está </a:t>
            </a:r>
            <a:r>
              <a:rPr lang="es-MX" dirty="0">
                <a:solidFill>
                  <a:srgbClr val="FF0000"/>
                </a:solidFill>
                <a:cs typeface="Times New Roman" panose="02020603050405020304" pitchFamily="18" charset="0"/>
              </a:rPr>
              <a:t>incorporado</a:t>
            </a:r>
          </a:p>
        </p:txBody>
      </p:sp>
    </p:spTree>
    <p:extLst>
      <p:ext uri="{BB962C8B-B14F-4D97-AF65-F5344CB8AC3E}">
        <p14:creationId xmlns:p14="http://schemas.microsoft.com/office/powerpoint/2010/main" val="350238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033" y="-12709"/>
            <a:ext cx="12204033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1985" y="309723"/>
            <a:ext cx="23262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s-MX" sz="2800" dirty="0"/>
              <a:t>El primer paso</a:t>
            </a:r>
            <a:endParaRPr sz="2800" dirty="0"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2718263" y="2680859"/>
            <a:ext cx="7500851" cy="3183772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133" b="1" dirty="0"/>
              <a:t>🚀 Hoy empieza el camino hacia la certificación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		No se trata solo de aprobar…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r>
              <a:rPr lang="es-MX" sz="2000" dirty="0"/>
              <a:t>			se trata de comprender</a:t>
            </a:r>
          </a:p>
          <a:p>
            <a:pPr lvl="1">
              <a:defRPr sz="1600">
                <a:solidFill>
                  <a:srgbClr val="232F3E"/>
                </a:solidFill>
              </a:defRPr>
            </a:pPr>
            <a:endParaRPr lang="es-MX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0519DD-BE48-4AD8-92F0-B2715AAB5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389" y="4501375"/>
            <a:ext cx="1789569" cy="10723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E6F0039-F237-47BB-AF00-7BF1908A6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310" y="1663749"/>
            <a:ext cx="1912943" cy="63764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BF3B10F-6186-490E-B92B-6AC971A62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823" y="1464036"/>
            <a:ext cx="1071563" cy="107156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966766A-DAA8-42EC-99E5-1DE316F27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333" y="1284284"/>
            <a:ext cx="2348625" cy="234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91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1639</TotalTime>
  <Words>929</Words>
  <Application>Microsoft Office PowerPoint</Application>
  <PresentationFormat>Panorámica</PresentationFormat>
  <Paragraphs>237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0" baseType="lpstr">
      <vt:lpstr>Arial</vt:lpstr>
      <vt:lpstr>Calibri</vt:lpstr>
      <vt:lpstr>Segoe UI Emoji</vt:lpstr>
      <vt:lpstr>Symbol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Santiago Mosquera</dc:creator>
  <cp:keywords/>
  <dc:description>generated using python-pptx</dc:description>
  <cp:lastModifiedBy>SANTIAGO FERNANDO MOSQUERA VIZUETE</cp:lastModifiedBy>
  <cp:revision>24</cp:revision>
  <dcterms:created xsi:type="dcterms:W3CDTF">2013-01-27T09:14:16Z</dcterms:created>
  <dcterms:modified xsi:type="dcterms:W3CDTF">2026-02-20T12:04:55Z</dcterms:modified>
  <cp:category/>
</cp:coreProperties>
</file>