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74" r:id="rId6"/>
    <p:sldId id="27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4"/>
  </p:normalViewPr>
  <p:slideViewPr>
    <p:cSldViewPr snapToGrid="0" snapToObjects="1">
      <p:cViewPr varScale="1">
        <p:scale>
          <a:sx n="92" d="100"/>
          <a:sy n="92" d="100"/>
        </p:scale>
        <p:origin x="226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es/about-aws/global-infrastructure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68113" y="2153918"/>
            <a:ext cx="5030737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32F3E"/>
                </a:solidFill>
              </a:defRPr>
            </a:pPr>
            <a:r>
              <a:rPr sz="3800" dirty="0"/>
              <a:t>AWS Cloud Practitioner</a:t>
            </a:r>
          </a:p>
          <a:p>
            <a:pPr algn="ctr">
              <a:defRPr sz="2000"/>
            </a:pPr>
            <a:r>
              <a:rPr sz="2000" dirty="0" err="1"/>
              <a:t>Curso</a:t>
            </a:r>
            <a:r>
              <a:rPr sz="2000" dirty="0"/>
              <a:t> de </a:t>
            </a:r>
            <a:r>
              <a:rPr sz="2000" dirty="0" err="1"/>
              <a:t>preparación</a:t>
            </a:r>
            <a:r>
              <a:rPr sz="2000" dirty="0"/>
              <a:t> para la </a:t>
            </a:r>
            <a:r>
              <a:rPr sz="2000" dirty="0" err="1"/>
              <a:t>certificación</a:t>
            </a:r>
            <a:endParaRPr lang="es-MX" sz="2000" dirty="0"/>
          </a:p>
          <a:p>
            <a:pPr algn="ctr">
              <a:defRPr sz="2000"/>
            </a:pPr>
            <a:endParaRPr lang="es-EC" sz="2000" dirty="0"/>
          </a:p>
          <a:p>
            <a:pPr algn="ctr">
              <a:defRPr sz="2000"/>
            </a:pPr>
            <a:r>
              <a:rPr lang="es-EC" sz="2800" b="1" dirty="0"/>
              <a:t>Regiones y AZ (</a:t>
            </a:r>
            <a:r>
              <a:rPr lang="es-EC" sz="2800" b="1" dirty="0" err="1"/>
              <a:t>Availability</a:t>
            </a:r>
            <a:r>
              <a:rPr lang="es-EC" sz="2800" b="1" dirty="0"/>
              <a:t> </a:t>
            </a:r>
            <a:r>
              <a:rPr lang="es-EC" sz="2800" b="1" dirty="0" err="1"/>
              <a:t>Zone</a:t>
            </a:r>
            <a:r>
              <a:rPr lang="es-EC" sz="2800" b="1" dirty="0"/>
              <a:t>)</a:t>
            </a:r>
            <a:endParaRPr sz="28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390A98-93D6-4100-A6D0-F72B7FA1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3" y="3896543"/>
            <a:ext cx="1361745" cy="4539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7327FF-430C-43C4-B915-654257255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41" y="3355982"/>
            <a:ext cx="1276635" cy="1276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12C6B4-2AFD-4F0C-9C18-47059E82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62" y="1325603"/>
            <a:ext cx="3874289" cy="38742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769C84-3974-43B6-89AB-83B56D0E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43" y="4917106"/>
            <a:ext cx="1257851" cy="125785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5DF995A-3221-4174-A109-60965850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39" y="5100191"/>
            <a:ext cx="2286000" cy="76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0528361-CFAD-4C53-B1AB-B98CC85CA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07" y="5156886"/>
            <a:ext cx="1298847" cy="778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33066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Región (Region)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0"/>
            <a:ext cx="9692639" cy="411480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>
                <a:solidFill>
                  <a:schemeClr val="tx1"/>
                </a:solidFill>
              </a:rPr>
              <a:t>Una </a:t>
            </a:r>
            <a:r>
              <a:rPr lang="es-EC" b="1" dirty="0">
                <a:solidFill>
                  <a:schemeClr val="tx1"/>
                </a:solidFill>
              </a:rPr>
              <a:t>región</a:t>
            </a:r>
            <a:r>
              <a:rPr lang="es-EC" dirty="0">
                <a:solidFill>
                  <a:schemeClr val="tx1"/>
                </a:solidFill>
              </a:rPr>
              <a:t> es un área geográfica grande (un país o parte de un continente) donde AWS tiene varios data centers.</a:t>
            </a:r>
          </a:p>
          <a:p>
            <a:endParaRPr lang="es-ES" sz="16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Ejemplos: </a:t>
            </a:r>
            <a:r>
              <a:rPr lang="es-EC" b="1" dirty="0">
                <a:solidFill>
                  <a:schemeClr val="tx1"/>
                </a:solidFill>
              </a:rPr>
              <a:t>us-east-1 (N. Virginia)</a:t>
            </a:r>
            <a:r>
              <a:rPr lang="es-EC" dirty="0">
                <a:solidFill>
                  <a:schemeClr val="tx1"/>
                </a:solidFill>
              </a:rPr>
              <a:t>, </a:t>
            </a:r>
            <a:r>
              <a:rPr lang="es-EC" b="1" dirty="0">
                <a:solidFill>
                  <a:schemeClr val="tx1"/>
                </a:solidFill>
              </a:rPr>
              <a:t>sa-east-1 (São Paulo)</a:t>
            </a:r>
            <a:r>
              <a:rPr lang="es-EC" dirty="0">
                <a:solidFill>
                  <a:schemeClr val="tx1"/>
                </a:solidFill>
              </a:rPr>
              <a:t>.</a:t>
            </a:r>
            <a:endParaRPr lang="es-ES" sz="16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Tú eliges una región para:</a:t>
            </a:r>
          </a:p>
          <a:p>
            <a:pPr lvl="0"/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C" b="1" dirty="0">
                <a:solidFill>
                  <a:schemeClr val="tx1"/>
                </a:solidFill>
              </a:rPr>
              <a:t>baja latencia</a:t>
            </a:r>
            <a:r>
              <a:rPr lang="es-EC" dirty="0">
                <a:solidFill>
                  <a:schemeClr val="tx1"/>
                </a:solidFill>
              </a:rPr>
              <a:t> (cerca de tus usuarios),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C" b="1" dirty="0">
                <a:solidFill>
                  <a:schemeClr val="tx1"/>
                </a:solidFill>
              </a:rPr>
              <a:t>cumplimiento/legal</a:t>
            </a:r>
            <a:r>
              <a:rPr lang="es-EC" dirty="0">
                <a:solidFill>
                  <a:schemeClr val="tx1"/>
                </a:solidFill>
              </a:rPr>
              <a:t> (datos en un país),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C" b="1" dirty="0">
                <a:solidFill>
                  <a:schemeClr val="tx1"/>
                </a:solidFill>
              </a:rPr>
              <a:t>costos</a:t>
            </a:r>
            <a:r>
              <a:rPr lang="es-EC" dirty="0">
                <a:solidFill>
                  <a:schemeClr val="tx1"/>
                </a:solidFill>
              </a:rPr>
              <a:t> (los precios cambian por región),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C" b="1" dirty="0">
                <a:solidFill>
                  <a:schemeClr val="tx1"/>
                </a:solidFill>
              </a:rPr>
              <a:t>servicios disponibles</a:t>
            </a:r>
            <a:r>
              <a:rPr lang="es-EC" dirty="0">
                <a:solidFill>
                  <a:schemeClr val="tx1"/>
                </a:solidFill>
              </a:rPr>
              <a:t> (no todo está en todas las regiones).</a:t>
            </a:r>
          </a:p>
          <a:p>
            <a:pPr lvl="1"/>
            <a:endParaRPr lang="es-ES" sz="1600" dirty="0">
              <a:solidFill>
                <a:schemeClr val="tx1"/>
              </a:solidFill>
            </a:endParaRPr>
          </a:p>
          <a:p>
            <a:r>
              <a:rPr lang="es-EC" dirty="0">
                <a:solidFill>
                  <a:schemeClr val="tx1"/>
                </a:solidFill>
              </a:rPr>
              <a:t>👉 Regla mental: </a:t>
            </a:r>
            <a:r>
              <a:rPr lang="es-EC" b="1" dirty="0">
                <a:solidFill>
                  <a:schemeClr val="tx1"/>
                </a:solidFill>
              </a:rPr>
              <a:t>Región = “ciudad/país”</a:t>
            </a:r>
            <a:r>
              <a:rPr lang="es-EC" dirty="0">
                <a:solidFill>
                  <a:schemeClr val="tx1"/>
                </a:solidFill>
              </a:rPr>
              <a:t> donde vive tu infraestructura.</a:t>
            </a:r>
            <a:endParaRPr lang="es-ES" sz="16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70006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Zona de disponibilidad (Availability Zone - AZ)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0"/>
            <a:ext cx="9692639" cy="411480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EC" dirty="0">
                <a:solidFill>
                  <a:schemeClr val="tx1"/>
                </a:solidFill>
              </a:rPr>
              <a:t>Dentro de una región hay varias </a:t>
            </a:r>
            <a:r>
              <a:rPr lang="es-EC" b="1" dirty="0" err="1">
                <a:solidFill>
                  <a:schemeClr val="tx1"/>
                </a:solidFill>
              </a:rPr>
              <a:t>AZs</a:t>
            </a:r>
            <a:r>
              <a:rPr lang="es-EC" dirty="0">
                <a:solidFill>
                  <a:schemeClr val="tx1"/>
                </a:solidFill>
              </a:rPr>
              <a:t> (mínimo 3)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Cada AZ es </a:t>
            </a:r>
            <a:r>
              <a:rPr lang="es-EC" b="1" dirty="0">
                <a:solidFill>
                  <a:schemeClr val="tx1"/>
                </a:solidFill>
              </a:rPr>
              <a:t>uno o más data centers</a:t>
            </a:r>
            <a:r>
              <a:rPr lang="es-EC" dirty="0">
                <a:solidFill>
                  <a:schemeClr val="tx1"/>
                </a:solidFill>
              </a:rPr>
              <a:t> separados físicamente, con:</a:t>
            </a:r>
          </a:p>
          <a:p>
            <a:pPr lvl="1"/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energía y red independientes,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protección contra fallas,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conectadas entre sí con </a:t>
            </a:r>
            <a:r>
              <a:rPr lang="es-EC" b="1" dirty="0">
                <a:solidFill>
                  <a:schemeClr val="tx1"/>
                </a:solidFill>
              </a:rPr>
              <a:t>red de muy baja latencia</a:t>
            </a:r>
            <a:r>
              <a:rPr lang="es-EC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s-ES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👉 Regla mental: </a:t>
            </a:r>
            <a:r>
              <a:rPr lang="es-EC" b="1" dirty="0">
                <a:solidFill>
                  <a:schemeClr val="tx1"/>
                </a:solidFill>
              </a:rPr>
              <a:t>AZ = “edificio o campus de data centers”</a:t>
            </a:r>
            <a:r>
              <a:rPr lang="es-EC" dirty="0">
                <a:solidFill>
                  <a:schemeClr val="tx1"/>
                </a:solidFill>
              </a:rPr>
              <a:t> dentro de esa región.</a:t>
            </a:r>
            <a:endParaRPr lang="es-ES" sz="16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41076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94535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¿Por qué importa?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MX" sz="2000" b="1" dirty="0">
                <a:solidFill>
                  <a:srgbClr val="FF0000"/>
                </a:solidFill>
              </a:rPr>
              <a:t>Alta disponibilidad</a:t>
            </a: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lvl="1"/>
            <a:r>
              <a:rPr lang="es-MX" dirty="0">
                <a:solidFill>
                  <a:schemeClr val="tx1"/>
                </a:solidFill>
              </a:rPr>
              <a:t>Si tu app corre en </a:t>
            </a:r>
            <a:r>
              <a:rPr lang="es-MX" b="1" dirty="0">
                <a:solidFill>
                  <a:schemeClr val="tx1"/>
                </a:solidFill>
              </a:rPr>
              <a:t>una sola AZ</a:t>
            </a:r>
            <a:r>
              <a:rPr lang="es-MX" dirty="0">
                <a:solidFill>
                  <a:schemeClr val="tx1"/>
                </a:solidFill>
              </a:rPr>
              <a:t> y esa AZ tiene problemas → tu app puede caerse.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chemeClr val="tx1"/>
                </a:solidFill>
              </a:rPr>
              <a:t>Si corre en </a:t>
            </a:r>
            <a:r>
              <a:rPr lang="es-MX" b="1" dirty="0">
                <a:solidFill>
                  <a:schemeClr val="tx1"/>
                </a:solidFill>
              </a:rPr>
              <a:t>2 o más </a:t>
            </a:r>
            <a:r>
              <a:rPr lang="es-MX" b="1" dirty="0" err="1">
                <a:solidFill>
                  <a:schemeClr val="tx1"/>
                </a:solidFill>
              </a:rPr>
              <a:t>AZs</a:t>
            </a:r>
            <a:r>
              <a:rPr lang="es-MX" dirty="0">
                <a:solidFill>
                  <a:schemeClr val="tx1"/>
                </a:solidFill>
              </a:rPr>
              <a:t> → si una falla, la otra sigue.</a:t>
            </a:r>
          </a:p>
          <a:p>
            <a:pPr lvl="1"/>
            <a:endParaRPr lang="es-MX" sz="1600" dirty="0">
              <a:solidFill>
                <a:schemeClr val="tx1"/>
              </a:solidFill>
            </a:endParaRPr>
          </a:p>
          <a:p>
            <a:pPr lvl="1"/>
            <a:r>
              <a:rPr lang="es-MX" b="1" dirty="0">
                <a:solidFill>
                  <a:schemeClr val="tx1"/>
                </a:solidFill>
                <a:hlinkClick r:id="rId2"/>
              </a:rPr>
              <a:t>https://aws.amazon.com/es/about-aws/global-infrastructure/</a:t>
            </a:r>
            <a:endParaRPr lang="es-MX" b="1" dirty="0">
              <a:solidFill>
                <a:schemeClr val="tx1"/>
              </a:solidFill>
            </a:endParaRPr>
          </a:p>
          <a:p>
            <a:pPr lvl="1"/>
            <a:endParaRPr lang="es-MX" b="1" dirty="0">
              <a:solidFill>
                <a:schemeClr val="tx1"/>
              </a:solidFill>
            </a:endParaRPr>
          </a:p>
          <a:p>
            <a:pPr lvl="1"/>
            <a:endParaRPr lang="es-MX" b="1" dirty="0">
              <a:solidFill>
                <a:schemeClr val="tx1"/>
              </a:solidFill>
            </a:endParaRPr>
          </a:p>
          <a:p>
            <a:pPr lvl="1"/>
            <a:r>
              <a:rPr lang="es-EC" b="1" dirty="0">
                <a:solidFill>
                  <a:srgbClr val="FF0000"/>
                </a:solidFill>
              </a:rPr>
              <a:t>D</a:t>
            </a:r>
            <a:r>
              <a:rPr lang="es-EC" sz="1800" b="1" dirty="0">
                <a:solidFill>
                  <a:srgbClr val="FF0000"/>
                </a:solidFill>
              </a:rPr>
              <a:t>isponibilidad: </a:t>
            </a:r>
            <a:r>
              <a:rPr lang="es-EC" sz="1800" dirty="0">
                <a:solidFill>
                  <a:schemeClr val="tx1"/>
                </a:solidFill>
              </a:rPr>
              <a:t>La cantidad de tiempo que el servicio está operativo y accesible cuando lo necesitas</a:t>
            </a:r>
            <a:endParaRPr lang="es-MX" dirty="0">
              <a:solidFill>
                <a:schemeClr val="tx1"/>
              </a:solidFill>
            </a:endParaRPr>
          </a:p>
          <a:p>
            <a:pPr lvl="1"/>
            <a:endParaRPr lang="es-MX" sz="16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21578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07095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b="1" dirty="0" err="1"/>
              <a:t>Regions</a:t>
            </a:r>
            <a:r>
              <a:rPr lang="es-MX" sz="2800" b="1" dirty="0"/>
              <a:t> y AZ</a:t>
            </a:r>
            <a:endParaRPr lang="es-ES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DCF43A-9A7A-475F-95C5-F733DA32E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43" y="1161011"/>
            <a:ext cx="8246226" cy="549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0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9200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1985" y="309723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El primer paso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2718263" y="2680859"/>
            <a:ext cx="7500851" cy="3183772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b="1" dirty="0"/>
              <a:t>🚀 Hoy empieza el camino hacia la certificación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	No se trata solo de aprobar…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		se trata de comprender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0519DD-BE48-4AD8-92F0-B2715AAB5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389" y="4501375"/>
            <a:ext cx="1789569" cy="10723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6F0039-F237-47BB-AF00-7BF1908A6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310" y="1663749"/>
            <a:ext cx="1912943" cy="6376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F3B10F-6186-490E-B92B-6AC971A62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823" y="1464036"/>
            <a:ext cx="1071563" cy="10715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66766A-DAA8-42EC-99E5-1DE316F27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333" y="1284284"/>
            <a:ext cx="2348625" cy="23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9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289</Words>
  <Application>Microsoft Office PowerPoint</Application>
  <PresentationFormat>Panorámica</PresentationFormat>
  <Paragraphs>39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Santiago Mosquera</dc:creator>
  <cp:keywords/>
  <dc:description>generated using python-pptx</dc:description>
  <cp:lastModifiedBy>SANTIAGO FERNANDO MOSQUERA VIZUETE</cp:lastModifiedBy>
  <cp:revision>18</cp:revision>
  <dcterms:created xsi:type="dcterms:W3CDTF">2013-01-27T09:14:16Z</dcterms:created>
  <dcterms:modified xsi:type="dcterms:W3CDTF">2026-02-19T10:52:26Z</dcterms:modified>
  <cp:category/>
</cp:coreProperties>
</file>