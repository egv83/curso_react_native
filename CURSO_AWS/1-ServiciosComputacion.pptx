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5" r:id="rId2"/>
    <p:sldId id="257" r:id="rId3"/>
    <p:sldId id="276" r:id="rId4"/>
    <p:sldId id="256" r:id="rId5"/>
    <p:sldId id="260" r:id="rId6"/>
    <p:sldId id="261" r:id="rId7"/>
    <p:sldId id="267" r:id="rId8"/>
    <p:sldId id="262" r:id="rId9"/>
    <p:sldId id="263" r:id="rId10"/>
    <p:sldId id="264" r:id="rId11"/>
    <p:sldId id="265" r:id="rId12"/>
    <p:sldId id="266" r:id="rId13"/>
    <p:sldId id="269" r:id="rId14"/>
    <p:sldId id="270" r:id="rId15"/>
    <p:sldId id="271" r:id="rId16"/>
    <p:sldId id="272" r:id="rId17"/>
    <p:sldId id="274" r:id="rId18"/>
    <p:sldId id="268" r:id="rId19"/>
    <p:sldId id="277" r:id="rId20"/>
    <p:sldId id="278" r:id="rId21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70B8C6-BF52-4F04-8C8B-03D9A1E7B31A}" type="datetimeFigureOut">
              <a:rPr lang="es-EC" smtClean="0"/>
              <a:t>10/2/2026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D6031-CBAC-4DD0-AF72-43ED7E5C17D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86905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Más fierros</a:t>
            </a:r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D6031-CBAC-4DD0-AF72-43ED7E5C17D6}" type="slidenum">
              <a:rPr lang="es-EC" smtClean="0"/>
              <a:t>8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36106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Si necesito más </a:t>
            </a:r>
            <a:r>
              <a:rPr lang="es-MX" dirty="0" err="1"/>
              <a:t>cpu</a:t>
            </a:r>
            <a:r>
              <a:rPr lang="es-MX" dirty="0"/>
              <a:t> ? Mas </a:t>
            </a:r>
            <a:r>
              <a:rPr lang="es-MX" dirty="0" err="1"/>
              <a:t>ram</a:t>
            </a:r>
            <a:r>
              <a:rPr lang="es-MX" dirty="0"/>
              <a:t>? Si tengo más concurrencia</a:t>
            </a:r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D6031-CBAC-4DD0-AF72-43ED7E5C17D6}" type="slidenum">
              <a:rPr lang="es-EC" smtClean="0"/>
              <a:t>10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48590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Si necesito más </a:t>
            </a:r>
            <a:r>
              <a:rPr lang="es-MX" dirty="0" err="1"/>
              <a:t>cpu</a:t>
            </a:r>
            <a:r>
              <a:rPr lang="es-MX" dirty="0"/>
              <a:t> ? Mas </a:t>
            </a:r>
            <a:r>
              <a:rPr lang="es-MX" dirty="0" err="1"/>
              <a:t>ram</a:t>
            </a:r>
            <a:r>
              <a:rPr lang="es-MX" dirty="0"/>
              <a:t>? Si tengo más concurrencia</a:t>
            </a:r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D6031-CBAC-4DD0-AF72-43ED7E5C17D6}" type="slidenum">
              <a:rPr lang="es-EC" smtClean="0"/>
              <a:t>11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09465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Si necesito más </a:t>
            </a:r>
            <a:r>
              <a:rPr lang="es-MX" dirty="0" err="1"/>
              <a:t>cpu</a:t>
            </a:r>
            <a:r>
              <a:rPr lang="es-MX" dirty="0"/>
              <a:t> ? Mas </a:t>
            </a:r>
            <a:r>
              <a:rPr lang="es-MX" dirty="0" err="1"/>
              <a:t>ram</a:t>
            </a:r>
            <a:r>
              <a:rPr lang="es-MX" dirty="0"/>
              <a:t>? Si tengo más concurrencia</a:t>
            </a:r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D6031-CBAC-4DD0-AF72-43ED7E5C17D6}" type="slidenum">
              <a:rPr lang="es-EC" smtClean="0"/>
              <a:t>12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58757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Si necesito más </a:t>
            </a:r>
            <a:r>
              <a:rPr lang="es-MX" dirty="0" err="1"/>
              <a:t>cpu</a:t>
            </a:r>
            <a:r>
              <a:rPr lang="es-MX" dirty="0"/>
              <a:t> ? Mas </a:t>
            </a:r>
            <a:r>
              <a:rPr lang="es-MX" dirty="0" err="1"/>
              <a:t>ram</a:t>
            </a:r>
            <a:r>
              <a:rPr lang="es-MX" dirty="0"/>
              <a:t>? Si tengo más concurrencia</a:t>
            </a:r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D6031-CBAC-4DD0-AF72-43ED7E5C17D6}" type="slidenum">
              <a:rPr lang="es-EC" smtClean="0"/>
              <a:t>13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94704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Si necesito más </a:t>
            </a:r>
            <a:r>
              <a:rPr lang="es-MX" dirty="0" err="1"/>
              <a:t>cpu</a:t>
            </a:r>
            <a:r>
              <a:rPr lang="es-MX" dirty="0"/>
              <a:t> ? Mas </a:t>
            </a:r>
            <a:r>
              <a:rPr lang="es-MX" dirty="0" err="1"/>
              <a:t>ram</a:t>
            </a:r>
            <a:r>
              <a:rPr lang="es-MX" dirty="0"/>
              <a:t>? Si tengo más concurrencia</a:t>
            </a:r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D6031-CBAC-4DD0-AF72-43ED7E5C17D6}" type="slidenum">
              <a:rPr lang="es-EC" smtClean="0"/>
              <a:t>14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8263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Menos control</a:t>
            </a:r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D6031-CBAC-4DD0-AF72-43ED7E5C17D6}" type="slidenum">
              <a:rPr lang="es-EC" smtClean="0"/>
              <a:t>15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258940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Si necesito más </a:t>
            </a:r>
            <a:r>
              <a:rPr lang="es-MX" dirty="0" err="1"/>
              <a:t>cpu</a:t>
            </a:r>
            <a:r>
              <a:rPr lang="es-MX" dirty="0"/>
              <a:t> ? Mas </a:t>
            </a:r>
            <a:r>
              <a:rPr lang="es-MX" dirty="0" err="1"/>
              <a:t>ram</a:t>
            </a:r>
            <a:r>
              <a:rPr lang="es-MX" dirty="0"/>
              <a:t>? Si tengo más concurrencia</a:t>
            </a:r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D6031-CBAC-4DD0-AF72-43ED7E5C17D6}" type="slidenum">
              <a:rPr lang="es-EC" smtClean="0"/>
              <a:t>16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497934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Si necesito más </a:t>
            </a:r>
            <a:r>
              <a:rPr lang="es-MX" dirty="0" err="1"/>
              <a:t>cpu</a:t>
            </a:r>
            <a:r>
              <a:rPr lang="es-MX" dirty="0"/>
              <a:t> ? Mas </a:t>
            </a:r>
            <a:r>
              <a:rPr lang="es-MX" dirty="0" err="1"/>
              <a:t>ram</a:t>
            </a:r>
            <a:r>
              <a:rPr lang="es-MX" dirty="0"/>
              <a:t>? Si tengo más concurrencia</a:t>
            </a:r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D6031-CBAC-4DD0-AF72-43ED7E5C17D6}" type="slidenum">
              <a:rPr lang="es-EC" smtClean="0"/>
              <a:t>17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88092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4261F-E2C2-428D-B679-815EAC6B22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623A8-5575-49E4-92C8-486EDAAE6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D5EE96-8663-4CD6-A4E9-8A8EBD3D3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F68F3-DFD8-4F1A-AF29-1FF15AFC8255}" type="datetimeFigureOut">
              <a:rPr lang="es-EC" smtClean="0"/>
              <a:t>10/2/2026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CCF402-AF60-4480-BEAD-C5EB753B8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4D42C8-247D-4077-B2FD-494E62D32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74C02-BF43-4A6A-BC1C-052E32CDEDD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93200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2D1956-0647-4A35-94BD-A6089732C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155EAD-B390-47B2-AC22-12D71EE3B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B092FC-2819-4ED3-96BF-45E1D4423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F68F3-DFD8-4F1A-AF29-1FF15AFC8255}" type="datetimeFigureOut">
              <a:rPr lang="es-EC" smtClean="0"/>
              <a:t>10/2/2026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04A593-EE46-4EC7-BDB6-09F1B47CC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CE07D6-5DB5-41F9-8E40-AB8F5F704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74C02-BF43-4A6A-BC1C-052E32CDEDD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76110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08E04B-5100-472A-B581-42F159ADC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77BFB5-A6B6-4C7C-A19C-B4CF01FC3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5D5EA6-66CA-49E7-857B-88083F2E6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F68F3-DFD8-4F1A-AF29-1FF15AFC8255}" type="datetimeFigureOut">
              <a:rPr lang="es-EC" smtClean="0"/>
              <a:t>10/2/2026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94126C-DB20-4347-84A4-0EB2C5150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BC8BA5-FDD6-4CAA-BB82-02512F63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74C02-BF43-4A6A-BC1C-052E32CDEDD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26362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E0A72-CC61-40DD-9477-E823F2253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3C2FFB-1972-409D-A59A-BFD8370F78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0FB289-1F49-43C5-8259-89699BC6EA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17F702-7184-4A9D-8978-9AA9B5339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F68F3-DFD8-4F1A-AF29-1FF15AFC8255}" type="datetimeFigureOut">
              <a:rPr lang="es-EC" smtClean="0"/>
              <a:t>10/2/2026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379849-74E1-4471-8960-036486257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3BAEE8-8507-46DB-AE72-0BC98F964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74C02-BF43-4A6A-BC1C-052E32CDEDD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28590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14864E-358D-46F2-BBDD-7C25D29EC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D0BC6E-BC8C-4929-88FA-B2FACE64B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19CFB7-E8E4-418E-9690-92F4D4501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D0B4B15-74F3-41B1-BBFF-269C315B0B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2AB065F-02E1-42C9-8C76-72C15D5F68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B686CB6-EA31-4325-83E9-32DE60911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F68F3-DFD8-4F1A-AF29-1FF15AFC8255}" type="datetimeFigureOut">
              <a:rPr lang="es-EC" smtClean="0"/>
              <a:t>10/2/2026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4C0103D-7DC0-4CE5-9767-FCEAC093A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5212E3-7600-43EA-9C8F-9198FE8AB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74C02-BF43-4A6A-BC1C-052E32CDEDD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11260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7AEE35-6B08-4134-B6B0-B060E2D3F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47ABEE6-355E-4CEB-B273-A3F2E3D3D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F68F3-DFD8-4F1A-AF29-1FF15AFC8255}" type="datetimeFigureOut">
              <a:rPr lang="es-EC" smtClean="0"/>
              <a:t>10/2/2026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8656A76-10B3-4F1C-9018-C246C5ED3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4D5DF21-84FA-40E8-BA4B-38149DAEC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74C02-BF43-4A6A-BC1C-052E32CDEDD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16911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338E9F2-2945-40D3-94A9-E3F111639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F68F3-DFD8-4F1A-AF29-1FF15AFC8255}" type="datetimeFigureOut">
              <a:rPr lang="es-EC" smtClean="0"/>
              <a:t>10/2/2026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8634CD2-3138-499B-AF6B-EBAC47A40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BA6748F-BB73-4075-B91B-8EED5FB35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74C02-BF43-4A6A-BC1C-052E32CDEDD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34134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6FBC66-085C-4D17-9552-99C077E00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6E0FC1-6553-4151-8A50-F1DEFCAC6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B6F6DD6-D196-44AD-8E8D-D31B62A6D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02A1CF6-A504-4A55-B46F-9787C4F1D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F68F3-DFD8-4F1A-AF29-1FF15AFC8255}" type="datetimeFigureOut">
              <a:rPr lang="es-EC" smtClean="0"/>
              <a:t>10/2/2026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913052-7095-4CB5-A09A-B048731E7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53F6DA-FEBA-4BD4-A7D2-72557382D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74C02-BF43-4A6A-BC1C-052E32CDEDD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10245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C7DE5E-66B0-4716-BCF7-BBB55896A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994FCE2-34DE-490C-8629-D53E21ADF2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459463-D450-41BE-8AA5-5FAD4C8FA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118421-BBDB-4754-81EA-9DFBF0CD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F68F3-DFD8-4F1A-AF29-1FF15AFC8255}" type="datetimeFigureOut">
              <a:rPr lang="es-EC" smtClean="0"/>
              <a:t>10/2/2026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A23601F-786D-4237-B00D-74ADD3EE2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526C4C0-6B59-41E3-BD53-F1F8240A2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74C02-BF43-4A6A-BC1C-052E32CDEDD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00623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A8F486-7D26-4010-8A61-5CD3F966E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1A72109-A571-4CFC-B591-6E3F760D3B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7D4F99-7F32-4B53-BEEA-5572D9B76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F68F3-DFD8-4F1A-AF29-1FF15AFC8255}" type="datetimeFigureOut">
              <a:rPr lang="es-EC" smtClean="0"/>
              <a:t>10/2/2026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A13F2C-EFD1-4C71-902C-40CFBC8B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2DAF92-ABF8-4512-B970-89FD629B0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74C02-BF43-4A6A-BC1C-052E32CDEDD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80475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11A5AE5-4C75-408F-9955-87DCC3BE0B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E0501D-13DE-492F-9675-5B57C547A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1B5DEA-2683-498F-8D71-4843A98A1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F68F3-DFD8-4F1A-AF29-1FF15AFC8255}" type="datetimeFigureOut">
              <a:rPr lang="es-EC" smtClean="0"/>
              <a:t>10/2/2026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7D74BE-C489-406B-BEA5-F96FABCE5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828F35-4D6F-46CB-93BF-2C75D2A98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74C02-BF43-4A6A-BC1C-052E32CDEDD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52892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40A06E7-2A77-4533-9FAD-E7F69355A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0AC1EE8-3C02-4203-8D0E-0506DA567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D920F1-F83D-4012-8A54-66A178F2D5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F68F3-DFD8-4F1A-AF29-1FF15AFC8255}" type="datetimeFigureOut">
              <a:rPr lang="es-EC" smtClean="0"/>
              <a:t>10/2/2026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40FF9B-3D47-49F3-9AC3-359D84BB34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D6DA6F-5A94-44AF-B230-0990D25BC9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74C02-BF43-4A6A-BC1C-052E32CDEDD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51768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ursoaws.vercel.app/servicios%20-%20g1/previa/previa.html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ursoaws.vercel.app/servicios%20-%20g1/final/final.html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ursoaws.vercel.app/servicios%20-%20g1/ejercicios/index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507E515-E638-4664-8190-C81A3335F61F}"/>
              </a:ext>
            </a:extLst>
          </p:cNvPr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322C315A-2516-4A44-98A6-A6721D484BB1}"/>
              </a:ext>
            </a:extLst>
          </p:cNvPr>
          <p:cNvSpPr txBox="1"/>
          <p:nvPr/>
        </p:nvSpPr>
        <p:spPr>
          <a:xfrm>
            <a:off x="5317903" y="2770304"/>
            <a:ext cx="4931158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32F3E"/>
                </a:solidFill>
              </a:defRPr>
            </a:pPr>
            <a:r>
              <a:rPr sz="3800" dirty="0"/>
              <a:t>AWS Cloud Practitioner</a:t>
            </a:r>
          </a:p>
          <a:p>
            <a:pPr algn="ctr">
              <a:defRPr sz="2000"/>
            </a:pPr>
            <a:r>
              <a:rPr sz="2000" dirty="0" err="1"/>
              <a:t>Curso</a:t>
            </a:r>
            <a:r>
              <a:rPr sz="2000" dirty="0"/>
              <a:t> de </a:t>
            </a:r>
            <a:r>
              <a:rPr sz="2000" dirty="0" err="1"/>
              <a:t>preparación</a:t>
            </a:r>
            <a:r>
              <a:rPr sz="2000" dirty="0"/>
              <a:t> para la </a:t>
            </a:r>
            <a:r>
              <a:rPr sz="2000" dirty="0" err="1"/>
              <a:t>certificación</a:t>
            </a:r>
            <a:endParaRPr sz="20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3D76EF7-F3C5-4087-9E77-540E5472F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603" y="3896543"/>
            <a:ext cx="1361745" cy="45391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5699AB5-10A8-4417-9A89-2D2882045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041" y="3355982"/>
            <a:ext cx="1276635" cy="127663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9B948B3-C402-497D-8A15-2B9186EA92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662" y="1325603"/>
            <a:ext cx="3874289" cy="387428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BFB59F8-0489-4832-B670-91A691379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43" y="4917106"/>
            <a:ext cx="1257851" cy="125785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3DF55BF-F554-44A0-A7D8-A82D6C407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839" y="5100191"/>
            <a:ext cx="2286000" cy="762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C032ED9-0293-48D9-B47B-CF67F2C90F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5707" y="5156886"/>
            <a:ext cx="1298847" cy="77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843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2084A3FA-9443-46D5-A9B7-73ED7C7F41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557" y="246490"/>
            <a:ext cx="7818120" cy="521208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803CF23C-F9BC-4A06-B7AD-DF72511E70DB}"/>
              </a:ext>
            </a:extLst>
          </p:cNvPr>
          <p:cNvSpPr/>
          <p:nvPr/>
        </p:nvSpPr>
        <p:spPr>
          <a:xfrm>
            <a:off x="2242268" y="246490"/>
            <a:ext cx="7076661" cy="244900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B82E8E4-C102-47EB-8249-0213CB359948}"/>
              </a:ext>
            </a:extLst>
          </p:cNvPr>
          <p:cNvSpPr/>
          <p:nvPr/>
        </p:nvSpPr>
        <p:spPr>
          <a:xfrm>
            <a:off x="8183217" y="2482132"/>
            <a:ext cx="1024951" cy="244900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00581C2-9146-42A6-A018-7A0912227AAC}"/>
              </a:ext>
            </a:extLst>
          </p:cNvPr>
          <p:cNvSpPr/>
          <p:nvPr/>
        </p:nvSpPr>
        <p:spPr>
          <a:xfrm>
            <a:off x="2480807" y="2250219"/>
            <a:ext cx="6623436" cy="34985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C0A146D-2FA4-4D6B-BC8C-F4D6D23553C7}"/>
              </a:ext>
            </a:extLst>
          </p:cNvPr>
          <p:cNvSpPr/>
          <p:nvPr/>
        </p:nvSpPr>
        <p:spPr>
          <a:xfrm>
            <a:off x="7768425" y="5527481"/>
            <a:ext cx="2170706" cy="38961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SERVIDOR</a:t>
            </a:r>
            <a:endParaRPr lang="es-EC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ACAB3A0-6B0F-4802-BD23-BA001F33938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35" t="26784" r="32451" b="26576"/>
          <a:stretch/>
        </p:blipFill>
        <p:spPr>
          <a:xfrm>
            <a:off x="913930" y="1365940"/>
            <a:ext cx="1276375" cy="153772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97467CE-C308-43DE-A82A-6697DCCBC387}"/>
              </a:ext>
            </a:extLst>
          </p:cNvPr>
          <p:cNvSpPr txBox="1"/>
          <p:nvPr/>
        </p:nvSpPr>
        <p:spPr>
          <a:xfrm>
            <a:off x="946484" y="2988779"/>
            <a:ext cx="1430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err="1"/>
              <a:t>on</a:t>
            </a:r>
            <a:r>
              <a:rPr lang="es-MX" b="1" dirty="0"/>
              <a:t>-Premise</a:t>
            </a:r>
            <a:endParaRPr lang="es-EC" b="1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1A8A882A-4F28-4E7C-99FB-5B3868793BE2}"/>
              </a:ext>
            </a:extLst>
          </p:cNvPr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441C1514-83F6-44CC-9B6D-906D4BE057C0}"/>
              </a:ext>
            </a:extLst>
          </p:cNvPr>
          <p:cNvSpPr txBox="1"/>
          <p:nvPr/>
        </p:nvSpPr>
        <p:spPr>
          <a:xfrm>
            <a:off x="451660" y="199505"/>
            <a:ext cx="215661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sz="2800" dirty="0"/>
              <a:t>Qué es AWS?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2558388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2084A3FA-9443-46D5-A9B7-73ED7C7F41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001" y="861632"/>
            <a:ext cx="7818120" cy="521208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35415F76-5381-4703-9885-2EE4BCDA3F42}"/>
              </a:ext>
            </a:extLst>
          </p:cNvPr>
          <p:cNvSpPr/>
          <p:nvPr/>
        </p:nvSpPr>
        <p:spPr>
          <a:xfrm>
            <a:off x="8415613" y="2914394"/>
            <a:ext cx="1024951" cy="244900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A4FD799-F5BC-4B2D-AAAA-BF402E0FE8C8}"/>
              </a:ext>
            </a:extLst>
          </p:cNvPr>
          <p:cNvSpPr/>
          <p:nvPr/>
        </p:nvSpPr>
        <p:spPr>
          <a:xfrm>
            <a:off x="2705251" y="2865361"/>
            <a:ext cx="6623436" cy="34985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2444846-050E-4994-8FC4-1C08D0E8E5CD}"/>
              </a:ext>
            </a:extLst>
          </p:cNvPr>
          <p:cNvSpPr/>
          <p:nvPr/>
        </p:nvSpPr>
        <p:spPr>
          <a:xfrm>
            <a:off x="7992869" y="6142623"/>
            <a:ext cx="2170706" cy="38961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SERVIDOR</a:t>
            </a:r>
            <a:endParaRPr lang="es-EC" dirty="0"/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7B46645F-8F42-41E2-BEE2-BE958C9FC05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35" t="26784" r="32451" b="26576"/>
          <a:stretch/>
        </p:blipFill>
        <p:spPr>
          <a:xfrm>
            <a:off x="2044195" y="1754862"/>
            <a:ext cx="1276375" cy="1537720"/>
          </a:xfrm>
          <a:prstGeom prst="rect">
            <a:avLst/>
          </a:prstGeom>
        </p:spPr>
      </p:pic>
      <p:sp>
        <p:nvSpPr>
          <p:cNvPr id="31" name="CuadroTexto 30">
            <a:extLst>
              <a:ext uri="{FF2B5EF4-FFF2-40B4-BE49-F238E27FC236}">
                <a16:creationId xmlns:a16="http://schemas.microsoft.com/office/drawing/2014/main" id="{D25481F6-CD35-46F6-AA32-B24080C3B0F2}"/>
              </a:ext>
            </a:extLst>
          </p:cNvPr>
          <p:cNvSpPr txBox="1"/>
          <p:nvPr/>
        </p:nvSpPr>
        <p:spPr>
          <a:xfrm>
            <a:off x="1170928" y="3603921"/>
            <a:ext cx="1430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err="1"/>
              <a:t>on</a:t>
            </a:r>
            <a:r>
              <a:rPr lang="es-MX" b="1" dirty="0"/>
              <a:t>-Premise</a:t>
            </a:r>
            <a:endParaRPr lang="es-EC" b="1" dirty="0"/>
          </a:p>
        </p:txBody>
      </p:sp>
      <p:sp>
        <p:nvSpPr>
          <p:cNvPr id="32" name="Rectangle 1">
            <a:extLst>
              <a:ext uri="{FF2B5EF4-FFF2-40B4-BE49-F238E27FC236}">
                <a16:creationId xmlns:a16="http://schemas.microsoft.com/office/drawing/2014/main" id="{AE86F924-59A1-4FB7-B123-7B0E9F81CB9B}"/>
              </a:ext>
            </a:extLst>
          </p:cNvPr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2">
            <a:extLst>
              <a:ext uri="{FF2B5EF4-FFF2-40B4-BE49-F238E27FC236}">
                <a16:creationId xmlns:a16="http://schemas.microsoft.com/office/drawing/2014/main" id="{B2990483-0957-4747-8EDF-197E81762214}"/>
              </a:ext>
            </a:extLst>
          </p:cNvPr>
          <p:cNvSpPr txBox="1"/>
          <p:nvPr/>
        </p:nvSpPr>
        <p:spPr>
          <a:xfrm>
            <a:off x="451660" y="199505"/>
            <a:ext cx="215661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sz="2800" dirty="0"/>
              <a:t>Qué es AWS?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642121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2084A3FA-9443-46D5-A9B7-73ED7C7F41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001" y="861632"/>
            <a:ext cx="7818120" cy="521208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35415F76-5381-4703-9885-2EE4BCDA3F42}"/>
              </a:ext>
            </a:extLst>
          </p:cNvPr>
          <p:cNvSpPr/>
          <p:nvPr/>
        </p:nvSpPr>
        <p:spPr>
          <a:xfrm>
            <a:off x="8415613" y="2914394"/>
            <a:ext cx="1024951" cy="244900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A4FD799-F5BC-4B2D-AAAA-BF402E0FE8C8}"/>
              </a:ext>
            </a:extLst>
          </p:cNvPr>
          <p:cNvSpPr/>
          <p:nvPr/>
        </p:nvSpPr>
        <p:spPr>
          <a:xfrm>
            <a:off x="2705251" y="2865361"/>
            <a:ext cx="6623436" cy="34985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2444846-050E-4994-8FC4-1C08D0E8E5CD}"/>
              </a:ext>
            </a:extLst>
          </p:cNvPr>
          <p:cNvSpPr/>
          <p:nvPr/>
        </p:nvSpPr>
        <p:spPr>
          <a:xfrm>
            <a:off x="7992869" y="6142623"/>
            <a:ext cx="2170706" cy="38961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SERVIDOR</a:t>
            </a:r>
            <a:endParaRPr lang="es-EC" dirty="0"/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7B46645F-8F42-41E2-BEE2-BE958C9FC05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35" t="26784" r="32451" b="26576"/>
          <a:stretch/>
        </p:blipFill>
        <p:spPr>
          <a:xfrm>
            <a:off x="2044195" y="1754862"/>
            <a:ext cx="1276375" cy="1537720"/>
          </a:xfrm>
          <a:prstGeom prst="rect">
            <a:avLst/>
          </a:prstGeom>
        </p:spPr>
      </p:pic>
      <p:sp>
        <p:nvSpPr>
          <p:cNvPr id="31" name="CuadroTexto 30">
            <a:extLst>
              <a:ext uri="{FF2B5EF4-FFF2-40B4-BE49-F238E27FC236}">
                <a16:creationId xmlns:a16="http://schemas.microsoft.com/office/drawing/2014/main" id="{D25481F6-CD35-46F6-AA32-B24080C3B0F2}"/>
              </a:ext>
            </a:extLst>
          </p:cNvPr>
          <p:cNvSpPr txBox="1"/>
          <p:nvPr/>
        </p:nvSpPr>
        <p:spPr>
          <a:xfrm>
            <a:off x="1170928" y="3603921"/>
            <a:ext cx="1430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err="1"/>
              <a:t>on</a:t>
            </a:r>
            <a:r>
              <a:rPr lang="es-MX" b="1" dirty="0"/>
              <a:t>-Premise</a:t>
            </a:r>
            <a:endParaRPr lang="es-EC" b="1" dirty="0"/>
          </a:p>
        </p:txBody>
      </p:sp>
      <p:sp>
        <p:nvSpPr>
          <p:cNvPr id="32" name="Rectangle 1">
            <a:extLst>
              <a:ext uri="{FF2B5EF4-FFF2-40B4-BE49-F238E27FC236}">
                <a16:creationId xmlns:a16="http://schemas.microsoft.com/office/drawing/2014/main" id="{AE86F924-59A1-4FB7-B123-7B0E9F81CB9B}"/>
              </a:ext>
            </a:extLst>
          </p:cNvPr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2">
            <a:extLst>
              <a:ext uri="{FF2B5EF4-FFF2-40B4-BE49-F238E27FC236}">
                <a16:creationId xmlns:a16="http://schemas.microsoft.com/office/drawing/2014/main" id="{B2990483-0957-4747-8EDF-197E81762214}"/>
              </a:ext>
            </a:extLst>
          </p:cNvPr>
          <p:cNvSpPr txBox="1"/>
          <p:nvPr/>
        </p:nvSpPr>
        <p:spPr>
          <a:xfrm>
            <a:off x="451660" y="199505"/>
            <a:ext cx="215661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sz="2800" dirty="0"/>
              <a:t>Qué es AWS?</a:t>
            </a:r>
            <a:endParaRPr sz="2800" dirty="0"/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1B1393BF-73C3-412D-B621-945D32E64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710" y="1754862"/>
            <a:ext cx="883997" cy="103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658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772F86D5-6673-4985-B63F-3CB534BE7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2709" y="1620254"/>
            <a:ext cx="1525985" cy="91439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B36891F-4BBF-419F-B3BB-119273508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904" y="1891123"/>
            <a:ext cx="4973463" cy="353111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880221CC-6EEE-45BB-BD42-3B33829C99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35" t="26784" r="32451" b="26576"/>
          <a:stretch/>
        </p:blipFill>
        <p:spPr>
          <a:xfrm>
            <a:off x="993582" y="1154850"/>
            <a:ext cx="1276375" cy="153772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6520BBAD-A0EA-49C8-9DFF-DF0B2DCCAA2C}"/>
              </a:ext>
            </a:extLst>
          </p:cNvPr>
          <p:cNvSpPr txBox="1"/>
          <p:nvPr/>
        </p:nvSpPr>
        <p:spPr>
          <a:xfrm>
            <a:off x="497305" y="2692570"/>
            <a:ext cx="1430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err="1"/>
              <a:t>on</a:t>
            </a:r>
            <a:r>
              <a:rPr lang="es-MX" b="1" dirty="0"/>
              <a:t>-Premise</a:t>
            </a:r>
            <a:endParaRPr lang="es-EC" b="1" dirty="0"/>
          </a:p>
        </p:txBody>
      </p:sp>
      <p:sp>
        <p:nvSpPr>
          <p:cNvPr id="11" name="Nube 10">
            <a:extLst>
              <a:ext uri="{FF2B5EF4-FFF2-40B4-BE49-F238E27FC236}">
                <a16:creationId xmlns:a16="http://schemas.microsoft.com/office/drawing/2014/main" id="{D5A6AA4C-0835-48AD-BCCC-73B086DB5012}"/>
              </a:ext>
            </a:extLst>
          </p:cNvPr>
          <p:cNvSpPr/>
          <p:nvPr/>
        </p:nvSpPr>
        <p:spPr>
          <a:xfrm>
            <a:off x="6866021" y="1491915"/>
            <a:ext cx="5085347" cy="3874169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C0EFF320-8D74-462E-9BCE-77B71A661FE7}"/>
              </a:ext>
            </a:extLst>
          </p:cNvPr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2">
            <a:extLst>
              <a:ext uri="{FF2B5EF4-FFF2-40B4-BE49-F238E27FC236}">
                <a16:creationId xmlns:a16="http://schemas.microsoft.com/office/drawing/2014/main" id="{989FA0E2-CA9A-48D4-BAE6-B64F89E47F95}"/>
              </a:ext>
            </a:extLst>
          </p:cNvPr>
          <p:cNvSpPr txBox="1"/>
          <p:nvPr/>
        </p:nvSpPr>
        <p:spPr>
          <a:xfrm>
            <a:off x="451660" y="199505"/>
            <a:ext cx="215661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sz="2800" dirty="0"/>
              <a:t>Qué es AWS?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976944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772F86D5-6673-4985-B63F-3CB534BE7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5831" y="1697839"/>
            <a:ext cx="1525985" cy="91439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B36891F-4BBF-419F-B3BB-119273508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236" y="2763295"/>
            <a:ext cx="3694254" cy="2622884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880221CC-6EEE-45BB-BD42-3B33829C99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35" t="26784" r="32451" b="26576"/>
          <a:stretch/>
        </p:blipFill>
        <p:spPr>
          <a:xfrm>
            <a:off x="1010207" y="1994435"/>
            <a:ext cx="1276375" cy="153772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6520BBAD-A0EA-49C8-9DFF-DF0B2DCCAA2C}"/>
              </a:ext>
            </a:extLst>
          </p:cNvPr>
          <p:cNvSpPr txBox="1"/>
          <p:nvPr/>
        </p:nvSpPr>
        <p:spPr>
          <a:xfrm>
            <a:off x="513930" y="3532155"/>
            <a:ext cx="1430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err="1"/>
              <a:t>on</a:t>
            </a:r>
            <a:r>
              <a:rPr lang="es-MX" b="1" dirty="0"/>
              <a:t>-Premise</a:t>
            </a:r>
            <a:endParaRPr lang="es-EC" b="1" dirty="0"/>
          </a:p>
        </p:txBody>
      </p:sp>
      <p:sp>
        <p:nvSpPr>
          <p:cNvPr id="11" name="Nube 10">
            <a:extLst>
              <a:ext uri="{FF2B5EF4-FFF2-40B4-BE49-F238E27FC236}">
                <a16:creationId xmlns:a16="http://schemas.microsoft.com/office/drawing/2014/main" id="{D5A6AA4C-0835-48AD-BCCC-73B086DB5012}"/>
              </a:ext>
            </a:extLst>
          </p:cNvPr>
          <p:cNvSpPr/>
          <p:nvPr/>
        </p:nvSpPr>
        <p:spPr>
          <a:xfrm>
            <a:off x="6882646" y="2331500"/>
            <a:ext cx="5085347" cy="3874169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83FAD95-EF30-4990-96B4-04C5AFD2715A}"/>
              </a:ext>
            </a:extLst>
          </p:cNvPr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F1194C26-E62A-448E-ABB7-E4DD8B458191}"/>
              </a:ext>
            </a:extLst>
          </p:cNvPr>
          <p:cNvSpPr txBox="1"/>
          <p:nvPr/>
        </p:nvSpPr>
        <p:spPr>
          <a:xfrm>
            <a:off x="451660" y="199505"/>
            <a:ext cx="215661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sz="2800" dirty="0"/>
              <a:t>Qué es AWS?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1089971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A9C64FF5-7EB3-4C82-BEDD-D7B7AE991937}"/>
              </a:ext>
            </a:extLst>
          </p:cNvPr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98D3BA07-97D8-46F7-9C05-534EDE121564}"/>
              </a:ext>
            </a:extLst>
          </p:cNvPr>
          <p:cNvSpPr txBox="1"/>
          <p:nvPr/>
        </p:nvSpPr>
        <p:spPr>
          <a:xfrm>
            <a:off x="451660" y="199505"/>
            <a:ext cx="40190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sz="2800" dirty="0"/>
              <a:t>Servicios de Computación</a:t>
            </a:r>
            <a:endParaRPr sz="28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32D5C78-DDE3-4EB5-9A16-10785F1DC9E0}"/>
              </a:ext>
            </a:extLst>
          </p:cNvPr>
          <p:cNvSpPr txBox="1"/>
          <p:nvPr/>
        </p:nvSpPr>
        <p:spPr>
          <a:xfrm>
            <a:off x="5168438" y="3256494"/>
            <a:ext cx="60973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De cabeza y sin casco</a:t>
            </a:r>
            <a:br>
              <a:rPr lang="es-MX" dirty="0"/>
            </a:br>
            <a:endParaRPr lang="es-MX" dirty="0"/>
          </a:p>
          <a:p>
            <a:endParaRPr lang="es-MX" i="1" dirty="0"/>
          </a:p>
          <a:p>
            <a:r>
              <a:rPr lang="es-MX" i="1" dirty="0"/>
              <a:t>Razonamiento sin explicación previa</a:t>
            </a:r>
          </a:p>
          <a:p>
            <a:endParaRPr lang="es-EC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ABE56C9-3B8E-40B4-9CA6-18C923CD4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8" y="2323631"/>
            <a:ext cx="2461473" cy="2842506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B63B7C94-8321-4088-80FD-22EAF92C4002}"/>
              </a:ext>
            </a:extLst>
          </p:cNvPr>
          <p:cNvSpPr txBox="1"/>
          <p:nvPr/>
        </p:nvSpPr>
        <p:spPr>
          <a:xfrm>
            <a:off x="5168438" y="4981471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dirty="0">
                <a:hlinkClick r:id="rId3"/>
              </a:rPr>
              <a:t>AWS – Emparejamiento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391361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1D9615E-AE35-4F23-ADFC-1D08F070A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718" y="2669668"/>
            <a:ext cx="7353937" cy="3749365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7C04752A-C24A-4C4D-A5F7-E7BF36F9A6E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35" t="26784" r="32451" b="26576"/>
          <a:stretch/>
        </p:blipFill>
        <p:spPr>
          <a:xfrm>
            <a:off x="1043458" y="1570486"/>
            <a:ext cx="1276375" cy="153772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B5EEF846-42EE-4484-B958-C4AC26223D65}"/>
              </a:ext>
            </a:extLst>
          </p:cNvPr>
          <p:cNvSpPr txBox="1"/>
          <p:nvPr/>
        </p:nvSpPr>
        <p:spPr>
          <a:xfrm>
            <a:off x="2081783" y="1699688"/>
            <a:ext cx="1430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err="1"/>
              <a:t>on</a:t>
            </a:r>
            <a:r>
              <a:rPr lang="es-MX" b="1" dirty="0"/>
              <a:t>-Premise</a:t>
            </a:r>
            <a:endParaRPr lang="es-EC" b="1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D31A1B7-AB47-4233-BDF2-CE19BD716518}"/>
              </a:ext>
            </a:extLst>
          </p:cNvPr>
          <p:cNvSpPr txBox="1"/>
          <p:nvPr/>
        </p:nvSpPr>
        <p:spPr>
          <a:xfrm>
            <a:off x="4377221" y="1409548"/>
            <a:ext cx="6430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Qué debo hacer si necesito más CPU o memoria en mi servidor?</a:t>
            </a:r>
            <a:endParaRPr lang="es-EC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65403D1-2579-4ACC-9768-11DFF1FABBC7}"/>
              </a:ext>
            </a:extLst>
          </p:cNvPr>
          <p:cNvSpPr txBox="1"/>
          <p:nvPr/>
        </p:nvSpPr>
        <p:spPr>
          <a:xfrm>
            <a:off x="4377221" y="1768776"/>
            <a:ext cx="6430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Y si hay mucha concurrencia?</a:t>
            </a:r>
            <a:endParaRPr lang="es-EC" dirty="0"/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F99F1BCA-7BBB-4863-83E8-C3A0344504ED}"/>
              </a:ext>
            </a:extLst>
          </p:cNvPr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">
            <a:extLst>
              <a:ext uri="{FF2B5EF4-FFF2-40B4-BE49-F238E27FC236}">
                <a16:creationId xmlns:a16="http://schemas.microsoft.com/office/drawing/2014/main" id="{EB06AF70-B847-41F5-A16D-988809548720}"/>
              </a:ext>
            </a:extLst>
          </p:cNvPr>
          <p:cNvSpPr txBox="1"/>
          <p:nvPr/>
        </p:nvSpPr>
        <p:spPr>
          <a:xfrm>
            <a:off x="451660" y="199505"/>
            <a:ext cx="73289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sz="2800" dirty="0"/>
              <a:t>EC2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3775047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A34B6C7-1667-49B2-A855-84CB1AA10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80" y="2499987"/>
            <a:ext cx="1618789" cy="161878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CAD0777-6E5F-4DBA-9041-96A5D02DEE80}"/>
              </a:ext>
            </a:extLst>
          </p:cNvPr>
          <p:cNvSpPr txBox="1"/>
          <p:nvPr/>
        </p:nvSpPr>
        <p:spPr>
          <a:xfrm>
            <a:off x="1500965" y="4180600"/>
            <a:ext cx="12404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/>
              <a:t>EC2</a:t>
            </a:r>
            <a:endParaRPr lang="es-EC" sz="32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F5BC249-A6A3-4616-9AD8-8E53FECD3D97}"/>
              </a:ext>
            </a:extLst>
          </p:cNvPr>
          <p:cNvSpPr txBox="1"/>
          <p:nvPr/>
        </p:nvSpPr>
        <p:spPr>
          <a:xfrm>
            <a:off x="789168" y="4580709"/>
            <a:ext cx="2884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dirty="0" err="1"/>
              <a:t>Elastic</a:t>
            </a:r>
            <a:r>
              <a:rPr lang="es-EC" dirty="0"/>
              <a:t> Compute Cloud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0D79F24-9BD3-40CF-AD17-112413D1996D}"/>
              </a:ext>
            </a:extLst>
          </p:cNvPr>
          <p:cNvSpPr txBox="1"/>
          <p:nvPr/>
        </p:nvSpPr>
        <p:spPr>
          <a:xfrm>
            <a:off x="3293828" y="1376383"/>
            <a:ext cx="79334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EC2</a:t>
            </a:r>
            <a:r>
              <a:rPr lang="es-MX" dirty="0"/>
              <a:t> es un servicio de </a:t>
            </a:r>
            <a:r>
              <a:rPr lang="es-MX" b="1" dirty="0"/>
              <a:t>Amazon Web </a:t>
            </a:r>
            <a:r>
              <a:rPr lang="es-MX" b="1" dirty="0" err="1"/>
              <a:t>Services</a:t>
            </a:r>
            <a:r>
              <a:rPr lang="es-MX" dirty="0"/>
              <a:t> que proporciona </a:t>
            </a:r>
            <a:r>
              <a:rPr lang="es-MX" b="1" dirty="0"/>
              <a:t>capacidad de cómputo en la nube mediante instancias (servidores virtuales)</a:t>
            </a:r>
            <a:r>
              <a:rPr lang="es-MX" dirty="0"/>
              <a:t>. Permite ejecutar aplicaciones sin necesidad de adquirir ni mantener infraestructura física, pagando solo por el uso de los recursos.</a:t>
            </a:r>
            <a:endParaRPr lang="es-EC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66CD5DB-25B2-4197-B059-D1F675F603F7}"/>
              </a:ext>
            </a:extLst>
          </p:cNvPr>
          <p:cNvSpPr txBox="1"/>
          <p:nvPr/>
        </p:nvSpPr>
        <p:spPr>
          <a:xfrm>
            <a:off x="4104862" y="3189953"/>
            <a:ext cx="609467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Principales ventajas de EC2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Cómputo bajo demanda</a:t>
            </a:r>
            <a:r>
              <a:rPr lang="es-MX" dirty="0"/>
              <a:t>: creación y eliminación de instancias en minutos.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Pago por uso</a:t>
            </a:r>
            <a:r>
              <a:rPr lang="es-MX" dirty="0"/>
              <a:t>: se paga únicamente por el tiempo y recursos consumidos.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Flexibilidad</a:t>
            </a:r>
            <a:r>
              <a:rPr lang="es-MX" dirty="0"/>
              <a:t>: múltiples tipos y tamaños de instancias según la carga de trabajo.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Control del sistema operativo</a:t>
            </a:r>
            <a:r>
              <a:rPr lang="es-MX" dirty="0"/>
              <a:t>: acceso completo al servidor.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E39F54AC-FA65-4A5F-A9E9-E3CC73BB4A70}"/>
              </a:ext>
            </a:extLst>
          </p:cNvPr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C6CA5FE9-DFCE-4334-9021-91A5A146B583}"/>
              </a:ext>
            </a:extLst>
          </p:cNvPr>
          <p:cNvSpPr txBox="1"/>
          <p:nvPr/>
        </p:nvSpPr>
        <p:spPr>
          <a:xfrm>
            <a:off x="451660" y="199505"/>
            <a:ext cx="73289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sz="2800" dirty="0"/>
              <a:t>EC2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779046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0D3BEADF-21CF-490B-91A2-F57B33FE902F}"/>
              </a:ext>
            </a:extLst>
          </p:cNvPr>
          <p:cNvSpPr txBox="1"/>
          <p:nvPr/>
        </p:nvSpPr>
        <p:spPr>
          <a:xfrm>
            <a:off x="900485" y="1376384"/>
            <a:ext cx="92135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ESCALABILIDAD</a:t>
            </a:r>
          </a:p>
          <a:p>
            <a:endParaRPr lang="es-MX" b="1" dirty="0"/>
          </a:p>
          <a:p>
            <a:r>
              <a:rPr lang="es-MX" dirty="0"/>
              <a:t>Es la </a:t>
            </a:r>
            <a:r>
              <a:rPr lang="es-MX" b="1" dirty="0"/>
              <a:t>capacidad de un sistema para aumentar o reducir sus recursos</a:t>
            </a:r>
            <a:r>
              <a:rPr lang="es-MX" dirty="0"/>
              <a:t> según la demanda</a:t>
            </a:r>
            <a:endParaRPr lang="es-EC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F3C7DC7-A710-4F22-B50A-EB0ECDA471DB}"/>
              </a:ext>
            </a:extLst>
          </p:cNvPr>
          <p:cNvSpPr txBox="1"/>
          <p:nvPr/>
        </p:nvSpPr>
        <p:spPr>
          <a:xfrm>
            <a:off x="2375362" y="6218399"/>
            <a:ext cx="17976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VERTICAL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C17855D-A683-4CEB-BD9F-F32D3353D2B6}"/>
              </a:ext>
            </a:extLst>
          </p:cNvPr>
          <p:cNvSpPr txBox="1"/>
          <p:nvPr/>
        </p:nvSpPr>
        <p:spPr>
          <a:xfrm>
            <a:off x="7016635" y="6108262"/>
            <a:ext cx="17976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HORIZONTAL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828ACD27-3647-4BFE-A737-FB2AB3B621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011" y="2456604"/>
            <a:ext cx="2557549" cy="3836324"/>
          </a:xfrm>
          <a:prstGeom prst="rect">
            <a:avLst/>
          </a:prstGeom>
        </p:spPr>
      </p:pic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C6B0BA82-1853-4CDF-A615-A666CF68B31A}"/>
              </a:ext>
            </a:extLst>
          </p:cNvPr>
          <p:cNvSpPr/>
          <p:nvPr/>
        </p:nvSpPr>
        <p:spPr>
          <a:xfrm rot="16200000">
            <a:off x="1113905" y="3992013"/>
            <a:ext cx="897775" cy="423949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A9FCB99A-DDF7-44A9-AA8E-8AB670B83C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767" y="4558287"/>
            <a:ext cx="914479" cy="1234547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3B1F71B7-3B4F-4DAF-B1BD-CB36CF5100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977" y="4558286"/>
            <a:ext cx="914479" cy="1234547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225A91EB-1BE0-4FFF-B407-1EBAA9FF0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9783" y="4558285"/>
            <a:ext cx="914479" cy="1234547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22621CE0-0E85-4625-952D-AA8529A2C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7589" y="4558285"/>
            <a:ext cx="914479" cy="1234547"/>
          </a:xfrm>
          <a:prstGeom prst="rect">
            <a:avLst/>
          </a:prstGeom>
        </p:spPr>
      </p:pic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047EA1CC-949A-4C3E-B242-D97DAB147B40}"/>
              </a:ext>
            </a:extLst>
          </p:cNvPr>
          <p:cNvSpPr/>
          <p:nvPr/>
        </p:nvSpPr>
        <p:spPr>
          <a:xfrm>
            <a:off x="7466560" y="3811903"/>
            <a:ext cx="897775" cy="423949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7079651E-8EEA-4A9B-BEDF-3F7DE2D58E94}"/>
              </a:ext>
            </a:extLst>
          </p:cNvPr>
          <p:cNvSpPr/>
          <p:nvPr/>
        </p:nvSpPr>
        <p:spPr>
          <a:xfrm rot="10800000">
            <a:off x="7086945" y="3811903"/>
            <a:ext cx="897775" cy="423949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98366A6D-C22D-4789-9F1A-301752E28C5D}"/>
              </a:ext>
            </a:extLst>
          </p:cNvPr>
          <p:cNvSpPr/>
          <p:nvPr/>
        </p:nvSpPr>
        <p:spPr>
          <a:xfrm rot="5400000">
            <a:off x="1107016" y="4440900"/>
            <a:ext cx="897775" cy="423949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6EC322FE-86B7-4EDC-9DD7-0E943AF84419}"/>
              </a:ext>
            </a:extLst>
          </p:cNvPr>
          <p:cNvSpPr txBox="1"/>
          <p:nvPr/>
        </p:nvSpPr>
        <p:spPr>
          <a:xfrm>
            <a:off x="7232073" y="3281354"/>
            <a:ext cx="1014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in/</a:t>
            </a:r>
            <a:r>
              <a:rPr lang="es-MX" dirty="0" err="1"/>
              <a:t>out</a:t>
            </a:r>
            <a:endParaRPr lang="es-EC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EEE3F234-8FF6-46EF-8278-2D0EC0EBF252}"/>
              </a:ext>
            </a:extLst>
          </p:cNvPr>
          <p:cNvSpPr txBox="1"/>
          <p:nvPr/>
        </p:nvSpPr>
        <p:spPr>
          <a:xfrm>
            <a:off x="464126" y="4051186"/>
            <a:ext cx="1014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up/</a:t>
            </a:r>
          </a:p>
          <a:p>
            <a:r>
              <a:rPr lang="es-MX" dirty="0" err="1"/>
              <a:t>down</a:t>
            </a:r>
            <a:endParaRPr lang="es-EC" dirty="0"/>
          </a:p>
        </p:txBody>
      </p:sp>
      <p:sp>
        <p:nvSpPr>
          <p:cNvPr id="33" name="Rectangle 1">
            <a:extLst>
              <a:ext uri="{FF2B5EF4-FFF2-40B4-BE49-F238E27FC236}">
                <a16:creationId xmlns:a16="http://schemas.microsoft.com/office/drawing/2014/main" id="{4161FC04-0C91-4F52-A538-29211A6C3EE8}"/>
              </a:ext>
            </a:extLst>
          </p:cNvPr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2">
            <a:extLst>
              <a:ext uri="{FF2B5EF4-FFF2-40B4-BE49-F238E27FC236}">
                <a16:creationId xmlns:a16="http://schemas.microsoft.com/office/drawing/2014/main" id="{A8B0BD22-5C04-4BA7-BFB7-D34CDC104EAF}"/>
              </a:ext>
            </a:extLst>
          </p:cNvPr>
          <p:cNvSpPr txBox="1"/>
          <p:nvPr/>
        </p:nvSpPr>
        <p:spPr>
          <a:xfrm>
            <a:off x="451660" y="199505"/>
            <a:ext cx="211628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sz="2800" dirty="0"/>
              <a:t>Escalabilidad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259038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2982615-CF59-44BD-8681-879CE2B77B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965" y="1776226"/>
            <a:ext cx="899663" cy="53909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2B1AD73-B34C-4BFE-94B2-918D9EDD79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80" y="2499987"/>
            <a:ext cx="1618789" cy="161878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5461C62-7907-45BF-B7E9-A3F3E5EA7923}"/>
              </a:ext>
            </a:extLst>
          </p:cNvPr>
          <p:cNvSpPr txBox="1"/>
          <p:nvPr/>
        </p:nvSpPr>
        <p:spPr>
          <a:xfrm>
            <a:off x="1500965" y="4180600"/>
            <a:ext cx="12404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/>
              <a:t>EC2</a:t>
            </a:r>
            <a:endParaRPr lang="es-EC" sz="32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1FF2A70-2AB2-493A-AEF8-8D98AA89927D}"/>
              </a:ext>
            </a:extLst>
          </p:cNvPr>
          <p:cNvSpPr txBox="1"/>
          <p:nvPr/>
        </p:nvSpPr>
        <p:spPr>
          <a:xfrm>
            <a:off x="789168" y="4580709"/>
            <a:ext cx="2884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dirty="0" err="1"/>
              <a:t>Elastic</a:t>
            </a:r>
            <a:r>
              <a:rPr lang="es-EC" dirty="0"/>
              <a:t> Compute Cloud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1BAB81A-9881-4F43-9846-53D3C4D6CC01}"/>
              </a:ext>
            </a:extLst>
          </p:cNvPr>
          <p:cNvSpPr txBox="1"/>
          <p:nvPr/>
        </p:nvSpPr>
        <p:spPr>
          <a:xfrm>
            <a:off x="4029595" y="1166842"/>
            <a:ext cx="609738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dirty="0"/>
              <a:t>EC2 - Escalabilidad </a:t>
            </a:r>
            <a:r>
              <a:rPr lang="es-EC" dirty="0">
                <a:solidFill>
                  <a:srgbClr val="FF0000"/>
                </a:solidFill>
              </a:rPr>
              <a:t>Vertical</a:t>
            </a:r>
          </a:p>
          <a:p>
            <a:endParaRPr lang="es-EC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dirty="0"/>
              <a:t>Permite aumentar o reducir </a:t>
            </a:r>
            <a:r>
              <a:rPr lang="es-EC" dirty="0">
                <a:solidFill>
                  <a:srgbClr val="FF0000"/>
                </a:solidFill>
              </a:rPr>
              <a:t>recursos</a:t>
            </a:r>
            <a:r>
              <a:rPr lang="es-EC" dirty="0"/>
              <a:t> (CPU, RAM) cambiando el tipo de instancia.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dirty="0"/>
              <a:t>Elegir una instancia con mejores capacidades.</a:t>
            </a:r>
          </a:p>
          <a:p>
            <a:endParaRPr lang="es-EC" dirty="0"/>
          </a:p>
          <a:p>
            <a:endParaRPr lang="es-EC" dirty="0"/>
          </a:p>
          <a:p>
            <a:r>
              <a:rPr lang="es-EC" dirty="0"/>
              <a:t>EC2 – Escalabilidad </a:t>
            </a:r>
            <a:r>
              <a:rPr lang="es-EC" dirty="0">
                <a:solidFill>
                  <a:srgbClr val="FF0000"/>
                </a:solidFill>
              </a:rPr>
              <a:t>Horizontal</a:t>
            </a:r>
          </a:p>
          <a:p>
            <a:endParaRPr lang="es-EC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dirty="0"/>
              <a:t>Permite agregar o eliminar </a:t>
            </a:r>
            <a:r>
              <a:rPr lang="es-EC" dirty="0">
                <a:solidFill>
                  <a:srgbClr val="FF0000"/>
                </a:solidFill>
              </a:rPr>
              <a:t>instancias EC2</a:t>
            </a:r>
            <a:r>
              <a:rPr lang="es-EC" dirty="0"/>
              <a:t> según la demanda.</a:t>
            </a:r>
          </a:p>
          <a:p>
            <a:endParaRPr lang="es-EC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2023784-AE41-4A40-8906-5B935BE8EBDB}"/>
              </a:ext>
            </a:extLst>
          </p:cNvPr>
          <p:cNvSpPr txBox="1"/>
          <p:nvPr/>
        </p:nvSpPr>
        <p:spPr>
          <a:xfrm>
            <a:off x="5469807" y="4649323"/>
            <a:ext cx="60973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solidFill>
                  <a:srgbClr val="0070C0"/>
                </a:solidFill>
              </a:rPr>
              <a:t>Auto </a:t>
            </a:r>
            <a:r>
              <a:rPr lang="es-MX" b="1" dirty="0" err="1">
                <a:solidFill>
                  <a:srgbClr val="0070C0"/>
                </a:solidFill>
              </a:rPr>
              <a:t>Scaling</a:t>
            </a:r>
            <a:r>
              <a:rPr lang="es-MX" b="1" dirty="0">
                <a:solidFill>
                  <a:srgbClr val="0070C0"/>
                </a:solidFill>
              </a:rPr>
              <a:t> (con EC2)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  Ajusta automáticamente el </a:t>
            </a:r>
            <a:r>
              <a:rPr lang="es-MX" b="1" dirty="0"/>
              <a:t>número de instancias EC2</a:t>
            </a:r>
            <a:r>
              <a:rPr lang="es-MX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  Escala </a:t>
            </a:r>
            <a:r>
              <a:rPr lang="es-MX" b="1" dirty="0" err="1"/>
              <a:t>out</a:t>
            </a:r>
            <a:r>
              <a:rPr lang="es-MX" dirty="0"/>
              <a:t> (agrega instancias) y </a:t>
            </a:r>
            <a:r>
              <a:rPr lang="es-MX" b="1" dirty="0"/>
              <a:t>in</a:t>
            </a:r>
            <a:r>
              <a:rPr lang="es-MX" dirty="0"/>
              <a:t> (las reduce).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  Se basa en </a:t>
            </a:r>
            <a:r>
              <a:rPr lang="es-MX" b="1" dirty="0"/>
              <a:t>métricas</a:t>
            </a:r>
            <a:r>
              <a:rPr lang="es-MX" dirty="0"/>
              <a:t> como CPU, tráfico o reglas definidas.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F6422BA4-6A30-42FC-9AB4-ED1A90CE5D4E}"/>
              </a:ext>
            </a:extLst>
          </p:cNvPr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">
            <a:extLst>
              <a:ext uri="{FF2B5EF4-FFF2-40B4-BE49-F238E27FC236}">
                <a16:creationId xmlns:a16="http://schemas.microsoft.com/office/drawing/2014/main" id="{9CA23080-2973-42D3-8C67-642D8803229A}"/>
              </a:ext>
            </a:extLst>
          </p:cNvPr>
          <p:cNvSpPr txBox="1"/>
          <p:nvPr/>
        </p:nvSpPr>
        <p:spPr>
          <a:xfrm>
            <a:off x="451660" y="199505"/>
            <a:ext cx="202568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sz="2800" dirty="0"/>
              <a:t>Auto </a:t>
            </a:r>
            <a:r>
              <a:rPr lang="es-MX" sz="2800" dirty="0" err="1"/>
              <a:t>Scaling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1819369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B21413A3-E602-41AA-88BC-9A6284A8C52E}"/>
              </a:ext>
            </a:extLst>
          </p:cNvPr>
          <p:cNvSpPr txBox="1"/>
          <p:nvPr/>
        </p:nvSpPr>
        <p:spPr>
          <a:xfrm>
            <a:off x="953885" y="2879383"/>
            <a:ext cx="526403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ELB (</a:t>
            </a:r>
            <a:r>
              <a:rPr lang="es-MX" sz="2400" b="1" dirty="0" err="1"/>
              <a:t>Elastic</a:t>
            </a:r>
            <a:r>
              <a:rPr lang="es-MX" sz="2400" b="1" dirty="0"/>
              <a:t> Load </a:t>
            </a:r>
            <a:r>
              <a:rPr lang="es-MX" sz="2400" b="1" dirty="0" err="1"/>
              <a:t>Balancer</a:t>
            </a:r>
            <a:r>
              <a:rPr lang="es-MX" sz="240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Distribuye el tráfico</a:t>
            </a:r>
            <a:r>
              <a:rPr lang="es-MX" dirty="0"/>
              <a:t> entre múltiples instancias EC2.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Trabaja junto con </a:t>
            </a:r>
            <a:r>
              <a:rPr lang="es-MX" b="1" dirty="0"/>
              <a:t>Auto </a:t>
            </a:r>
            <a:r>
              <a:rPr lang="es-MX" b="1" dirty="0" err="1"/>
              <a:t>Scaling</a:t>
            </a:r>
            <a:r>
              <a:rPr lang="es-MX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Mejora </a:t>
            </a:r>
            <a:r>
              <a:rPr lang="es-MX" b="1" dirty="0"/>
              <a:t>disponibilidad y rendimiento</a:t>
            </a:r>
            <a:r>
              <a:rPr lang="es-MX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Detecta instancias no saludables y deja de enviarles tráfico.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06DB024-8FC4-4BB1-8A25-09297D737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825" y="2449347"/>
            <a:ext cx="2872989" cy="3139712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EFAE91F7-7464-4518-BDCF-18CC3F2B1DAC}"/>
              </a:ext>
            </a:extLst>
          </p:cNvPr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C94DAF7D-59BC-46F3-BCCB-58E765AFD5B0}"/>
              </a:ext>
            </a:extLst>
          </p:cNvPr>
          <p:cNvSpPr txBox="1"/>
          <p:nvPr/>
        </p:nvSpPr>
        <p:spPr>
          <a:xfrm>
            <a:off x="451660" y="199505"/>
            <a:ext cx="7136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sz="2800" dirty="0"/>
              <a:t>ELB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3080282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B8F6446F-57A7-455B-88FE-5152217B8826}"/>
              </a:ext>
            </a:extLst>
          </p:cNvPr>
          <p:cNvSpPr txBox="1"/>
          <p:nvPr/>
        </p:nvSpPr>
        <p:spPr>
          <a:xfrm>
            <a:off x="1352896" y="1296785"/>
            <a:ext cx="8813569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2400" b="1" dirty="0" err="1"/>
              <a:t>Elastic</a:t>
            </a:r>
            <a:r>
              <a:rPr lang="es-EC" sz="2400" b="1" dirty="0"/>
              <a:t> </a:t>
            </a:r>
            <a:r>
              <a:rPr lang="es-EC" sz="2400" b="1" dirty="0" err="1"/>
              <a:t>Beanstalk</a:t>
            </a:r>
            <a:endParaRPr lang="es-EC" sz="2400" b="1" dirty="0"/>
          </a:p>
          <a:p>
            <a:endParaRPr lang="es-EC" dirty="0"/>
          </a:p>
          <a:p>
            <a:r>
              <a:rPr lang="es-EC" dirty="0" err="1"/>
              <a:t>Elastic</a:t>
            </a:r>
            <a:r>
              <a:rPr lang="es-EC" dirty="0"/>
              <a:t> </a:t>
            </a:r>
            <a:r>
              <a:rPr lang="es-EC" dirty="0" err="1"/>
              <a:t>Beanstalk</a:t>
            </a:r>
            <a:r>
              <a:rPr lang="es-EC" dirty="0"/>
              <a:t> es un servicio de Amazon Web </a:t>
            </a:r>
            <a:r>
              <a:rPr lang="es-EC" dirty="0" err="1"/>
              <a:t>Services</a:t>
            </a:r>
            <a:r>
              <a:rPr lang="es-EC" dirty="0"/>
              <a:t> para </a:t>
            </a:r>
            <a:r>
              <a:rPr lang="es-EC" b="1" dirty="0"/>
              <a:t>desplegar aplicaciones </a:t>
            </a:r>
            <a:r>
              <a:rPr lang="es-EC" dirty="0"/>
              <a:t>sin tener que configurar manualmente la infraestructura.</a:t>
            </a:r>
          </a:p>
          <a:p>
            <a:endParaRPr lang="es-EC" dirty="0"/>
          </a:p>
          <a:p>
            <a:r>
              <a:rPr lang="es-EC" dirty="0"/>
              <a:t>EJEMPLO</a:t>
            </a:r>
          </a:p>
          <a:p>
            <a:r>
              <a:rPr lang="es-EC" dirty="0"/>
              <a:t>Tienes una aplicación web en Java / Python / Node.js para una empresa:</a:t>
            </a:r>
          </a:p>
          <a:p>
            <a:r>
              <a:rPr lang="es-EC" dirty="0"/>
              <a:t>	Subes el código a </a:t>
            </a:r>
            <a:r>
              <a:rPr lang="es-EC" dirty="0" err="1"/>
              <a:t>Beanstalk</a:t>
            </a:r>
            <a:r>
              <a:rPr lang="es-EC" dirty="0"/>
              <a:t>.</a:t>
            </a:r>
          </a:p>
          <a:p>
            <a:r>
              <a:rPr lang="es-EC" dirty="0"/>
              <a:t>	</a:t>
            </a:r>
            <a:r>
              <a:rPr lang="es-EC" dirty="0" err="1"/>
              <a:t>Beanstalk</a:t>
            </a:r>
            <a:r>
              <a:rPr lang="es-EC" dirty="0"/>
              <a:t> crea automáticamente:</a:t>
            </a:r>
          </a:p>
          <a:p>
            <a:r>
              <a:rPr lang="es-EC" dirty="0"/>
              <a:t>		Instancias EC2</a:t>
            </a:r>
          </a:p>
          <a:p>
            <a:r>
              <a:rPr lang="es-EC" dirty="0"/>
              <a:t>		Auto </a:t>
            </a:r>
            <a:r>
              <a:rPr lang="es-EC" dirty="0" err="1"/>
              <a:t>Scaling</a:t>
            </a:r>
            <a:endParaRPr lang="es-EC" dirty="0"/>
          </a:p>
          <a:p>
            <a:r>
              <a:rPr lang="es-EC" dirty="0"/>
              <a:t>		ELB</a:t>
            </a:r>
          </a:p>
          <a:p>
            <a:r>
              <a:rPr lang="es-EC" dirty="0"/>
              <a:t>Si entran más usuarios → se crean más instancias solas.</a:t>
            </a:r>
          </a:p>
          <a:p>
            <a:r>
              <a:rPr lang="es-EC" dirty="0"/>
              <a:t>Si baja el tráfico → se reducen.</a:t>
            </a:r>
          </a:p>
          <a:p>
            <a:endParaRPr lang="es-EC" dirty="0"/>
          </a:p>
          <a:p>
            <a:r>
              <a:rPr lang="es-EC" dirty="0"/>
              <a:t>👉 Ideal para aplicaciones en producción que pueden crecer.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795D3188-EF61-4F0D-9E9B-BEE6F041EC5D}"/>
              </a:ext>
            </a:extLst>
          </p:cNvPr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95A68CFC-44B3-4B8C-9A9C-E26E02E39E43}"/>
              </a:ext>
            </a:extLst>
          </p:cNvPr>
          <p:cNvSpPr txBox="1"/>
          <p:nvPr/>
        </p:nvSpPr>
        <p:spPr>
          <a:xfrm>
            <a:off x="451660" y="199505"/>
            <a:ext cx="26741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sz="2800" dirty="0" err="1"/>
              <a:t>Elastic</a:t>
            </a:r>
            <a:r>
              <a:rPr lang="es-MX" sz="2800" dirty="0"/>
              <a:t> </a:t>
            </a:r>
            <a:r>
              <a:rPr lang="es-MX" sz="2800" dirty="0" err="1"/>
              <a:t>Beanstalk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3984008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B8F6446F-57A7-455B-88FE-5152217B8826}"/>
              </a:ext>
            </a:extLst>
          </p:cNvPr>
          <p:cNvSpPr txBox="1"/>
          <p:nvPr/>
        </p:nvSpPr>
        <p:spPr>
          <a:xfrm>
            <a:off x="1286394" y="1240083"/>
            <a:ext cx="8813569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 err="1"/>
              <a:t>Lightsail</a:t>
            </a:r>
            <a:endParaRPr lang="es-MX" sz="2400" b="1" dirty="0"/>
          </a:p>
          <a:p>
            <a:endParaRPr lang="es-MX" sz="2400" b="1" dirty="0"/>
          </a:p>
          <a:p>
            <a:r>
              <a:rPr lang="es-MX" dirty="0" err="1"/>
              <a:t>Lightsail</a:t>
            </a:r>
            <a:r>
              <a:rPr lang="es-MX" dirty="0"/>
              <a:t> es un servicio simplificado para </a:t>
            </a:r>
            <a:r>
              <a:rPr lang="es-MX" b="1" dirty="0"/>
              <a:t>crear servidores y aplicaciones pequeñas </a:t>
            </a:r>
            <a:r>
              <a:rPr lang="es-MX" dirty="0"/>
              <a:t>de forma rápida y económica.</a:t>
            </a:r>
          </a:p>
          <a:p>
            <a:endParaRPr lang="es-MX" sz="2400" b="1" dirty="0"/>
          </a:p>
          <a:p>
            <a:r>
              <a:rPr lang="es-MX" sz="2400" b="1" dirty="0"/>
              <a:t>EJEMPLO</a:t>
            </a:r>
          </a:p>
          <a:p>
            <a:r>
              <a:rPr lang="es-MX" dirty="0"/>
              <a:t>Quieres crear un blog en WordPress o una app pequeña:</a:t>
            </a:r>
          </a:p>
          <a:p>
            <a:r>
              <a:rPr lang="es-MX" dirty="0"/>
              <a:t>	Creas una instancia </a:t>
            </a:r>
            <a:r>
              <a:rPr lang="es-MX" dirty="0" err="1"/>
              <a:t>Lightsail</a:t>
            </a:r>
            <a:r>
              <a:rPr lang="es-MX" dirty="0"/>
              <a:t>.</a:t>
            </a:r>
          </a:p>
          <a:p>
            <a:r>
              <a:rPr lang="es-MX" dirty="0"/>
              <a:t>	WordPress ya viene instalado.</a:t>
            </a:r>
          </a:p>
          <a:p>
            <a:r>
              <a:rPr lang="es-MX" dirty="0"/>
              <a:t>	Pagas un precio fijo mensual.</a:t>
            </a:r>
          </a:p>
          <a:p>
            <a:r>
              <a:rPr lang="es-MX" dirty="0"/>
              <a:t>	Si el tráfico aumenta:</a:t>
            </a:r>
          </a:p>
          <a:p>
            <a:r>
              <a:rPr lang="es-MX" dirty="0"/>
              <a:t>		Tú decides aumentar el tamaño del servidor (manual).</a:t>
            </a:r>
          </a:p>
          <a:p>
            <a:endParaRPr lang="es-MX" dirty="0"/>
          </a:p>
          <a:p>
            <a:r>
              <a:rPr lang="es-MX" dirty="0"/>
              <a:t>👉 Ideal para proyectos pequeños, blogs o pruebas.</a:t>
            </a:r>
          </a:p>
          <a:p>
            <a:endParaRPr lang="es-MX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BC7EDB3-0781-4D1E-8C82-4EFD1D10DFF2}"/>
              </a:ext>
            </a:extLst>
          </p:cNvPr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2FF3CFEA-54C7-487A-B90F-C49842268D63}"/>
              </a:ext>
            </a:extLst>
          </p:cNvPr>
          <p:cNvSpPr txBox="1"/>
          <p:nvPr/>
        </p:nvSpPr>
        <p:spPr>
          <a:xfrm>
            <a:off x="451660" y="199505"/>
            <a:ext cx="140936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sz="2800" dirty="0" err="1"/>
              <a:t>Lightsail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3225331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B8F6446F-57A7-455B-88FE-5152217B8826}"/>
              </a:ext>
            </a:extLst>
          </p:cNvPr>
          <p:cNvSpPr txBox="1"/>
          <p:nvPr/>
        </p:nvSpPr>
        <p:spPr>
          <a:xfrm>
            <a:off x="1120140" y="2071356"/>
            <a:ext cx="8813569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Por qué usar EC2 directamente, si puedes usar </a:t>
            </a:r>
            <a:r>
              <a:rPr lang="es-MX" sz="2400" dirty="0" err="1"/>
              <a:t>BeansTalk</a:t>
            </a:r>
            <a:r>
              <a:rPr lang="es-MX" sz="2400" dirty="0"/>
              <a:t> o </a:t>
            </a:r>
            <a:r>
              <a:rPr lang="es-MX" sz="2400" dirty="0" err="1"/>
              <a:t>LigthSail</a:t>
            </a:r>
            <a:r>
              <a:rPr lang="es-MX" sz="2400" dirty="0"/>
              <a:t>?</a:t>
            </a:r>
          </a:p>
          <a:p>
            <a:endParaRPr lang="es-MX" sz="2400" dirty="0"/>
          </a:p>
          <a:p>
            <a:r>
              <a:rPr lang="es-MX" sz="2400" dirty="0"/>
              <a:t>Para un programador bebito, </a:t>
            </a:r>
            <a:r>
              <a:rPr lang="es-MX" sz="2400" dirty="0" err="1"/>
              <a:t>osea</a:t>
            </a:r>
            <a:r>
              <a:rPr lang="es-MX" sz="2400" dirty="0"/>
              <a:t> menos que junior, recomiendas </a:t>
            </a:r>
            <a:r>
              <a:rPr lang="es-MX" sz="2400" dirty="0" err="1"/>
              <a:t>BeansTalk</a:t>
            </a:r>
            <a:r>
              <a:rPr lang="es-MX" sz="2400" dirty="0"/>
              <a:t> o </a:t>
            </a:r>
            <a:r>
              <a:rPr lang="es-MX" sz="2400" dirty="0" err="1"/>
              <a:t>LightSail</a:t>
            </a:r>
            <a:r>
              <a:rPr lang="es-MX" sz="2400" dirty="0"/>
              <a:t>?</a:t>
            </a:r>
          </a:p>
          <a:p>
            <a:endParaRPr lang="es-MX" sz="2400" dirty="0"/>
          </a:p>
          <a:p>
            <a:endParaRPr lang="es-MX" dirty="0"/>
          </a:p>
          <a:p>
            <a:endParaRPr lang="es-MX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881147F-EE96-45E6-BF81-084307E13BA0}"/>
              </a:ext>
            </a:extLst>
          </p:cNvPr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96D6C2CC-2980-4088-8D10-9149DAAA43A6}"/>
              </a:ext>
            </a:extLst>
          </p:cNvPr>
          <p:cNvSpPr txBox="1"/>
          <p:nvPr/>
        </p:nvSpPr>
        <p:spPr>
          <a:xfrm>
            <a:off x="451660" y="199505"/>
            <a:ext cx="288091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sz="2800" dirty="0"/>
              <a:t>Cuestionamientos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2522750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38824C7-3A36-4E4B-BC4D-7B77EA08EA8B}"/>
              </a:ext>
            </a:extLst>
          </p:cNvPr>
          <p:cNvSpPr txBox="1"/>
          <p:nvPr/>
        </p:nvSpPr>
        <p:spPr>
          <a:xfrm>
            <a:off x="4387041" y="2656947"/>
            <a:ext cx="714271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 err="1"/>
              <a:t>Lightsail</a:t>
            </a:r>
            <a:r>
              <a:rPr lang="es-MX" b="1" dirty="0"/>
              <a:t> =&gt; aprender y probar</a:t>
            </a:r>
          </a:p>
          <a:p>
            <a:endParaRPr lang="es-MX" b="1" dirty="0"/>
          </a:p>
          <a:p>
            <a:endParaRPr lang="es-MX" b="1" dirty="0"/>
          </a:p>
          <a:p>
            <a:endParaRPr lang="es-MX" b="1" dirty="0"/>
          </a:p>
          <a:p>
            <a:endParaRPr lang="es-MX" b="1" dirty="0"/>
          </a:p>
          <a:p>
            <a:endParaRPr lang="es-MX" b="1" dirty="0"/>
          </a:p>
          <a:p>
            <a:endParaRPr lang="es-MX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740C40B-C7C8-44E6-BED9-0700B5FEE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208" y="1680140"/>
            <a:ext cx="2452410" cy="195361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7587378-22B4-422C-B8B3-76215FFD62E8}"/>
              </a:ext>
            </a:extLst>
          </p:cNvPr>
          <p:cNvSpPr txBox="1"/>
          <p:nvPr/>
        </p:nvSpPr>
        <p:spPr>
          <a:xfrm>
            <a:off x="1870208" y="3840480"/>
            <a:ext cx="46883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s-MX" dirty="0"/>
            </a:br>
            <a:r>
              <a:rPr lang="es-MX" b="1" dirty="0" err="1"/>
              <a:t>Beanstalk</a:t>
            </a:r>
            <a:r>
              <a:rPr lang="es-MX" b="1" dirty="0"/>
              <a:t> =&gt; desplegar y escalar</a:t>
            </a:r>
            <a:endParaRPr lang="es-EC" dirty="0"/>
          </a:p>
          <a:p>
            <a:endParaRPr lang="es-EC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32B26DC3-E549-4B9D-813D-19E4F132A013}"/>
              </a:ext>
            </a:extLst>
          </p:cNvPr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1546FB9C-3A49-4542-88C9-8331C65B85EC}"/>
              </a:ext>
            </a:extLst>
          </p:cNvPr>
          <p:cNvSpPr txBox="1"/>
          <p:nvPr/>
        </p:nvSpPr>
        <p:spPr>
          <a:xfrm>
            <a:off x="451660" y="199505"/>
            <a:ext cx="105990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sz="2800" dirty="0"/>
              <a:t>Notas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1413264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485DC280-F211-4120-84A7-7421FBFCA365}"/>
              </a:ext>
            </a:extLst>
          </p:cNvPr>
          <p:cNvSpPr txBox="1"/>
          <p:nvPr/>
        </p:nvSpPr>
        <p:spPr>
          <a:xfrm>
            <a:off x="3048692" y="1097280"/>
            <a:ext cx="797398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C" dirty="0"/>
          </a:p>
          <a:p>
            <a:r>
              <a:rPr lang="es-EC" dirty="0"/>
              <a:t>AWS Lambda es un </a:t>
            </a:r>
            <a:r>
              <a:rPr lang="es-EC" b="1" dirty="0"/>
              <a:t>servicio de cómputo </a:t>
            </a:r>
            <a:r>
              <a:rPr lang="es-EC" dirty="0"/>
              <a:t>sin servidor (</a:t>
            </a:r>
            <a:r>
              <a:rPr lang="es-EC" b="1" dirty="0" err="1"/>
              <a:t>serverless</a:t>
            </a:r>
            <a:r>
              <a:rPr lang="es-EC" dirty="0"/>
              <a:t>) que permite ejecutar código sin aprovisionar ni administrar servidores.</a:t>
            </a:r>
          </a:p>
          <a:p>
            <a:endParaRPr lang="es-EC" dirty="0"/>
          </a:p>
          <a:p>
            <a:r>
              <a:rPr lang="es-EC" dirty="0"/>
              <a:t>AWS se encarga automáticamente de la infraestructura, escalado y disponibilidad.</a:t>
            </a:r>
          </a:p>
          <a:p>
            <a:endParaRPr lang="es-EC" dirty="0"/>
          </a:p>
          <a:p>
            <a:r>
              <a:rPr lang="es-EC" dirty="0"/>
              <a:t>👉 Tú solo subes el código y defines cuándo se ejecuta.</a:t>
            </a:r>
          </a:p>
          <a:p>
            <a:endParaRPr lang="es-EC" dirty="0"/>
          </a:p>
          <a:p>
            <a:endParaRPr lang="es-EC" dirty="0"/>
          </a:p>
          <a:p>
            <a:r>
              <a:rPr lang="es-EC" b="1" dirty="0"/>
              <a:t>¿Cómo funciona?</a:t>
            </a:r>
          </a:p>
          <a:p>
            <a:endParaRPr lang="es-EC" dirty="0"/>
          </a:p>
          <a:p>
            <a:r>
              <a:rPr lang="es-EC" dirty="0"/>
              <a:t>Escribes una </a:t>
            </a:r>
            <a:r>
              <a:rPr lang="es-EC" b="1" dirty="0">
                <a:solidFill>
                  <a:srgbClr val="FF0000"/>
                </a:solidFill>
              </a:rPr>
              <a:t>función Lambda </a:t>
            </a:r>
            <a:r>
              <a:rPr lang="es-EC" dirty="0"/>
              <a:t>(por ejemplo en Python, JavaScript, Java).</a:t>
            </a:r>
          </a:p>
          <a:p>
            <a:r>
              <a:rPr lang="es-EC" dirty="0"/>
              <a:t>La función se ejecuta en respuesta a un evento.</a:t>
            </a:r>
          </a:p>
          <a:p>
            <a:endParaRPr lang="es-EC" dirty="0"/>
          </a:p>
          <a:p>
            <a:r>
              <a:rPr lang="es-EC" dirty="0"/>
              <a:t>AWS: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dirty="0"/>
              <a:t>Ejecuta el código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dirty="0"/>
              <a:t>Escala automáticamente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AWS Lambda se factura según el número de ejecuciones y el tiempo de ejecución del código</a:t>
            </a:r>
            <a:endParaRPr lang="es-EC" dirty="0"/>
          </a:p>
          <a:p>
            <a:endParaRPr lang="es-EC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B37FF28-4F4C-4AFE-9BE0-54A56AE23A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064" y="2233708"/>
            <a:ext cx="1958772" cy="2438046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030D355B-E912-421D-B78F-635FBC3B667A}"/>
              </a:ext>
            </a:extLst>
          </p:cNvPr>
          <p:cNvSpPr txBox="1"/>
          <p:nvPr/>
        </p:nvSpPr>
        <p:spPr>
          <a:xfrm>
            <a:off x="883730" y="4487088"/>
            <a:ext cx="1454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AWS Lambda</a:t>
            </a:r>
            <a:endParaRPr lang="es-EC" b="1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BDDC4C05-FE58-4291-B3D0-BF753D347D2D}"/>
              </a:ext>
            </a:extLst>
          </p:cNvPr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E8B8974B-D22C-40C2-9569-FC83FA4716D0}"/>
              </a:ext>
            </a:extLst>
          </p:cNvPr>
          <p:cNvSpPr txBox="1"/>
          <p:nvPr/>
        </p:nvSpPr>
        <p:spPr>
          <a:xfrm>
            <a:off x="451660" y="199505"/>
            <a:ext cx="136928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sz="2800" dirty="0"/>
              <a:t>Lambda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2694795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F7F28FE-77C6-456B-8136-54BCF14476A7}"/>
              </a:ext>
            </a:extLst>
          </p:cNvPr>
          <p:cNvSpPr txBox="1"/>
          <p:nvPr/>
        </p:nvSpPr>
        <p:spPr>
          <a:xfrm>
            <a:off x="4835929" y="3090239"/>
            <a:ext cx="60973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Ahora con casco y experiencia</a:t>
            </a:r>
            <a:br>
              <a:rPr lang="es-MX" dirty="0"/>
            </a:br>
            <a:endParaRPr lang="es-MX" dirty="0"/>
          </a:p>
          <a:p>
            <a:endParaRPr lang="es-MX" i="1" dirty="0"/>
          </a:p>
          <a:p>
            <a:r>
              <a:rPr lang="es-MX" i="1" dirty="0"/>
              <a:t>A reforzar conocimientos</a:t>
            </a:r>
          </a:p>
          <a:p>
            <a:endParaRPr lang="es-EC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9CC62D3-ECEE-4622-AA79-FEFA8A47836D}"/>
              </a:ext>
            </a:extLst>
          </p:cNvPr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D8DC9A56-4F16-4D51-A032-1C7A7EA831EF}"/>
              </a:ext>
            </a:extLst>
          </p:cNvPr>
          <p:cNvSpPr txBox="1"/>
          <p:nvPr/>
        </p:nvSpPr>
        <p:spPr>
          <a:xfrm>
            <a:off x="451660" y="199505"/>
            <a:ext cx="401866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sz="2800" dirty="0"/>
              <a:t>Servicios de Computación</a:t>
            </a:r>
            <a:endParaRPr sz="28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FE9E0A2-2906-485B-BC51-8A1A55F1E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819" y="2021921"/>
            <a:ext cx="3284505" cy="3429297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E101DECB-8D4C-480E-BADB-D7783864216F}"/>
              </a:ext>
            </a:extLst>
          </p:cNvPr>
          <p:cNvSpPr txBox="1"/>
          <p:nvPr/>
        </p:nvSpPr>
        <p:spPr>
          <a:xfrm>
            <a:off x="4835929" y="4632559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dirty="0">
                <a:hlinkClick r:id="rId3"/>
              </a:rPr>
              <a:t>AWS – Emparejamiento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329291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29CC62D3-ECEE-4622-AA79-FEFA8A47836D}"/>
              </a:ext>
            </a:extLst>
          </p:cNvPr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D8DC9A56-4F16-4D51-A032-1C7A7EA831EF}"/>
              </a:ext>
            </a:extLst>
          </p:cNvPr>
          <p:cNvSpPr txBox="1"/>
          <p:nvPr/>
        </p:nvSpPr>
        <p:spPr>
          <a:xfrm>
            <a:off x="451660" y="199505"/>
            <a:ext cx="431400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sz="2800" dirty="0"/>
              <a:t>Preguntas tipo Certificación</a:t>
            </a:r>
            <a:endParaRPr sz="2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2592BB2-E9D5-42B2-9CC9-E1509779F7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029" y="2479684"/>
            <a:ext cx="2373262" cy="2373262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4698082-2E42-48DA-AB0A-BE6C28799685}"/>
              </a:ext>
            </a:extLst>
          </p:cNvPr>
          <p:cNvSpPr txBox="1"/>
          <p:nvPr/>
        </p:nvSpPr>
        <p:spPr>
          <a:xfrm>
            <a:off x="4436919" y="3296983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dirty="0">
                <a:hlinkClick r:id="rId3"/>
              </a:rPr>
              <a:t>Quiz AWS Cloud </a:t>
            </a:r>
            <a:r>
              <a:rPr lang="es-EC" dirty="0" err="1">
                <a:hlinkClick r:id="rId3"/>
              </a:rPr>
              <a:t>Practitioner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996215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29CC62D3-ECEE-4622-AA79-FEFA8A47836D}"/>
              </a:ext>
            </a:extLst>
          </p:cNvPr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D8DC9A56-4F16-4D51-A032-1C7A7EA831EF}"/>
              </a:ext>
            </a:extLst>
          </p:cNvPr>
          <p:cNvSpPr txBox="1"/>
          <p:nvPr/>
        </p:nvSpPr>
        <p:spPr>
          <a:xfrm>
            <a:off x="451660" y="199505"/>
            <a:ext cx="182998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sz="2800" dirty="0"/>
              <a:t>A competir</a:t>
            </a:r>
            <a:endParaRPr sz="28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6AD7060-A283-44B4-B9E0-C4563E67CA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367" y="1600720"/>
            <a:ext cx="7286625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1426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944</TotalTime>
  <Words>758</Words>
  <Application>Microsoft Office PowerPoint</Application>
  <PresentationFormat>Panorámica</PresentationFormat>
  <Paragraphs>152</Paragraphs>
  <Slides>20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SANTIAGO FERNANDO MOSQUERA VIZUETE</dc:creator>
  <cp:lastModifiedBy>SANTIAGO FERNANDO MOSQUERA VIZUETE</cp:lastModifiedBy>
  <cp:revision>20</cp:revision>
  <dcterms:created xsi:type="dcterms:W3CDTF">2026-02-03T10:36:39Z</dcterms:created>
  <dcterms:modified xsi:type="dcterms:W3CDTF">2026-02-11T03:12:37Z</dcterms:modified>
</cp:coreProperties>
</file>