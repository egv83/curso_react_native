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29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34.xml" ContentType="application/vnd.openxmlformats-officedocument.presentationml.slide+xml"/>
  <Override PartName="/ppt/slides/slide36.xml" ContentType="application/vnd.openxmlformats-officedocument.presentationml.slide+xml"/>
  <Override PartName="/ppt/slides/slide16.xml" ContentType="application/vnd.openxmlformats-officedocument.presentationml.slide+xml"/>
  <Override PartName="/ppt/slides/slide40.xml" ContentType="application/vnd.openxmlformats-officedocument.presentationml.slide+xml"/>
  <Override PartName="/ppt/slides/slide2.xml" ContentType="application/vnd.openxmlformats-officedocument.presentationml.slide+xml"/>
  <Override PartName="/ppt/slides/slide23.xml" ContentType="application/vnd.openxmlformats-officedocument.presentationml.slide+xml"/>
  <Override PartName="/ppt/slides/slide5.xml" ContentType="application/vnd.openxmlformats-officedocument.presentationml.slide+xml"/>
  <Override PartName="/ppt/slides/slide49.xml" ContentType="application/vnd.openxmlformats-officedocument.presentationml.slide+xml"/>
  <Override PartName="/ppt/slides/slide27.xml" ContentType="application/vnd.openxmlformats-officedocument.presentationml.slide+xml"/>
  <Override PartName="/ppt/slides/slide46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18.xml" ContentType="application/vnd.openxmlformats-officedocument.presentationml.slide+xml"/>
  <Override PartName="/ppt/slides/slide41.xml" ContentType="application/vnd.openxmlformats-officedocument.presentationml.slide+xml"/>
  <Override PartName="/ppt/slides/slide35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45.xml" ContentType="application/vnd.openxmlformats-officedocument.presentationml.slide+xml"/>
  <Override PartName="/ppt/slides/slide47.xml" ContentType="application/vnd.openxmlformats-officedocument.presentationml.slide+xml"/>
  <Override PartName="/ppt/slides/slide37.xml" ContentType="application/vnd.openxmlformats-officedocument.presentationml.slide+xml"/>
  <Override PartName="/ppt/slides/slide50.xml" ContentType="application/vnd.openxmlformats-officedocument.presentationml.slide+xml"/>
  <Override PartName="/ppt/slides/slide33.xml" ContentType="application/vnd.openxmlformats-officedocument.presentationml.slide+xml"/>
  <Override PartName="/ppt/slides/slide32.xml" ContentType="application/vnd.openxmlformats-officedocument.presentationml.slide+xml"/>
  <Override PartName="/ppt/slides/slide48.xml" ContentType="application/vnd.openxmlformats-officedocument.presentationml.slide+xml"/>
  <Override PartName="/ppt/slides/slide39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24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42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296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8DB933D-39D2-4756-A666-DEBAEA845E1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2720" indent="-34272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493307B-482F-4846-8AA1-48871A7ECAA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839080" y="274680"/>
            <a:ext cx="27428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274680"/>
            <a:ext cx="802620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2720" indent="-34272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B2E7D0D-F9E1-4C33-A2E2-BB30A740501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ast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2720" indent="-34272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4B7ED6A-337A-459F-B412-1FF090A535D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963000" y="4406760"/>
            <a:ext cx="1036296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963000" y="2906640"/>
            <a:ext cx="1036296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2881FE4-C2AC-4EFE-9EDE-5266CEBA1BC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ast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53845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2720" indent="-34272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197760" y="1600200"/>
            <a:ext cx="53845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2720" indent="-34272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6A14234-8209-415E-8D96-D0F3E56DAE2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ast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609480" y="1535040"/>
            <a:ext cx="538668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609480" y="2174760"/>
            <a:ext cx="538668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2720" indent="-34272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6193440" y="1535040"/>
            <a:ext cx="538884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6193440" y="2174760"/>
            <a:ext cx="538884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2720" indent="-34272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E6BD999-2FF9-4705-A20C-FF5054FBB65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ast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DAC22FB-AC61-4299-81DF-BC9FB55FFCE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305EE0E-53BB-4351-8042-CC8F329CEEF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401076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766760" y="272880"/>
            <a:ext cx="681516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2720" indent="-34272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609480" y="1434960"/>
            <a:ext cx="401076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8122240-A721-4F1B-89DB-AAA80580A57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2389680" y="4800600"/>
            <a:ext cx="73148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2389680" y="612720"/>
            <a:ext cx="73148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2389680" y="5367240"/>
            <a:ext cx="73148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AC68BA8-568A-409B-AD69-80D92031548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4.png"/><Relationship Id="rId7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9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9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9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30600" y="0"/>
            <a:ext cx="1216116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Rectangle 2"/>
          <p:cNvSpPr/>
          <p:nvPr/>
        </p:nvSpPr>
        <p:spPr>
          <a:xfrm>
            <a:off x="0" y="6217920"/>
            <a:ext cx="12191760" cy="63972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5334120" y="2153880"/>
            <a:ext cx="4898520" cy="172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232f3e"/>
                </a:solidFill>
                <a:effectLst/>
                <a:uFillTx/>
                <a:latin typeface="Calibri"/>
              </a:rPr>
              <a:t>AWS Cloud Practitioner</a:t>
            </a:r>
            <a:endParaRPr lang="en-US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Curso de preparación para la certificación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s-EC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Redes y Seguridad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4" name="Imagen 5"/>
          <p:cNvPicPr/>
          <p:nvPr/>
        </p:nvPicPr>
        <p:blipFill>
          <a:blip r:embed="rId1"/>
          <a:stretch/>
        </p:blipFill>
        <p:spPr>
          <a:xfrm>
            <a:off x="2634480" y="3896640"/>
            <a:ext cx="1361520" cy="453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5" name="Imagen 7"/>
          <p:cNvPicPr/>
          <p:nvPr/>
        </p:nvPicPr>
        <p:blipFill>
          <a:blip r:embed="rId2"/>
          <a:stretch/>
        </p:blipFill>
        <p:spPr>
          <a:xfrm>
            <a:off x="2855880" y="3355920"/>
            <a:ext cx="1276200" cy="1276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" name="Imagen 9"/>
          <p:cNvPicPr/>
          <p:nvPr/>
        </p:nvPicPr>
        <p:blipFill>
          <a:blip r:embed="rId3"/>
          <a:stretch/>
        </p:blipFill>
        <p:spPr>
          <a:xfrm>
            <a:off x="825840" y="1325520"/>
            <a:ext cx="3873960" cy="3873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" name="Imagen 13"/>
          <p:cNvPicPr/>
          <p:nvPr/>
        </p:nvPicPr>
        <p:blipFill>
          <a:blip r:embed="rId4"/>
          <a:stretch/>
        </p:blipFill>
        <p:spPr>
          <a:xfrm>
            <a:off x="9990720" y="4917240"/>
            <a:ext cx="1257480" cy="1257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" name="Imagen 14"/>
          <p:cNvPicPr/>
          <p:nvPr/>
        </p:nvPicPr>
        <p:blipFill>
          <a:blip r:embed="rId5"/>
          <a:stretch/>
        </p:blipFill>
        <p:spPr>
          <a:xfrm>
            <a:off x="7115760" y="5100120"/>
            <a:ext cx="2285640" cy="761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" name="Imagen 16"/>
          <p:cNvPicPr/>
          <p:nvPr/>
        </p:nvPicPr>
        <p:blipFill>
          <a:blip r:embed="rId6"/>
          <a:stretch/>
        </p:blipFill>
        <p:spPr>
          <a:xfrm>
            <a:off x="4845600" y="5157000"/>
            <a:ext cx="1298520" cy="777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" name="TextBox 2"/>
          <p:cNvSpPr/>
          <p:nvPr/>
        </p:nvSpPr>
        <p:spPr>
          <a:xfrm>
            <a:off x="451800" y="199440"/>
            <a:ext cx="348480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Infraestructura Global</a:t>
            </a: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Infraestructura Global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4572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     Regiones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4572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Zonas de disponibilidad (AZ)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4572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VPC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4572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Subnets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Box 2"/>
          <p:cNvSpPr/>
          <p:nvPr/>
        </p:nvSpPr>
        <p:spPr>
          <a:xfrm>
            <a:off x="451800" y="199440"/>
            <a:ext cx="348480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Infraestructura Global</a:t>
            </a: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Región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20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Ubicación geográfica</a:t>
            </a: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donde AWS tiene infraestructura de centros de datos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Ejemplos: </a:t>
            </a:r>
            <a:r>
              <a:rPr lang="es-MX" sz="20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us-east-1 → Virginia   </a:t>
            </a: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eu-west-1 → Irlanda   sa-east-1 → São Paulo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4572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Cada región es independiente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4572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Criterios para elegir una región: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4572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Latencia /proximidad a los usuarios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4572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Cumplimiento y residencia de datos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4572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Costos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4572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Disponibilidad de servicios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" name="TextBox 2"/>
          <p:cNvSpPr/>
          <p:nvPr/>
        </p:nvSpPr>
        <p:spPr>
          <a:xfrm>
            <a:off x="451800" y="199440"/>
            <a:ext cx="348480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Infraestructura Global</a:t>
            </a: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Región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lvl="1" indent="-34308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Los servicios de AWS se despliegan dentro de una región.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lvl="1" indent="-34308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Excepto algunos </a:t>
            </a:r>
            <a:r>
              <a:rPr lang="es-MX" sz="20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servicios globales</a:t>
            </a: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, estos servicios no están ligados a una región específica.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lvl="1" indent="-34308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Servicios globales: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IAM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Route 53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CloudFront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AWS WAF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AWS Shield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AWS Organizations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TextBox 2"/>
          <p:cNvSpPr/>
          <p:nvPr/>
        </p:nvSpPr>
        <p:spPr>
          <a:xfrm>
            <a:off x="451800" y="199440"/>
            <a:ext cx="348480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Infraestructura Global</a:t>
            </a: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Región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lvl="1" indent="-34308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Los datos </a:t>
            </a:r>
            <a:r>
              <a:rPr lang="es-MX" sz="20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no</a:t>
            </a: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se replican </a:t>
            </a:r>
            <a:r>
              <a:rPr lang="es-MX" sz="20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automáticante</a:t>
            </a: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entre regiones.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lvl="1" indent="-34308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Cada región es aislada e independiente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lvl="1" indent="-34308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Algunos servicios sí permiten replicación </a:t>
            </a:r>
            <a:r>
              <a:rPr lang="es-MX" sz="20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si se configura </a:t>
            </a: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explícitamente.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4680" lvl="3" indent="-34308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s-MX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Amazon s3 </a:t>
            </a: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– Cross Region Replication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4680" lvl="3" indent="-34308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s-MX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Amazon RDS / Amazon Aurora</a:t>
            </a: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– Read Replicas en otra región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4680" lvl="3" indent="-34308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s-MX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DynamoDB</a:t>
            </a: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– Global Tables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4680" lvl="3" indent="-34308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s-MX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Amazon EFS </a:t>
            </a: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– Permite replicación entre regiones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" name="TextBox 2"/>
          <p:cNvSpPr/>
          <p:nvPr/>
        </p:nvSpPr>
        <p:spPr>
          <a:xfrm>
            <a:off x="451800" y="199440"/>
            <a:ext cx="348480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Infraestructura Global</a:t>
            </a: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Availabilty Zones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Data center físico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lvl="1" indent="-34308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Cada región tiene múltiples AZ (al menos 3)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lvl="1" indent="-34308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Están físicamente separados, conectados por redes de alta velocidad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lvl="1" indent="-34308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Diseñados para </a:t>
            </a:r>
            <a:r>
              <a:rPr lang="es-MX" sz="20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ALTA DISPONIBILIDAD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lvl="1" indent="-343080" defTabSz="457200">
              <a:lnSpc>
                <a:spcPct val="100000"/>
              </a:lnSpc>
              <a:buClr>
                <a:srgbClr val="ff0000"/>
              </a:buClr>
              <a:buFont typeface="Arial"/>
              <a:buChar char="•"/>
            </a:pPr>
            <a:r>
              <a:rPr lang="es-MX" sz="20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Tolerancia a fallos – </a:t>
            </a: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 falla una AZ, la aplicación sigue funcionando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TextBox 2"/>
          <p:cNvSpPr/>
          <p:nvPr/>
        </p:nvSpPr>
        <p:spPr>
          <a:xfrm>
            <a:off x="451800" y="199440"/>
            <a:ext cx="348480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Infraestructura Global</a:t>
            </a: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Availabilty Zones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Algunos servicios usan </a:t>
            </a:r>
            <a:r>
              <a:rPr lang="es-MX" sz="20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Multi – AZ automáticamente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lvl="1" indent="-34308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s-MX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Amazon s3 </a:t>
            </a: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– Los datos se almacenan automáticamente en múltiples AZ dentro de la región.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lvl="1" indent="-34308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s-MX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Dynamo DB </a:t>
            </a: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– Replica datos automáticamente entre múltiples AZ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lvl="1" indent="-34308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s-MX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ELB (Elastic Load Balancer ) </a:t>
            </a: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– Distribuye tráfico entre instancias en varias AZ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lvl="1" indent="-34308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s-MX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Amazon Aurora </a:t>
            </a: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– Replica datos automáticamente en múltiples AZ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TextBox 2"/>
          <p:cNvSpPr/>
          <p:nvPr/>
        </p:nvSpPr>
        <p:spPr>
          <a:xfrm>
            <a:off x="451800" y="199440"/>
            <a:ext cx="348480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Infraestructura Global</a:t>
            </a: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Availabilty Zones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En algunos servicios se configura el Multi AZ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Amazon RDS </a:t>
            </a: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– puede </a:t>
            </a:r>
            <a:r>
              <a:rPr lang="es-MX" sz="20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habilitarse</a:t>
            </a: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s-MX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RDS Multi – AZ</a:t>
            </a: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para replicación síncrona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" name="TextBox 2"/>
          <p:cNvSpPr/>
          <p:nvPr/>
        </p:nvSpPr>
        <p:spPr>
          <a:xfrm>
            <a:off x="451800" y="199440"/>
            <a:ext cx="2991960" cy="83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Infraestructura Global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VPC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Red virtual privada donde se despliegan los recursos de AWS.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Aft>
                <a:spcPts val="799"/>
              </a:spcAft>
              <a:buClr>
                <a:srgbClr val="000000"/>
              </a:buClr>
              <a:buFont typeface="Arial"/>
              <a:buChar char="•"/>
              <a:tabLst>
                <a:tab algn="l" pos="45720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Red virtual aislada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Aft>
                <a:spcPts val="799"/>
              </a:spcAft>
              <a:buClr>
                <a:srgbClr val="000000"/>
              </a:buClr>
              <a:buFont typeface="Arial"/>
              <a:buChar char="•"/>
              <a:tabLst>
                <a:tab algn="l" pos="45720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Permite definir rangos IP (CIDR)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Aft>
                <a:spcPts val="799"/>
              </a:spcAft>
              <a:buClr>
                <a:srgbClr val="000000"/>
              </a:buClr>
              <a:buFont typeface="Arial"/>
              <a:buChar char="•"/>
              <a:tabLst>
                <a:tab algn="l" pos="45720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Permite crear subredes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tabLst>
                <a:tab algn="l" pos="457200"/>
              </a:tabLst>
            </a:pPr>
            <a:r>
              <a:rPr lang="es-MX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Ejemplo: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tabLst>
                <a:tab algn="l" pos="457200"/>
              </a:tabLst>
            </a:pPr>
            <a:r>
              <a:rPr lang="es-MX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VPC  10.0.0.0/16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tabLst>
                <a:tab algn="l" pos="45720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TextBox 2"/>
          <p:cNvSpPr/>
          <p:nvPr/>
        </p:nvSpPr>
        <p:spPr>
          <a:xfrm>
            <a:off x="451800" y="199440"/>
            <a:ext cx="2991960" cy="83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Infraestructura Global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CIDR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6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	</a:t>
            </a:r>
            <a:r>
              <a:rPr lang="es-MX" sz="16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10.0.0.0 </a:t>
            </a:r>
            <a:r>
              <a:rPr lang="es-MX" sz="1600" b="0" u="none" strike="noStrike">
                <a:solidFill>
                  <a:srgbClr val="0070c0"/>
                </a:solidFill>
                <a:effectLst/>
                <a:uFillTx/>
                <a:latin typeface="Calibri"/>
              </a:rPr>
              <a:t>/ 16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6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dirección base </a:t>
            </a:r>
            <a:r>
              <a:rPr lang="es-MX" sz="1600" b="0" u="none" strike="noStrike">
                <a:solidFill>
                  <a:srgbClr val="0070c0"/>
                </a:solidFill>
                <a:effectLst/>
                <a:uFillTx/>
                <a:latin typeface="Calibri"/>
              </a:rPr>
              <a:t>/ prefijo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10.0.0.0 - &gt; dirección base de la red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/16 -&gt; número de bits reservados para la red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10.0.0.0 -&gt; cada número separado por el punto se almacena en 8 bits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6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10.0</a:t>
            </a:r>
            <a:r>
              <a:rPr lang="es-MX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.</a:t>
            </a:r>
            <a:r>
              <a:rPr lang="es-MX" sz="1600" b="0" u="none" strike="noStrike">
                <a:solidFill>
                  <a:srgbClr val="0070c0"/>
                </a:solidFill>
                <a:effectLst/>
                <a:uFillTx/>
                <a:latin typeface="Calibri"/>
              </a:rPr>
              <a:t>0.0</a:t>
            </a:r>
            <a:r>
              <a:rPr lang="es-MX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-&gt; en este ejemplo todo lo que empiece con 10.0 es parte de esta red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Los otros 16 bits pueden ir cambiando y son las IPS que se usan en la red. Esto permite 2 a la 16 combinaciones: 65,536 IPS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6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	</a:t>
            </a:r>
            <a:r>
              <a:rPr lang="es-MX" sz="16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	</a:t>
            </a:r>
            <a:r>
              <a:rPr lang="es-MX" sz="16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10.0.</a:t>
            </a:r>
            <a:r>
              <a:rPr lang="es-MX" sz="1600" b="0" u="none" strike="noStrike">
                <a:solidFill>
                  <a:srgbClr val="0070c0"/>
                </a:solidFill>
                <a:effectLst/>
                <a:uFillTx/>
                <a:latin typeface="Calibri"/>
              </a:rPr>
              <a:t>1.20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6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10.0.</a:t>
            </a:r>
            <a:r>
              <a:rPr lang="es-MX" sz="1600" b="0" u="none" strike="noStrike">
                <a:solidFill>
                  <a:srgbClr val="0070c0"/>
                </a:solidFill>
                <a:effectLst/>
                <a:uFillTx/>
                <a:latin typeface="Calibri"/>
              </a:rPr>
              <a:t>20.5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6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10.0.</a:t>
            </a:r>
            <a:r>
              <a:rPr lang="es-MX" sz="1600" b="0" u="none" strike="noStrike">
                <a:solidFill>
                  <a:srgbClr val="0070c0"/>
                </a:solidFill>
                <a:effectLst/>
                <a:uFillTx/>
                <a:latin typeface="Calibri"/>
              </a:rPr>
              <a:t>200.30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TextBox 2"/>
          <p:cNvSpPr/>
          <p:nvPr/>
        </p:nvSpPr>
        <p:spPr>
          <a:xfrm>
            <a:off x="451800" y="199440"/>
            <a:ext cx="2991960" cy="83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Infraestructura Global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SUBRED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Segmento de red dentro de una VPC.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Aft>
                <a:spcPts val="799"/>
              </a:spcAft>
              <a:buClr>
                <a:srgbClr val="000000"/>
              </a:buClr>
              <a:buFont typeface="Arial"/>
              <a:buChar char="•"/>
              <a:tabLst>
                <a:tab algn="l" pos="45720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Tiene un rango CIDR (rango de direcciones IP)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Aft>
                <a:spcPts val="799"/>
              </a:spcAft>
              <a:buClr>
                <a:srgbClr val="000000"/>
              </a:buClr>
              <a:buFont typeface="Arial"/>
              <a:buChar char="•"/>
              <a:tabLst>
                <a:tab algn="l" pos="45720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Vive dentro de </a:t>
            </a:r>
            <a:r>
              <a:rPr lang="es-MX" sz="1800" b="1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una Availability Zone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Aft>
                <a:spcPts val="799"/>
              </a:spcAft>
              <a:buClr>
                <a:srgbClr val="000000"/>
              </a:buClr>
              <a:buFont typeface="Arial"/>
              <a:buChar char="•"/>
              <a:tabLst>
                <a:tab algn="l" pos="45720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Organiza recursos dentro de la red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" name="TextBox 2"/>
          <p:cNvSpPr/>
          <p:nvPr/>
        </p:nvSpPr>
        <p:spPr>
          <a:xfrm>
            <a:off x="451800" y="199440"/>
            <a:ext cx="2991960" cy="83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Infraestructura Global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SUBRED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Segmento de red dentro de una VPC.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Aft>
                <a:spcPts val="799"/>
              </a:spcAft>
              <a:buClr>
                <a:srgbClr val="000000"/>
              </a:buClr>
              <a:buFont typeface="Arial"/>
              <a:buChar char="•"/>
              <a:tabLst>
                <a:tab algn="l" pos="457200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VPC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Aft>
                <a:spcPts val="799"/>
              </a:spcAft>
              <a:buClr>
                <a:srgbClr val="000000"/>
              </a:buClr>
              <a:buFont typeface="Arial"/>
              <a:buChar char="•"/>
              <a:tabLst>
                <a:tab algn="l" pos="457200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10.0.0.0/16        </a:t>
            </a:r>
            <a:r>
              <a:rPr lang="pt-BR" sz="1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10.0.</a:t>
            </a: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0.0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Aft>
                <a:spcPts val="799"/>
              </a:spcAft>
              <a:buClr>
                <a:srgbClr val="000000"/>
              </a:buClr>
              <a:buFont typeface="Arial"/>
              <a:buChar char="•"/>
              <a:tabLst>
                <a:tab algn="l" pos="457200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Subnet 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Aft>
                <a:spcPts val="799"/>
              </a:spcAft>
              <a:buClr>
                <a:srgbClr val="000000"/>
              </a:buClr>
              <a:buFont typeface="Arial"/>
              <a:buChar char="•"/>
              <a:tabLst>
                <a:tab algn="l" pos="457200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10.0.</a:t>
            </a: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.0/24        </a:t>
            </a:r>
            <a:r>
              <a:rPr lang="pt-BR" sz="1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10.0.</a:t>
            </a:r>
            <a:r>
              <a:rPr lang="pt-BR" sz="1800" b="1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1.</a:t>
            </a: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Aft>
                <a:spcPts val="799"/>
              </a:spcAft>
              <a:buClr>
                <a:srgbClr val="000000"/>
              </a:buClr>
              <a:buFont typeface="Arial"/>
              <a:buChar char="•"/>
              <a:tabLst>
                <a:tab algn="l" pos="457200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Subnet B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Aft>
                <a:spcPts val="799"/>
              </a:spcAft>
              <a:buClr>
                <a:srgbClr val="000000"/>
              </a:buClr>
              <a:buFont typeface="Arial"/>
              <a:buChar char="•"/>
              <a:tabLst>
                <a:tab algn="l" pos="457200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10.0.</a:t>
            </a: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</a:t>
            </a: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.0/24         </a:t>
            </a:r>
            <a:r>
              <a:rPr lang="pt-BR" sz="1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10.0.</a:t>
            </a:r>
            <a:r>
              <a:rPr lang="pt-BR" sz="1800" b="1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2.</a:t>
            </a: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TextBox 2"/>
          <p:cNvSpPr/>
          <p:nvPr/>
        </p:nvSpPr>
        <p:spPr>
          <a:xfrm>
            <a:off x="451800" y="199440"/>
            <a:ext cx="2991960" cy="83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Infraestructura Global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Rectángulo 3"/>
          <p:cNvSpPr/>
          <p:nvPr/>
        </p:nvSpPr>
        <p:spPr>
          <a:xfrm>
            <a:off x="1970280" y="2527200"/>
            <a:ext cx="2094480" cy="280116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s-EC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" name="Rectángulo 5"/>
          <p:cNvSpPr/>
          <p:nvPr/>
        </p:nvSpPr>
        <p:spPr>
          <a:xfrm>
            <a:off x="4641120" y="2527200"/>
            <a:ext cx="2094480" cy="280116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s-EC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CuadroTexto 4"/>
          <p:cNvSpPr/>
          <p:nvPr/>
        </p:nvSpPr>
        <p:spPr>
          <a:xfrm>
            <a:off x="1947600" y="2180880"/>
            <a:ext cx="162900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AZ - 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CuadroTexto 7"/>
          <p:cNvSpPr/>
          <p:nvPr/>
        </p:nvSpPr>
        <p:spPr>
          <a:xfrm>
            <a:off x="4610160" y="2113560"/>
            <a:ext cx="162900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AZ - b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Rectángulo 6"/>
          <p:cNvSpPr/>
          <p:nvPr/>
        </p:nvSpPr>
        <p:spPr>
          <a:xfrm>
            <a:off x="2178000" y="2768040"/>
            <a:ext cx="1761840" cy="789480"/>
          </a:xfrm>
          <a:prstGeom prst="rect">
            <a:avLst/>
          </a:prstGeom>
          <a:solidFill>
            <a:srgbClr val="ffffff"/>
          </a:solidFill>
          <a:ln>
            <a:solidFill>
              <a:srgbClr val="9bbb59"/>
            </a:solidFill>
            <a:rou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SUBRED 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Rectángulo 9"/>
          <p:cNvSpPr/>
          <p:nvPr/>
        </p:nvSpPr>
        <p:spPr>
          <a:xfrm>
            <a:off x="2136240" y="3729600"/>
            <a:ext cx="1761840" cy="789480"/>
          </a:xfrm>
          <a:prstGeom prst="rect">
            <a:avLst/>
          </a:prstGeom>
          <a:solidFill>
            <a:srgbClr val="ffffff"/>
          </a:solidFill>
          <a:ln>
            <a:solidFill>
              <a:srgbClr val="9bbb59"/>
            </a:solidFill>
            <a:rou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SUBRED B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Rectángulo 10"/>
          <p:cNvSpPr/>
          <p:nvPr/>
        </p:nvSpPr>
        <p:spPr>
          <a:xfrm>
            <a:off x="4807440" y="2769840"/>
            <a:ext cx="1761840" cy="789480"/>
          </a:xfrm>
          <a:prstGeom prst="rect">
            <a:avLst/>
          </a:prstGeom>
          <a:solidFill>
            <a:srgbClr val="ffffff"/>
          </a:solidFill>
          <a:ln>
            <a:solidFill>
              <a:srgbClr val="9bbb59"/>
            </a:solidFill>
            <a:rou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SUBRED 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Rectángulo 8"/>
          <p:cNvSpPr/>
          <p:nvPr/>
        </p:nvSpPr>
        <p:spPr>
          <a:xfrm>
            <a:off x="1612800" y="1853640"/>
            <a:ext cx="7946640" cy="4014720"/>
          </a:xfrm>
          <a:prstGeom prst="rect">
            <a:avLst/>
          </a:prstGeom>
          <a:noFill/>
          <a:ln>
            <a:solidFill>
              <a:srgbClr val="f79646"/>
            </a:solidFill>
            <a:rou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s-EC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4" name="CuadroTexto 12"/>
          <p:cNvSpPr/>
          <p:nvPr/>
        </p:nvSpPr>
        <p:spPr>
          <a:xfrm>
            <a:off x="1612800" y="1459800"/>
            <a:ext cx="162900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REGION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Rectángulo 14"/>
          <p:cNvSpPr/>
          <p:nvPr/>
        </p:nvSpPr>
        <p:spPr>
          <a:xfrm>
            <a:off x="7142400" y="2482920"/>
            <a:ext cx="2094480" cy="280116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s-EC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" name="CuadroTexto 15"/>
          <p:cNvSpPr/>
          <p:nvPr/>
        </p:nvSpPr>
        <p:spPr>
          <a:xfrm>
            <a:off x="7084800" y="2081520"/>
            <a:ext cx="162900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AZ - 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TextBox 2"/>
          <p:cNvSpPr/>
          <p:nvPr/>
        </p:nvSpPr>
        <p:spPr>
          <a:xfrm>
            <a:off x="451800" y="199440"/>
            <a:ext cx="2991960" cy="83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Infraestructura Global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Rectángulo 3"/>
          <p:cNvSpPr/>
          <p:nvPr/>
        </p:nvSpPr>
        <p:spPr>
          <a:xfrm>
            <a:off x="1970280" y="2527200"/>
            <a:ext cx="2094480" cy="280116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s-EC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" name="Rectángulo 5"/>
          <p:cNvSpPr/>
          <p:nvPr/>
        </p:nvSpPr>
        <p:spPr>
          <a:xfrm>
            <a:off x="4641120" y="2527200"/>
            <a:ext cx="2094480" cy="280116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s-EC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CuadroTexto 4"/>
          <p:cNvSpPr/>
          <p:nvPr/>
        </p:nvSpPr>
        <p:spPr>
          <a:xfrm>
            <a:off x="1947600" y="2180880"/>
            <a:ext cx="162900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AZ - 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CuadroTexto 7"/>
          <p:cNvSpPr/>
          <p:nvPr/>
        </p:nvSpPr>
        <p:spPr>
          <a:xfrm>
            <a:off x="4610160" y="2113560"/>
            <a:ext cx="162900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AZ - b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Rectángulo 6"/>
          <p:cNvSpPr/>
          <p:nvPr/>
        </p:nvSpPr>
        <p:spPr>
          <a:xfrm>
            <a:off x="2178000" y="2768040"/>
            <a:ext cx="1761840" cy="789480"/>
          </a:xfrm>
          <a:prstGeom prst="rect">
            <a:avLst/>
          </a:prstGeom>
          <a:solidFill>
            <a:srgbClr val="ffffff"/>
          </a:solidFill>
          <a:ln>
            <a:solidFill>
              <a:srgbClr val="9bbb59"/>
            </a:solidFill>
            <a:rou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SUBRED 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Rectángulo 9"/>
          <p:cNvSpPr/>
          <p:nvPr/>
        </p:nvSpPr>
        <p:spPr>
          <a:xfrm>
            <a:off x="2136240" y="3729600"/>
            <a:ext cx="1761840" cy="789480"/>
          </a:xfrm>
          <a:prstGeom prst="rect">
            <a:avLst/>
          </a:prstGeom>
          <a:solidFill>
            <a:srgbClr val="ffffff"/>
          </a:solidFill>
          <a:ln>
            <a:solidFill>
              <a:srgbClr val="9bbb59"/>
            </a:solidFill>
            <a:rou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SUBRED B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Rectángulo 10"/>
          <p:cNvSpPr/>
          <p:nvPr/>
        </p:nvSpPr>
        <p:spPr>
          <a:xfrm>
            <a:off x="4807440" y="2769840"/>
            <a:ext cx="1761840" cy="789480"/>
          </a:xfrm>
          <a:prstGeom prst="rect">
            <a:avLst/>
          </a:prstGeom>
          <a:solidFill>
            <a:srgbClr val="ffffff"/>
          </a:solidFill>
          <a:ln>
            <a:solidFill>
              <a:srgbClr val="9bbb59"/>
            </a:solidFill>
            <a:rou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SUBRED 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Rectángulo 8"/>
          <p:cNvSpPr/>
          <p:nvPr/>
        </p:nvSpPr>
        <p:spPr>
          <a:xfrm>
            <a:off x="1612800" y="1853640"/>
            <a:ext cx="7946640" cy="4014720"/>
          </a:xfrm>
          <a:prstGeom prst="rect">
            <a:avLst/>
          </a:prstGeom>
          <a:noFill/>
          <a:ln>
            <a:solidFill>
              <a:srgbClr val="f79646"/>
            </a:solidFill>
            <a:rou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s-EC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8" name="CuadroTexto 12"/>
          <p:cNvSpPr/>
          <p:nvPr/>
        </p:nvSpPr>
        <p:spPr>
          <a:xfrm>
            <a:off x="1612800" y="1459800"/>
            <a:ext cx="162900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REGION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Rectángulo 14"/>
          <p:cNvSpPr/>
          <p:nvPr/>
        </p:nvSpPr>
        <p:spPr>
          <a:xfrm>
            <a:off x="7142400" y="2482920"/>
            <a:ext cx="2094480" cy="280116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s-EC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" name="CuadroTexto 15"/>
          <p:cNvSpPr/>
          <p:nvPr/>
        </p:nvSpPr>
        <p:spPr>
          <a:xfrm>
            <a:off x="7084800" y="2081520"/>
            <a:ext cx="162900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AZ - 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Rectángulo 16"/>
          <p:cNvSpPr/>
          <p:nvPr/>
        </p:nvSpPr>
        <p:spPr>
          <a:xfrm>
            <a:off x="1812240" y="2019960"/>
            <a:ext cx="7589160" cy="3540960"/>
          </a:xfrm>
          <a:prstGeom prst="rect">
            <a:avLst/>
          </a:prstGeom>
          <a:noFill/>
          <a:ln w="57150"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s-EC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" name="CuadroTexto 17"/>
          <p:cNvSpPr/>
          <p:nvPr/>
        </p:nvSpPr>
        <p:spPr>
          <a:xfrm>
            <a:off x="3078360" y="1635480"/>
            <a:ext cx="1379520" cy="369000"/>
          </a:xfrm>
          <a:prstGeom prst="rect">
            <a:avLst/>
          </a:prstGeom>
          <a:solidFill>
            <a:srgbClr val="00b0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VPC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CuadroTexto 18"/>
          <p:cNvSpPr/>
          <p:nvPr/>
        </p:nvSpPr>
        <p:spPr>
          <a:xfrm>
            <a:off x="5250240" y="1404360"/>
            <a:ext cx="1978200" cy="369000"/>
          </a:xfrm>
          <a:prstGeom prst="rect">
            <a:avLst/>
          </a:prstGeom>
          <a:solidFill>
            <a:srgbClr val="00b0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VPC es regional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CuadroTexto 19"/>
          <p:cNvSpPr/>
          <p:nvPr/>
        </p:nvSpPr>
        <p:spPr>
          <a:xfrm>
            <a:off x="4719600" y="3747960"/>
            <a:ext cx="1978200" cy="645840"/>
          </a:xfrm>
          <a:prstGeom prst="rect">
            <a:avLst/>
          </a:prstGeom>
          <a:solidFill>
            <a:srgbClr val="92d0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Subred pertenece a una AZ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" name="TextBox 2"/>
          <p:cNvSpPr/>
          <p:nvPr/>
        </p:nvSpPr>
        <p:spPr>
          <a:xfrm>
            <a:off x="451800" y="199440"/>
            <a:ext cx="4060800" cy="83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Conectividad de Red en la VPC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Conectividad de Red en la VPC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4572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s-EC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Subredes públicas vs privadas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4572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s-EC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Route Table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4572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s-EC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Internet Gateway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4572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s-EC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NAT Gateway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" name="TextBox 2"/>
          <p:cNvSpPr/>
          <p:nvPr/>
        </p:nvSpPr>
        <p:spPr>
          <a:xfrm>
            <a:off x="451800" y="199440"/>
            <a:ext cx="4060800" cy="83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Conectividad de Red en la VPC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Rounded Rectangle 4"/>
          <p:cNvSpPr/>
          <p:nvPr/>
        </p:nvSpPr>
        <p:spPr>
          <a:xfrm>
            <a:off x="968760" y="133020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marL="457200" defTabSz="457200">
              <a:lnSpc>
                <a:spcPct val="100000"/>
              </a:lnSpc>
            </a:pPr>
            <a:r>
              <a:rPr lang="es-EC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INTERNET GATEWAY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Componente que conecta una </a:t>
            </a:r>
            <a:r>
              <a:rPr lang="es-MX" sz="1800" b="1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VPC con Internet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r>
              <a:rPr lang="es-MX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PUERTA DE SALIDA AL INTERNET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TextBox 2"/>
          <p:cNvSpPr/>
          <p:nvPr/>
        </p:nvSpPr>
        <p:spPr>
          <a:xfrm>
            <a:off x="451800" y="199440"/>
            <a:ext cx="4060800" cy="83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Conectividad de Red en la VPC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3" name="Imagen 4"/>
          <p:cNvPicPr/>
          <p:nvPr/>
        </p:nvPicPr>
        <p:blipFill>
          <a:blip r:embed="rId1"/>
          <a:stretch/>
        </p:blipFill>
        <p:spPr>
          <a:xfrm>
            <a:off x="2823840" y="1296720"/>
            <a:ext cx="5829120" cy="549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"/>
          <p:cNvSpPr txBox="1"/>
          <p:nvPr/>
        </p:nvSpPr>
        <p:spPr>
          <a:xfrm>
            <a:off x="6629400" y="2369520"/>
            <a:ext cx="1600200" cy="60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 VPC es global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6" name="TextBox 2"/>
          <p:cNvSpPr/>
          <p:nvPr/>
        </p:nvSpPr>
        <p:spPr>
          <a:xfrm>
            <a:off x="451800" y="199440"/>
            <a:ext cx="4060800" cy="83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Conectividad de Red en la VPC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Rounded Rectangle 4"/>
          <p:cNvSpPr/>
          <p:nvPr/>
        </p:nvSpPr>
        <p:spPr>
          <a:xfrm>
            <a:off x="968760" y="133020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marL="457200" defTabSz="457200">
              <a:lnSpc>
                <a:spcPct val="100000"/>
              </a:lnSpc>
            </a:pPr>
            <a:r>
              <a:rPr lang="es-EC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ROUTE TABLE – la coincidencia más específica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Define hacia dónde se envía el tráfico de red (RUTAS DISPONIBLES)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r>
              <a:rPr lang="es-MX" sz="1800" b="0" i="1" u="none" strike="noStrike">
                <a:solidFill>
                  <a:srgbClr val="0070c0"/>
                </a:solidFill>
                <a:effectLst/>
                <a:uFillTx/>
                <a:latin typeface="Calibri"/>
              </a:rPr>
              <a:t>GPS del tráfico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8" name="Tabla 5"/>
          <p:cNvGraphicFramePr/>
          <p:nvPr/>
        </p:nvGraphicFramePr>
        <p:xfrm>
          <a:off x="1751040" y="3620880"/>
          <a:ext cx="8127720" cy="2200320"/>
        </p:xfrm>
        <a:graphic>
          <a:graphicData uri="http://schemas.openxmlformats.org/drawingml/2006/table">
            <a:tbl>
              <a:tblPr/>
              <a:tblGrid>
                <a:gridCol w="1681920"/>
                <a:gridCol w="2202840"/>
                <a:gridCol w="4242960"/>
              </a:tblGrid>
              <a:tr h="3708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MX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Destino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MX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Target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MX" sz="1800" b="0" i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Explicación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EC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0.0.0.0/0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EC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Internet Gateway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MX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Cualquier petición hacia </a:t>
                      </a:r>
                      <a:r>
                        <a:rPr lang="es-MX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una IP que no pertenece a la VPC</a:t>
                      </a:r>
                      <a:r>
                        <a:rPr lang="es-MX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 se </a:t>
                      </a:r>
                      <a:r>
                        <a:rPr lang="es-MX" sz="1800" b="0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Calibri"/>
                        </a:rPr>
                        <a:t>enruta</a:t>
                      </a:r>
                      <a:r>
                        <a:rPr lang="es-MX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 al Internet Gateway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EC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10.0.0.0/16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MX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local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MX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Cualquier petición hacia una IP </a:t>
                      </a:r>
                      <a:r>
                        <a:rPr lang="es-MX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que pertenece a la VPC</a:t>
                      </a:r>
                      <a:r>
                        <a:rPr lang="es-MX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 se queda dentro de la red.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0" name="TextBox 2"/>
          <p:cNvSpPr/>
          <p:nvPr/>
        </p:nvSpPr>
        <p:spPr>
          <a:xfrm>
            <a:off x="451800" y="199440"/>
            <a:ext cx="4060800" cy="83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Conectividad de Red en la VPC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1" name="Imagen 4"/>
          <p:cNvPicPr/>
          <p:nvPr/>
        </p:nvPicPr>
        <p:blipFill>
          <a:blip r:embed="rId1"/>
          <a:stretch/>
        </p:blipFill>
        <p:spPr>
          <a:xfrm>
            <a:off x="2642400" y="1166040"/>
            <a:ext cx="5829120" cy="5491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3" name="TextBox 2"/>
          <p:cNvSpPr/>
          <p:nvPr/>
        </p:nvSpPr>
        <p:spPr>
          <a:xfrm>
            <a:off x="451800" y="199440"/>
            <a:ext cx="4060800" cy="83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Conectividad de Red en la VPC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SUBRED PUBLICA vs PRIVADA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Depende de Route Table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Subnet Pública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Tiene ruta a Internet Gateway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Subnet Privada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Accede a internet mediante NAT Gateway, por ejemplo para descargar actualizaciones o dependencias.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La red privada puede salir a Internet, pero </a:t>
            </a:r>
            <a:r>
              <a:rPr lang="es-MX" sz="1800" b="1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Internet no puede entrar a la red privada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6" name="TextBox 2"/>
          <p:cNvSpPr/>
          <p:nvPr/>
        </p:nvSpPr>
        <p:spPr>
          <a:xfrm>
            <a:off x="451800" y="199440"/>
            <a:ext cx="4060800" cy="83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Conectividad de Red en la VPC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Rounded Rectangle 4"/>
          <p:cNvSpPr/>
          <p:nvPr/>
        </p:nvSpPr>
        <p:spPr>
          <a:xfrm>
            <a:off x="968760" y="133020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marL="457200" defTabSz="457200">
              <a:lnSpc>
                <a:spcPct val="100000"/>
              </a:lnSpc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NAT GATEWAY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Permite que instancias privadas accedan a Internet.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r>
              <a:rPr lang="es-MX" sz="1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Usa </a:t>
            </a:r>
            <a:r>
              <a:rPr lang="es-MX" sz="1800" b="1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Elastic IP </a:t>
            </a:r>
            <a:r>
              <a:rPr lang="es-MX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– 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dirección IPV4 pública ESTÁTICA – IP PÚBLICA FIJA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r>
              <a:rPr lang="es-MX" sz="1800" b="0" i="1" u="none" strike="noStrike">
                <a:solidFill>
                  <a:srgbClr val="0070c0"/>
                </a:solidFill>
                <a:effectLst/>
                <a:uFillTx/>
                <a:latin typeface="Calibri"/>
              </a:rPr>
              <a:t>Las instancias privadas: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r>
              <a:rPr lang="es-MX" sz="1800" b="0" i="1" u="none" strike="noStrike">
                <a:solidFill>
                  <a:srgbClr val="0070c0"/>
                </a:solidFill>
                <a:effectLst/>
                <a:uFillTx/>
                <a:latin typeface="Calibri"/>
              </a:rPr>
              <a:t>✔ pueden salir a internet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r>
              <a:rPr lang="es-MX" sz="1800" b="0" i="1" u="none" strike="noStrike">
                <a:solidFill>
                  <a:srgbClr val="0070c0"/>
                </a:solidFill>
                <a:effectLst/>
                <a:uFillTx/>
                <a:latin typeface="Calibri"/>
              </a:rPr>
              <a:t>❌ no pueden recibir conexiones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Salida a internet sin exposición pública.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Ejemplo: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Servidor necesita descargar paquetes de internet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9" name="TextBox 2"/>
          <p:cNvSpPr/>
          <p:nvPr/>
        </p:nvSpPr>
        <p:spPr>
          <a:xfrm>
            <a:off x="451800" y="199440"/>
            <a:ext cx="4060800" cy="83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Conectividad de Red en la VPC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0" name="Imagen 4"/>
          <p:cNvPicPr/>
          <p:nvPr/>
        </p:nvPicPr>
        <p:blipFill>
          <a:blip r:embed="rId1"/>
          <a:stretch/>
        </p:blipFill>
        <p:spPr>
          <a:xfrm>
            <a:off x="2799000" y="1189800"/>
            <a:ext cx="5829120" cy="549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1" name="Rectángulo 3"/>
          <p:cNvSpPr/>
          <p:nvPr/>
        </p:nvSpPr>
        <p:spPr>
          <a:xfrm>
            <a:off x="6123600" y="4439160"/>
            <a:ext cx="789480" cy="232560"/>
          </a:xfrm>
          <a:prstGeom prst="rect">
            <a:avLst/>
          </a:prstGeom>
          <a:gradFill rotWithShape="0">
            <a:gsLst>
              <a:gs pos="0">
                <a:srgbClr val="3e7fcc"/>
              </a:gs>
              <a:gs pos="100000">
                <a:srgbClr val="a4c1ff"/>
              </a:gs>
            </a:gsLst>
            <a:lin ang="16200000"/>
          </a:gra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s-MX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Estatic IP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3" name="TextBox 2"/>
          <p:cNvSpPr/>
          <p:nvPr/>
        </p:nvSpPr>
        <p:spPr>
          <a:xfrm>
            <a:off x="451800" y="199440"/>
            <a:ext cx="2991960" cy="83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Infraestructura Global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Rounded Rectangle 4"/>
          <p:cNvSpPr/>
          <p:nvPr/>
        </p:nvSpPr>
        <p:spPr>
          <a:xfrm>
            <a:off x="968760" y="133020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marL="457200" defTabSz="457200">
              <a:lnSpc>
                <a:spcPct val="100000"/>
              </a:lnSpc>
            </a:pPr>
            <a:r>
              <a:rPr lang="es-EC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ROUTE TABLE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65" name="Tabla 5"/>
          <p:cNvGraphicFramePr/>
          <p:nvPr/>
        </p:nvGraphicFramePr>
        <p:xfrm>
          <a:off x="1751040" y="3620880"/>
          <a:ext cx="8127720" cy="2200320"/>
        </p:xfrm>
        <a:graphic>
          <a:graphicData uri="http://schemas.openxmlformats.org/drawingml/2006/table">
            <a:tbl>
              <a:tblPr/>
              <a:tblGrid>
                <a:gridCol w="1681920"/>
                <a:gridCol w="2202840"/>
                <a:gridCol w="4242960"/>
              </a:tblGrid>
              <a:tr h="3708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MX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Destino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MX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Target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MX" sz="1800" b="0" i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Explicación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EC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0.0.0.0/0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EC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NAT Gateway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MX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Cualquier petición hacia </a:t>
                      </a:r>
                      <a:r>
                        <a:rPr lang="es-MX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una IP que no pertenece a la VPC</a:t>
                      </a:r>
                      <a:r>
                        <a:rPr lang="es-MX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 se </a:t>
                      </a:r>
                      <a:r>
                        <a:rPr lang="es-MX" sz="1800" b="0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Calibri"/>
                        </a:rPr>
                        <a:t>enruta</a:t>
                      </a:r>
                      <a:r>
                        <a:rPr lang="es-MX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 al NAT Gateway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EC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10.0.0.0/16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MX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local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MX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Cualquier petición hacia una IP </a:t>
                      </a:r>
                      <a:r>
                        <a:rPr lang="es-MX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que pertenece a la VPC</a:t>
                      </a:r>
                      <a:r>
                        <a:rPr lang="es-MX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 se queda dentro de la red.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7" name="TextBox 2"/>
          <p:cNvSpPr/>
          <p:nvPr/>
        </p:nvSpPr>
        <p:spPr>
          <a:xfrm>
            <a:off x="451800" y="199440"/>
            <a:ext cx="4060800" cy="83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Conectividad de Red en la VPC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8" name="Imagen 5"/>
          <p:cNvPicPr/>
          <p:nvPr/>
        </p:nvPicPr>
        <p:blipFill>
          <a:blip r:embed="rId1"/>
          <a:stretch/>
        </p:blipFill>
        <p:spPr>
          <a:xfrm>
            <a:off x="2416320" y="1166040"/>
            <a:ext cx="5829120" cy="5491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0" name="TextBox 2"/>
          <p:cNvSpPr/>
          <p:nvPr/>
        </p:nvSpPr>
        <p:spPr>
          <a:xfrm>
            <a:off x="451800" y="199440"/>
            <a:ext cx="3657600" cy="83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Seguridad dentro de la VPC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Seguridad dentro de la VPC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4572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s-EC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Security Groups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4572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s-EC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Network ACL (NACL)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3" name="TextBox 2"/>
          <p:cNvSpPr/>
          <p:nvPr/>
        </p:nvSpPr>
        <p:spPr>
          <a:xfrm>
            <a:off x="451800" y="199440"/>
            <a:ext cx="3657600" cy="83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Seguridad dentro de la VPC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Qué es un firewall?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Un </a:t>
            </a:r>
            <a:r>
              <a:rPr lang="es-MX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firewall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es un </a:t>
            </a:r>
            <a:r>
              <a:rPr lang="es-MX" sz="1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mecanismo de seguridad 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que controla el </a:t>
            </a:r>
            <a:r>
              <a:rPr lang="es-MX" sz="1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tráfico de red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, permitiendo o bloqueando conexiones según reglas definidas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6" name="TextBox 2"/>
          <p:cNvSpPr/>
          <p:nvPr/>
        </p:nvSpPr>
        <p:spPr>
          <a:xfrm>
            <a:off x="451800" y="199440"/>
            <a:ext cx="3657600" cy="83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Seguridad dentro de la VPC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Security Groups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1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Firewall</a:t>
            </a:r>
            <a:r>
              <a:rPr lang="es-EC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a nivel de </a:t>
            </a:r>
            <a:r>
              <a:rPr lang="es-EC" sz="1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Instancia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INBOUND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78" name="Tabla 5"/>
          <p:cNvGraphicFramePr/>
          <p:nvPr/>
        </p:nvGraphicFramePr>
        <p:xfrm>
          <a:off x="1751040" y="3670560"/>
          <a:ext cx="8298360" cy="2301480"/>
        </p:xfrm>
        <a:graphic>
          <a:graphicData uri="http://schemas.openxmlformats.org/drawingml/2006/table">
            <a:tbl>
              <a:tblPr/>
              <a:tblGrid>
                <a:gridCol w="1659600"/>
                <a:gridCol w="1659600"/>
                <a:gridCol w="1659600"/>
                <a:gridCol w="1659600"/>
                <a:gridCol w="1659600"/>
              </a:tblGrid>
              <a:tr h="3708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MX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Tipo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MX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Protocolo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MX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Puerto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MX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Origen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s-EC" sz="1800" b="1" u="none" strike="noStrike">
                        <a:solidFill>
                          <a:schemeClr val="lt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MX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HTTP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MX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TCP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MX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80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MX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0.0.0.0/0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MX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Todos le pueden entrar por el puerto 80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MX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HTTPS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MX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TCP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MX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443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MX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0.0.0.0/0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MX" sz="1800" b="0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Calibri"/>
                        </a:rPr>
                        <a:t>Completar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MX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SSH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MX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TCP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MX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22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MX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190.10.20.5/32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MX" sz="1800" b="0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Calibri"/>
                        </a:rPr>
                        <a:t>Completar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0" name="TextBox 2"/>
          <p:cNvSpPr/>
          <p:nvPr/>
        </p:nvSpPr>
        <p:spPr>
          <a:xfrm>
            <a:off x="451800" y="199440"/>
            <a:ext cx="3657600" cy="83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Seguridad dentro de la VPC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1" name="Imagen 5"/>
          <p:cNvPicPr/>
          <p:nvPr/>
        </p:nvPicPr>
        <p:blipFill>
          <a:blip r:embed="rId1"/>
          <a:stretch/>
        </p:blipFill>
        <p:spPr>
          <a:xfrm>
            <a:off x="2665800" y="1296720"/>
            <a:ext cx="5829120" cy="549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2" name=""/>
          <p:cNvSpPr txBox="1"/>
          <p:nvPr/>
        </p:nvSpPr>
        <p:spPr>
          <a:xfrm>
            <a:off x="7086600" y="2514600"/>
            <a:ext cx="3429000" cy="91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Security Group SG es a nivel de instancia, tiene regla de solo allow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3429000" y="5257800"/>
            <a:ext cx="9144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6172200" y="3657600"/>
            <a:ext cx="9144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"/>
          <p:cNvSpPr txBox="1"/>
          <p:nvPr/>
        </p:nvSpPr>
        <p:spPr>
          <a:xfrm>
            <a:off x="5257800" y="4800600"/>
            <a:ext cx="9144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7" name="TextBox 2"/>
          <p:cNvSpPr/>
          <p:nvPr/>
        </p:nvSpPr>
        <p:spPr>
          <a:xfrm>
            <a:off x="451800" y="199440"/>
            <a:ext cx="3657600" cy="83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Seguridad dentro de la VPC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Security Groups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1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Firewall</a:t>
            </a:r>
            <a:r>
              <a:rPr lang="es-EC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a nivel de </a:t>
            </a:r>
            <a:r>
              <a:rPr lang="es-EC" sz="1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Instancia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OUTBOUND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89" name="Tabla 5"/>
          <p:cNvGraphicFramePr/>
          <p:nvPr/>
        </p:nvGraphicFramePr>
        <p:xfrm>
          <a:off x="1751040" y="3670560"/>
          <a:ext cx="8298360" cy="2657160"/>
        </p:xfrm>
        <a:graphic>
          <a:graphicData uri="http://schemas.openxmlformats.org/drawingml/2006/table">
            <a:tbl>
              <a:tblPr/>
              <a:tblGrid>
                <a:gridCol w="1659600"/>
                <a:gridCol w="1659600"/>
                <a:gridCol w="1659600"/>
                <a:gridCol w="1659600"/>
                <a:gridCol w="1659600"/>
              </a:tblGrid>
              <a:tr h="3708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MX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Tipo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MX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Protocolo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MX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Puerto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MX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Destino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endParaRPr lang="es-EC" sz="1800" b="1" u="none" strike="noStrike">
                        <a:solidFill>
                          <a:schemeClr val="lt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MX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All Trafic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MX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All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MX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All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MX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0.0.0.0/0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MX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La instancia puede enviar tráfico por cualquier puerto a cualquier dirección fuera de la red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1" name="TextBox 2"/>
          <p:cNvSpPr/>
          <p:nvPr/>
        </p:nvSpPr>
        <p:spPr>
          <a:xfrm>
            <a:off x="451800" y="199440"/>
            <a:ext cx="3657600" cy="83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Seguridad dentro de la VPC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Security Groups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1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Solamente Allow – </a:t>
            </a:r>
            <a:r>
              <a:rPr lang="es-EC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En el security group solo se especifica qué puertos e IPS están permitidos, por defecto el resto está denegado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Es </a:t>
            </a:r>
            <a:r>
              <a:rPr lang="es-EC" sz="1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STATEFUL</a:t>
            </a:r>
            <a:r>
              <a:rPr lang="es-EC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, recuerda el estado de la conexión. Si coloco que permite que ingrese tráfico por el puerto 80, implícitamente está permitiendo que salga tráfico por ese mismo puerto.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Protege </a:t>
            </a:r>
            <a:r>
              <a:rPr lang="es-EC" sz="1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instancias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4" name="TextBox 2"/>
          <p:cNvSpPr/>
          <p:nvPr/>
        </p:nvSpPr>
        <p:spPr>
          <a:xfrm>
            <a:off x="451800" y="199440"/>
            <a:ext cx="3657600" cy="83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Seguridad dentro de la VPC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NETWORK ACL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1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Firewall </a:t>
            </a:r>
            <a:r>
              <a:rPr lang="es-EC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 nivel de </a:t>
            </a:r>
            <a:r>
              <a:rPr lang="es-EC" sz="1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SUBNET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INBOUND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96" name="Tabla 4"/>
          <p:cNvGraphicFramePr/>
          <p:nvPr/>
        </p:nvGraphicFramePr>
        <p:xfrm>
          <a:off x="1683000" y="3836880"/>
          <a:ext cx="8715960" cy="2200320"/>
        </p:xfrm>
        <a:graphic>
          <a:graphicData uri="http://schemas.openxmlformats.org/drawingml/2006/table">
            <a:tbl>
              <a:tblPr/>
              <a:tblGrid>
                <a:gridCol w="885600"/>
                <a:gridCol w="1180080"/>
                <a:gridCol w="1213560"/>
                <a:gridCol w="880920"/>
                <a:gridCol w="1205280"/>
                <a:gridCol w="955800"/>
                <a:gridCol w="2394000"/>
              </a:tblGrid>
              <a:tr h="3708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MX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Rule #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MX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Tipo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MX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Protocolo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MX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Puerto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MX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Origen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MX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Acción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endParaRPr lang="es-EC" sz="1800" b="1" u="none" strike="noStrike">
                        <a:solidFill>
                          <a:schemeClr val="lt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MX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100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MX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HTTP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MX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TCP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MX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80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MX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0.0.0.0/0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MX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ALLOW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MX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Permite todo el tráfico desde fuera hacia el puerto 80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MX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102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MX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All Traffic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MX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All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MX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All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MX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190.10.20.5/32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MX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DENY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MX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Restringe todo el tráfico desde el IP 190.10.20.5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8" name="TextBox 2"/>
          <p:cNvSpPr/>
          <p:nvPr/>
        </p:nvSpPr>
        <p:spPr>
          <a:xfrm>
            <a:off x="451800" y="199440"/>
            <a:ext cx="3657600" cy="83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Seguridad dentro de la VPC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9" name="Imagen 5"/>
          <p:cNvPicPr/>
          <p:nvPr/>
        </p:nvPicPr>
        <p:blipFill>
          <a:blip r:embed="rId1"/>
          <a:stretch/>
        </p:blipFill>
        <p:spPr>
          <a:xfrm>
            <a:off x="2850480" y="1188720"/>
            <a:ext cx="5829120" cy="5491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1" name="TextBox 2"/>
          <p:cNvSpPr/>
          <p:nvPr/>
        </p:nvSpPr>
        <p:spPr>
          <a:xfrm>
            <a:off x="451800" y="199440"/>
            <a:ext cx="3657600" cy="83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Seguridad dentro de la VPC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NETWORK ACL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1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Firewall </a:t>
            </a:r>
            <a:r>
              <a:rPr lang="es-EC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 nivel de </a:t>
            </a:r>
            <a:r>
              <a:rPr lang="es-EC" sz="1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SUBNET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OUTBOUND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03" name="Tabla 4"/>
          <p:cNvGraphicFramePr/>
          <p:nvPr/>
        </p:nvGraphicFramePr>
        <p:xfrm>
          <a:off x="1683000" y="3836880"/>
          <a:ext cx="8715960" cy="2200320"/>
        </p:xfrm>
        <a:graphic>
          <a:graphicData uri="http://schemas.openxmlformats.org/drawingml/2006/table">
            <a:tbl>
              <a:tblPr/>
              <a:tblGrid>
                <a:gridCol w="885600"/>
                <a:gridCol w="1180080"/>
                <a:gridCol w="1213560"/>
                <a:gridCol w="880920"/>
                <a:gridCol w="1205280"/>
                <a:gridCol w="955800"/>
                <a:gridCol w="2394000"/>
              </a:tblGrid>
              <a:tr h="3708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MX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Rule #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MX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Tipo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MX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Protocolo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MX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Puerto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MX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Origen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MX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Acción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endParaRPr lang="es-EC" sz="1800" b="1" u="none" strike="noStrike">
                        <a:solidFill>
                          <a:schemeClr val="lt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MX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100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MX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HTTP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MX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TCP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MX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80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MX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0.0.0.0/0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MX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ALLOW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MX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Permite todo el tráfico hacia afuera por el puerto 80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MX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120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MX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Ephemeral ports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MX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TCP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MX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1024 – 65535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MX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0.0.0.0/0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MX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ALLOW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MX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Permite todo el tráfico hacia afuera por los puertos efímeros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5" name="TextBox 2"/>
          <p:cNvSpPr/>
          <p:nvPr/>
        </p:nvSpPr>
        <p:spPr>
          <a:xfrm>
            <a:off x="451800" y="199440"/>
            <a:ext cx="3657600" cy="83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Seguridad dentro de la VPC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NETWORK ACL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Protege</a:t>
            </a:r>
            <a:r>
              <a:rPr lang="es-EC" sz="1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 SUBNET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Es </a:t>
            </a:r>
            <a:r>
              <a:rPr lang="es-EC" sz="1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Stateless</a:t>
            </a:r>
            <a:r>
              <a:rPr lang="es-EC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, no guarda el estado de la conexión, se debe permitir explícitamente la entrada y salida por un puerto.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Cuando se crea una VPC, AWS crea automáticamente una Default NACL. Esta permite todo el tráfico de entrada y de salida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Cuando se crea una NACL personalizada, por defecto niega todo el tráfico.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8" name="TextBox 2"/>
          <p:cNvSpPr/>
          <p:nvPr/>
        </p:nvSpPr>
        <p:spPr>
          <a:xfrm>
            <a:off x="451800" y="199440"/>
            <a:ext cx="3111480" cy="83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Conexiones entre VPCs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Conexiones entre VPCs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s-EC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VPC Peering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s-EC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Transit Gateway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1" name="TextBox 2"/>
          <p:cNvSpPr/>
          <p:nvPr/>
        </p:nvSpPr>
        <p:spPr>
          <a:xfrm>
            <a:off x="451800" y="199440"/>
            <a:ext cx="3111480" cy="83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Conexiones entre VPCs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VPC Peering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Conexión privada entre dos VPC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s-EC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Permite que dos redes se conecten usando IP privada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s-EC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Las instancias pueden comunicarse como si estuvieran en la misma red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s-EC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Tráfico privado dentro de AWS, baja latencia, no pasa por internet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s-EC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VPC Peering NO es transitivo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defTabSz="457200">
              <a:lnSpc>
                <a:spcPct val="100000"/>
              </a:lnSpc>
            </a:pPr>
            <a:r>
              <a:rPr lang="es-EC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VPC A &lt;-&gt; VPC B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defTabSz="457200">
              <a:lnSpc>
                <a:spcPct val="100000"/>
              </a:lnSpc>
            </a:pPr>
            <a:r>
              <a:rPr lang="es-EC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VPC A &lt;-&gt; VPC  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defTabSz="457200">
              <a:lnSpc>
                <a:spcPct val="100000"/>
              </a:lnSpc>
            </a:pPr>
            <a:r>
              <a:rPr lang="es-EC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VPC B no puede comunicarse con VPC 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4" name="TextBox 2"/>
          <p:cNvSpPr/>
          <p:nvPr/>
        </p:nvSpPr>
        <p:spPr>
          <a:xfrm>
            <a:off x="451800" y="199440"/>
            <a:ext cx="3111480" cy="83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Conexiones entre VPCs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5" name="Imagen 4"/>
          <p:cNvPicPr/>
          <p:nvPr/>
        </p:nvPicPr>
        <p:blipFill>
          <a:blip r:embed="rId1"/>
          <a:stretch/>
        </p:blipFill>
        <p:spPr>
          <a:xfrm>
            <a:off x="2007720" y="1030680"/>
            <a:ext cx="7200720" cy="5491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7" name="TextBox 2"/>
          <p:cNvSpPr/>
          <p:nvPr/>
        </p:nvSpPr>
        <p:spPr>
          <a:xfrm>
            <a:off x="451800" y="199440"/>
            <a:ext cx="209988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VPC PEERING</a:t>
            </a: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8" name="Imagen 4"/>
          <p:cNvPicPr/>
          <p:nvPr/>
        </p:nvPicPr>
        <p:blipFill>
          <a:blip r:embed="rId1"/>
          <a:stretch/>
        </p:blipFill>
        <p:spPr>
          <a:xfrm>
            <a:off x="2495520" y="1169280"/>
            <a:ext cx="7200720" cy="549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9" name="CuadroTexto 3"/>
          <p:cNvSpPr/>
          <p:nvPr/>
        </p:nvSpPr>
        <p:spPr>
          <a:xfrm>
            <a:off x="632160" y="2986560"/>
            <a:ext cx="1546200" cy="14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 &lt;-&gt; B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 &lt;-&gt; 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B&lt;-&gt;C ??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1" name="TextBox 2"/>
          <p:cNvSpPr/>
          <p:nvPr/>
        </p:nvSpPr>
        <p:spPr>
          <a:xfrm>
            <a:off x="451800" y="199440"/>
            <a:ext cx="3111480" cy="83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Conexiones entre VPCs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Transit Gateway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Un hub central de red que conecta múltiples VPC y redes externas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Simplifica la arquitectura de red, evita múltiples Peering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Transit Gateway es transitivo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4" name="TextBox 2"/>
          <p:cNvSpPr/>
          <p:nvPr/>
        </p:nvSpPr>
        <p:spPr>
          <a:xfrm>
            <a:off x="451800" y="199440"/>
            <a:ext cx="3111480" cy="83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Conexiones entre VPCs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5" name="Imagen 4"/>
          <p:cNvPicPr/>
          <p:nvPr/>
        </p:nvPicPr>
        <p:blipFill>
          <a:blip r:embed="rId1"/>
          <a:stretch/>
        </p:blipFill>
        <p:spPr>
          <a:xfrm>
            <a:off x="1685520" y="1084680"/>
            <a:ext cx="7886520" cy="5606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7" name="TextBox 2"/>
          <p:cNvSpPr/>
          <p:nvPr/>
        </p:nvSpPr>
        <p:spPr>
          <a:xfrm>
            <a:off x="451800" y="199440"/>
            <a:ext cx="1919160" cy="83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VPC Endpoint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VPC Endpoint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Permite que recursos dentro de una VPC accedan a servicios AWS sin usar internet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El tráfico se mantiene dentro de la red privada de AWS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Tipos de Endpoint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EC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Gateway Endpoint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EC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EC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 usa para Amazon s3 y Amazon DynamoDB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EC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Interface Endpoint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EC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EC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 usa para servicios como Secret Manager, SQS, SNS, KMS, API Gateway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0" name="TextBox 2"/>
          <p:cNvSpPr/>
          <p:nvPr/>
        </p:nvSpPr>
        <p:spPr>
          <a:xfrm>
            <a:off x="451800" y="199440"/>
            <a:ext cx="1919160" cy="83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VPC Endpoint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1" name="Imagen 4"/>
          <p:cNvPicPr/>
          <p:nvPr/>
        </p:nvPicPr>
        <p:blipFill>
          <a:blip r:embed="rId1"/>
          <a:stretch/>
        </p:blipFill>
        <p:spPr>
          <a:xfrm>
            <a:off x="2137320" y="1251360"/>
            <a:ext cx="7886520" cy="5606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3" name="TextBox 2"/>
          <p:cNvSpPr/>
          <p:nvPr/>
        </p:nvSpPr>
        <p:spPr>
          <a:xfrm>
            <a:off x="451800" y="199440"/>
            <a:ext cx="1919160" cy="83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VPC Endpoint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4" name="Imagen 5"/>
          <p:cNvPicPr/>
          <p:nvPr/>
        </p:nvPicPr>
        <p:blipFill>
          <a:blip r:embed="rId1"/>
          <a:stretch/>
        </p:blipFill>
        <p:spPr>
          <a:xfrm>
            <a:off x="1978560" y="1251360"/>
            <a:ext cx="7886520" cy="5606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6" name="TextBox 2"/>
          <p:cNvSpPr/>
          <p:nvPr/>
        </p:nvSpPr>
        <p:spPr>
          <a:xfrm>
            <a:off x="451800" y="199440"/>
            <a:ext cx="1919160" cy="83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VPC Endpoint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7" name="Imagen 4"/>
          <p:cNvPicPr/>
          <p:nvPr/>
        </p:nvPicPr>
        <p:blipFill>
          <a:blip r:embed="rId1"/>
          <a:stretch/>
        </p:blipFill>
        <p:spPr>
          <a:xfrm>
            <a:off x="2137320" y="1251360"/>
            <a:ext cx="7886520" cy="5606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9" name="TextBox 2"/>
          <p:cNvSpPr/>
          <p:nvPr/>
        </p:nvSpPr>
        <p:spPr>
          <a:xfrm>
            <a:off x="451800" y="199440"/>
            <a:ext cx="1919160" cy="83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VPC Endpoint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0" name="Imagen 5"/>
          <p:cNvPicPr/>
          <p:nvPr/>
        </p:nvPicPr>
        <p:blipFill>
          <a:blip r:embed="rId1"/>
          <a:stretch/>
        </p:blipFill>
        <p:spPr>
          <a:xfrm>
            <a:off x="1948320" y="1251360"/>
            <a:ext cx="7886520" cy="5606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2" name="TextBox 2"/>
          <p:cNvSpPr/>
          <p:nvPr/>
        </p:nvSpPr>
        <p:spPr>
          <a:xfrm>
            <a:off x="451800" y="199440"/>
            <a:ext cx="732600" cy="83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VPN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VPN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s-EC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Site to Site VPN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s-EC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Client VPN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5" name="TextBox 2"/>
          <p:cNvSpPr/>
          <p:nvPr/>
        </p:nvSpPr>
        <p:spPr>
          <a:xfrm>
            <a:off x="451800" y="199440"/>
            <a:ext cx="732600" cy="83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VPN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Site to Site VPN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Conexión segura entre una red on-premise y una VPC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El tráfico viaja por internet pero cifrado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Componentes: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EC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Customer Gateway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EC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Virtual Private Gateway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EC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VPN Conection (túnel cifrado entre ambos)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Conecta dos redes completas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8" name="TextBox 2"/>
          <p:cNvSpPr/>
          <p:nvPr/>
        </p:nvSpPr>
        <p:spPr>
          <a:xfrm>
            <a:off x="451800" y="199440"/>
            <a:ext cx="732600" cy="83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VPN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Client VPN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Permite que usuarios individuales se conecten a recursos dentro de una VPC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Acceso remoto seguro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Autenticación con IAM o Active Directory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Ideal para desarrolladores o administradores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1" name="TextBox 2"/>
          <p:cNvSpPr/>
          <p:nvPr/>
        </p:nvSpPr>
        <p:spPr>
          <a:xfrm>
            <a:off x="451800" y="199440"/>
            <a:ext cx="732600" cy="83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VPN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2" name="Imagen 4"/>
          <p:cNvPicPr/>
          <p:nvPr/>
        </p:nvPicPr>
        <p:blipFill>
          <a:blip r:embed="rId1"/>
          <a:stretch/>
        </p:blipFill>
        <p:spPr>
          <a:xfrm>
            <a:off x="1343520" y="1160640"/>
            <a:ext cx="8726760" cy="5606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3" name=""/>
          <p:cNvSpPr txBox="1"/>
          <p:nvPr/>
        </p:nvSpPr>
        <p:spPr>
          <a:xfrm>
            <a:off x="9829800" y="2971800"/>
            <a:ext cx="2057400" cy="85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Aqui un customer gateway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5" name="TextBox 2"/>
          <p:cNvSpPr/>
          <p:nvPr/>
        </p:nvSpPr>
        <p:spPr>
          <a:xfrm>
            <a:off x="451800" y="199440"/>
            <a:ext cx="2735280" cy="83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AWS Direct Connect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AWS Direct Connect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Conexión privada dedicada entre el datacenter de una empresa y AWS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NO USA INTERNET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Latencia más baja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Mayor ancho de banda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Conexión más estable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Grandes volúmenes de datos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799"/>
              </a:spcAft>
              <a:tabLst>
                <a:tab algn="l" pos="45720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3020</TotalTime>
  <Application>LibreOffice/25.8.5.2$Linux_X86_64 LibreOffice_project/580$Build-2</Application>
  <AppVersion>15.0000</AppVersion>
  <Words>1574</Words>
  <Paragraphs>576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Santiago Mosquera</dc:creator>
  <dc:description>generated using python-pptx</dc:description>
  <dc:language>en-US</dc:language>
  <cp:lastModifiedBy/>
  <dcterms:modified xsi:type="dcterms:W3CDTF">2026-03-10T20:47:33Z</dcterms:modified>
  <cp:revision>75</cp:revision>
  <dc:subject/>
  <dc:title>Presentación de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Panorámica</vt:lpwstr>
  </property>
  <property fmtid="{D5CDD505-2E9C-101B-9397-08002B2CF9AE}" pid="3" name="Slides">
    <vt:i4>50</vt:i4>
  </property>
</Properties>
</file>